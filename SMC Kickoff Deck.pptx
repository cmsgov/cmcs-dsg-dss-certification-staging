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0" r:id="rId4"/>
    <p:sldMasterId id="2147483917" r:id="rId5"/>
  </p:sldMasterIdLst>
  <p:notesMasterIdLst>
    <p:notesMasterId r:id="rId38"/>
  </p:notesMasterIdLst>
  <p:handoutMasterIdLst>
    <p:handoutMasterId r:id="rId39"/>
  </p:handoutMasterIdLst>
  <p:sldIdLst>
    <p:sldId id="462" r:id="rId6"/>
    <p:sldId id="451" r:id="rId7"/>
    <p:sldId id="1203" r:id="rId8"/>
    <p:sldId id="1158" r:id="rId9"/>
    <p:sldId id="1206" r:id="rId10"/>
    <p:sldId id="1204" r:id="rId11"/>
    <p:sldId id="1205" r:id="rId12"/>
    <p:sldId id="1143" r:id="rId13"/>
    <p:sldId id="1187" r:id="rId14"/>
    <p:sldId id="1147" r:id="rId15"/>
    <p:sldId id="1196" r:id="rId16"/>
    <p:sldId id="1149" r:id="rId17"/>
    <p:sldId id="1152" r:id="rId18"/>
    <p:sldId id="1163" r:id="rId19"/>
    <p:sldId id="1188" r:id="rId20"/>
    <p:sldId id="1227" r:id="rId21"/>
    <p:sldId id="1221" r:id="rId22"/>
    <p:sldId id="1210" r:id="rId23"/>
    <p:sldId id="1212" r:id="rId24"/>
    <p:sldId id="1219" r:id="rId25"/>
    <p:sldId id="1199" r:id="rId26"/>
    <p:sldId id="1167" r:id="rId27"/>
    <p:sldId id="1189" r:id="rId28"/>
    <p:sldId id="1168" r:id="rId29"/>
    <p:sldId id="1169" r:id="rId30"/>
    <p:sldId id="1208" r:id="rId31"/>
    <p:sldId id="1214" r:id="rId32"/>
    <p:sldId id="1213" r:id="rId33"/>
    <p:sldId id="1171" r:id="rId34"/>
    <p:sldId id="1200" r:id="rId35"/>
    <p:sldId id="1182" r:id="rId36"/>
    <p:sldId id="111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8196450-1ED4-5544-B0A0-8B1BE1A73423}">
          <p14:sldIdLst>
            <p14:sldId id="462"/>
            <p14:sldId id="451"/>
            <p14:sldId id="1203"/>
            <p14:sldId id="1158"/>
            <p14:sldId id="1206"/>
            <p14:sldId id="1204"/>
            <p14:sldId id="1205"/>
            <p14:sldId id="1143"/>
          </p14:sldIdLst>
        </p14:section>
        <p14:section name="SMC Elements" id="{9FE6FCE2-8733-4EE8-8F40-6206E9B48900}">
          <p14:sldIdLst>
            <p14:sldId id="1187"/>
            <p14:sldId id="1147"/>
            <p14:sldId id="1196"/>
            <p14:sldId id="1149"/>
            <p14:sldId id="1152"/>
          </p14:sldIdLst>
        </p14:section>
        <p14:section name="What to Expect: ORR" id="{C4A9544C-0A97-3A45-B7E9-E52E77D2E42B}">
          <p14:sldIdLst>
            <p14:sldId id="1163"/>
            <p14:sldId id="1188"/>
            <p14:sldId id="1227"/>
            <p14:sldId id="1221"/>
            <p14:sldId id="1210"/>
            <p14:sldId id="1212"/>
            <p14:sldId id="1219"/>
            <p14:sldId id="1199"/>
          </p14:sldIdLst>
        </p14:section>
        <p14:section name="What to Expect: CR" id="{BC64F81B-936F-D744-A964-A52974E83423}">
          <p14:sldIdLst>
            <p14:sldId id="1167"/>
            <p14:sldId id="1189"/>
            <p14:sldId id="1168"/>
            <p14:sldId id="1169"/>
            <p14:sldId id="1208"/>
            <p14:sldId id="1214"/>
            <p14:sldId id="1213"/>
            <p14:sldId id="1171"/>
            <p14:sldId id="1200"/>
          </p14:sldIdLst>
        </p14:section>
        <p14:section name="Closing" id="{D64F84A3-CCA4-DE47-A24F-1D666CAA86BE}">
          <p14:sldIdLst>
            <p14:sldId id="1182"/>
            <p14:sldId id="1119"/>
          </p14:sldIdLst>
        </p14:section>
      </p14:sectionLst>
    </p:ext>
    <p:ext uri="{EFAFB233-063F-42B5-8137-9DF3F51BA10A}">
      <p15:sldGuideLst xmlns:p15="http://schemas.microsoft.com/office/powerpoint/2012/main">
        <p15:guide id="1" orient="horz" pos="206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F9A20A-D8F5-E9DB-547E-503BBE5549F2}" name="Ruchira Puri" initials="RP" userId="S::rpuri@mitre.org::30de53fa-22f8-46ef-ba58-7a80e92e654f" providerId="AD"/>
  <p188:author id="{5E0D481E-5579-E195-6C36-0779F45B3D22}" name="Colleen Line" initials="CL" userId="S::cmline@mitre.org::5769cb53-845b-4a42-9bc2-62d56c64ff6a" providerId="AD"/>
  <p188:author id="{83C2611F-826D-9932-3B1A-323556423C86}" name="Danielle Lohan" initials="DL" userId="Danielle Lohan" providerId="None"/>
  <p188:author id="{E6FF272F-8371-6D95-C05B-5E5C863765F0}" name="Amy Strait" initials="AS" userId="Amy Strait" providerId="None"/>
  <p188:author id="{75D48733-360C-2816-55FA-E73D8A288BAF}" name="Colleen Line" initials="CL" userId="S::CMLINE@MITRE.ORG::5769cb53-845b-4a42-9bc2-62d56c64ff6a" providerId="AD"/>
  <p188:author id="{D8EFD835-03D7-1B4B-8B32-873DBD24F791}" name="Makenzie Rollins" initials="MR" userId="S::MROLLINS@MITRE.ORG::0b7458ab-d89d-4215-a4ab-7f4ab79020c9" providerId="AD"/>
  <p188:author id="{46A22343-697E-200E-C771-CACE076C81FD}" name="Julie Galloway Mabeus" initials="JGM" userId="S::jgallowaymabeus@mitre.org::8d1e29ac-97e4-41aa-8457-0b16dfc4509e" providerId="AD"/>
  <p188:author id="{44EB4F44-0A3F-E6FE-733E-16E6D75D9672}" name="Sarah Choe" initials="SC" userId="S::SCHOE@MITRE.ORG::6852c444-38f9-40d3-bc32-265e0ccb008c" providerId="AD"/>
  <p188:author id="{0F0DE94A-857A-9970-639E-CB85216BC39C}" name="Julie Galloway Mabeus" initials="JG" userId="S::JGALLOWAYMABEUS@MITRE.ORG::8d1e29ac-97e4-41aa-8457-0b16dfc4509e" providerId="AD"/>
  <p188:author id="{51B2B04D-1AC1-3648-104F-912058A39D7A}" name="Ernest Mensah" initials="" userId="S::EMENSAH@MITRE.ORG::636730c2-dc67-48b4-b2e2-bb5c10ffd9d1" providerId="AD"/>
  <p188:author id="{487E1852-0812-DD3E-DA4F-5CD3882D69DB}" name="Makenzie Rollins" initials="MR" userId="S::mrollins@mitre.org::0b7458ab-d89d-4215-a4ab-7f4ab79020c9" providerId="AD"/>
  <p188:author id="{90D7CC65-2E07-8DAE-D3D1-69C66A12F799}" name="Brandy Spaulding" initials="BS" userId="71DktOxGiqxFYJAZ4XOsUoexKLE0w3WRBJnYEVfFQO4=" providerId="None"/>
  <p188:author id="{B94B0869-7402-5FB0-C20E-D2C33F67AA5C}" name="David D Chen" initials="DC" userId="S::ddchen@mitre.org::911cc896-9c58-4ab4-9b0b-c493196682ba" providerId="AD"/>
  <p188:author id="{DB97738D-E701-AADA-A594-96930907C41C}" name="Trish Heiman" initials="TH" userId="S::pheiman@mitre.org::3075c4a0-9999-4288-aa2d-c012b8b11fa6" providerId="AD"/>
  <p188:author id="{E7DB7896-2A6F-7DAE-D5FB-E06DBED9C5EB}" name="Ashley AH Gray" initials="AG" userId="S::agray@mitre.org::fbc8a124-a9b4-42d2-9770-a1c8068750d4" providerId="AD"/>
  <p188:author id="{8578869B-6732-1AD2-AB49-9703E12BD0AA}" name="Loren Palestino" initials="LP" userId="nvWXrf0zd31Jmpebl6GfUp6IflqCHTH+lO/zHstEaPs=" providerId="None"/>
  <p188:author id="{3DD3399F-4FAA-E9BA-5C1B-C3E745FD03CA}" name="ALEJANDRA JOHNSON" initials="AJ" userId="+YVqWP3gAtgQj7Aa/TtZzcZnpZbHFNvGDccOI9Y/cSw=" providerId="None"/>
  <p188:author id="{99AA09A1-A58E-3AFF-DA11-AAEACE481476}" name="Tammy Tober" initials="TT" userId="S::TTOBER@MITRE.ORG::fad47eba-e413-4c88-87bd-d8368518e7dc" providerId="AD"/>
  <p188:author id="{E6179BA5-8CA6-7C98-0961-C0A21FF4D91C}" name="Sarah Choe" initials="SC" userId="S::schoe@mitre.org::6852c444-38f9-40d3-bc32-265e0ccb008c" providerId="AD"/>
  <p188:author id="{DEB133AE-42A1-60F9-5752-4C2D1674B927}" name="Paula S Huston" initials="PH" userId="S::phuston@mitre.org::d99a6ffe-af5d-4272-967d-25acd72bbf9d" providerId="AD"/>
  <p188:author id="{DEED14C0-09C5-DB4C-35F2-3F60A697E7BC}" name="Ernest Mensah" initials="EM" userId="S::emensah@mitre.org::636730c2-dc67-48b4-b2e2-bb5c10ffd9d1" providerId="AD"/>
  <p188:author id="{B42EB4C4-9979-A6DD-5ADA-3A24BA5D5314}" name="Kathleen MW Prince" initials="KP" userId="S::KPRINCE@MITRE.ORG::d7dcda69-33da-49ee-b037-cbe70d10c46f" providerId="AD"/>
  <p188:author id="{7A0B41CD-D200-CD17-1CEB-66A5A6001F68}" name="ALEJANDRA JOHNSON" initials="AJ" userId="ALEJANDRA JOHNSON" providerId="None"/>
  <p188:author id="{5A6073CD-2AAF-B406-91C4-11269DB84DBA}" name="Amy Strait" initials="AS" userId="S::ASTRAIT@MITRE.ORG::f9a5551b-78c6-4d6c-a064-4abe8bef6db6" providerId="AD"/>
  <p188:author id="{8B372DD5-1C85-D4F3-F1B4-B720F8F671C2}" name="Becky J Crawford" initials="BC" userId="S::BJCRAWFORD@MITRE.ORG::660b9d6c-ad20-4684-8f9d-c42cd9806025" providerId="AD"/>
  <p188:author id="{3DB7E5DD-EF06-7730-3B19-67F10A5BE9B9}" name="Trish Heiman" initials="" userId="S::PHEIMAN@MITRE.ORG::3075c4a0-9999-4288-aa2d-c012b8b11fa6" providerId="AD"/>
  <p188:author id="{B156B8E6-701C-B1B9-EE72-B16F39877D10}" name="Ed Dolly" initials="ED" userId="hny91V7qp/PnmstLmHZQMk0fhwVCxFUCaJQ8ifpcy+k=" providerId="None"/>
  <p188:author id="{E3D071E9-27E3-FAB1-FF30-A147022F9277}" name="Sonya Shaver" initials="SS" userId="S::sshaver@mitre.org::a166d3b5-0db0-4356-9b3e-2064de93bc65" providerId="AD"/>
  <p188:author id="{25ADBFE9-2CCB-6690-772B-B1D7C6DBBAFA}" name="EUGENE GABRIYELOV" initials="EG" userId="5I1xeZt1uVdTenTjkHSWY53n4xTDXqokAWS6OTV4Zl0=" providerId="None"/>
  <p188:author id="{CA5729F1-D381-460A-250C-7BABB4452243}" name="Sonya Shaver" initials="SS" userId="S::SSHAVER@MITRE.ORG::a166d3b5-0db0-4356-9b3e-2064de93bc65" providerId="AD"/>
  <p188:author id="{D5033EF4-2929-DBFE-D9E9-49A5AEABE240}" name="Douglas S Hoff" initials="DH" userId="S::DOUGHOFF@MITRE.ORG::e288264b-19a7-4764-830c-2799d730b8c4" providerId="AD"/>
  <p188:author id="{3C4AD1F5-59AA-61FE-54D6-DC1308C47967}" name="Ruchira Puri" initials="RP" userId="S::RPURI@MITRE.ORG::30de53fa-22f8-46ef-ba58-7a80e92e654f" providerId="AD"/>
  <p188:author id="{347944FA-2A51-C681-4D70-B130CB2AEA65}" name="Emily Armstrong" initials="" userId="S::EARMSTRONG@MITRE.ORG::40b0d570-1d68-4e48-ab14-9eba4dacbb07" providerId="AD"/>
  <p188:author id="{2467BCFA-B803-0475-D38F-4E5F7CE388E9}" name="Dr. Juliet Thomas" initials="JT" userId="S::JULIETTHOMAS@MITRE.ORG::8b01a0af-ce9c-4ab6-8c9d-ddc69eb2cc5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ecker, Cathy" initials="BC" lastIdx="14" clrIdx="0">
    <p:extLst>
      <p:ext uri="{19B8F6BF-5375-455C-9EA6-DF929625EA0E}">
        <p15:presenceInfo xmlns:p15="http://schemas.microsoft.com/office/powerpoint/2012/main" userId="S::CDBECKER@MITRE.ORG::e2f07a33-09aa-4155-8033-4023729a7f1b" providerId="AD"/>
      </p:ext>
    </p:extLst>
  </p:cmAuthor>
  <p:cmAuthor id="2" name="Molla, Gina M" initials="MGM" lastIdx="11" clrIdx="1">
    <p:extLst>
      <p:ext uri="{19B8F6BF-5375-455C-9EA6-DF929625EA0E}">
        <p15:presenceInfo xmlns:p15="http://schemas.microsoft.com/office/powerpoint/2012/main" userId="S::GMOLLA@MITRE.ORG::90935d20-3bb3-4d86-b9be-79716ef3b59f" providerId="AD"/>
      </p:ext>
    </p:extLst>
  </p:cmAuthor>
  <p:cmAuthor id="3" name="Desens, Linda" initials="DL" lastIdx="11" clrIdx="2">
    <p:extLst>
      <p:ext uri="{19B8F6BF-5375-455C-9EA6-DF929625EA0E}">
        <p15:presenceInfo xmlns:p15="http://schemas.microsoft.com/office/powerpoint/2012/main" userId="S::LDESENS@MITRE.ORG::20d09778-9aa9-48da-9179-5e3347e234d5" providerId="AD"/>
      </p:ext>
    </p:extLst>
  </p:cmAuthor>
  <p:cmAuthor id="4" name="Sepe, Daniello" initials="SD" lastIdx="1" clrIdx="3">
    <p:extLst>
      <p:ext uri="{19B8F6BF-5375-455C-9EA6-DF929625EA0E}">
        <p15:presenceInfo xmlns:p15="http://schemas.microsoft.com/office/powerpoint/2012/main" userId="S::DSEPE@MITRE.ORG::d939e188-5412-47e3-bd59-b920331dc850" providerId="AD"/>
      </p:ext>
    </p:extLst>
  </p:cmAuthor>
  <p:cmAuthor id="5" name="Grimm, Heather" initials="GH" lastIdx="9" clrIdx="4">
    <p:extLst>
      <p:ext uri="{19B8F6BF-5375-455C-9EA6-DF929625EA0E}">
        <p15:presenceInfo xmlns:p15="http://schemas.microsoft.com/office/powerpoint/2012/main" userId="S::HMAI@MITRE.ORG::38a0ba56-7352-4a62-a1ba-87eab5ea80f0" providerId="AD"/>
      </p:ext>
    </p:extLst>
  </p:cmAuthor>
  <p:cmAuthor id="6" name="Grimm, Heather" initials="GH [2]" lastIdx="3" clrIdx="5">
    <p:extLst>
      <p:ext uri="{19B8F6BF-5375-455C-9EA6-DF929625EA0E}">
        <p15:presenceInfo xmlns:p15="http://schemas.microsoft.com/office/powerpoint/2012/main" userId="S-1-5-21-1940666338-227100268-1349548132-168335" providerId="AD"/>
      </p:ext>
    </p:extLst>
  </p:cmAuthor>
  <p:cmAuthor id="7" name="Puri, Ruchira" initials="PR" lastIdx="7" clrIdx="6">
    <p:extLst>
      <p:ext uri="{19B8F6BF-5375-455C-9EA6-DF929625EA0E}">
        <p15:presenceInfo xmlns:p15="http://schemas.microsoft.com/office/powerpoint/2012/main" userId="S::RPURI@MITRE.ORG::30de53fa-22f8-46ef-ba58-7a80e92e654f" providerId="AD"/>
      </p:ext>
    </p:extLst>
  </p:cmAuthor>
  <p:cmAuthor id="8" name="McNeill, Nick" initials="MN" lastIdx="22" clrIdx="7">
    <p:extLst>
      <p:ext uri="{19B8F6BF-5375-455C-9EA6-DF929625EA0E}">
        <p15:presenceInfo xmlns:p15="http://schemas.microsoft.com/office/powerpoint/2012/main" userId="S::nmcneill@mitre.org::8d3b0fd3-6cb4-4008-a6cf-f2f3337a372c" providerId="AD"/>
      </p:ext>
    </p:extLst>
  </p:cmAuthor>
  <p:cmAuthor id="9" name="Bruno, Rebecca" initials="BR" lastIdx="3" clrIdx="8">
    <p:extLst>
      <p:ext uri="{19B8F6BF-5375-455C-9EA6-DF929625EA0E}">
        <p15:presenceInfo xmlns:p15="http://schemas.microsoft.com/office/powerpoint/2012/main" userId="S::RBRUNO@MITRE.ORG::2874435d-522c-4c6f-bfa7-cef841044134" providerId="AD"/>
      </p:ext>
    </p:extLst>
  </p:cmAuthor>
  <p:cmAuthor id="10" name="Ashley AH Gray" initials="AAG" lastIdx="10" clrIdx="9">
    <p:extLst>
      <p:ext uri="{19B8F6BF-5375-455C-9EA6-DF929625EA0E}">
        <p15:presenceInfo xmlns:p15="http://schemas.microsoft.com/office/powerpoint/2012/main" userId="S::agray@mitre.org::fbc8a124-a9b4-42d2-9770-a1c8068750d4" providerId="AD"/>
      </p:ext>
    </p:extLst>
  </p:cmAuthor>
  <p:cmAuthor id="11" name="Kyle P Miller" initials="KPM" lastIdx="19" clrIdx="10">
    <p:extLst>
      <p:ext uri="{19B8F6BF-5375-455C-9EA6-DF929625EA0E}">
        <p15:presenceInfo xmlns:p15="http://schemas.microsoft.com/office/powerpoint/2012/main" userId="S::KPMILLER@MITRE.ORG::a004391e-31e4-4cd4-9206-04e288dece4e" providerId="AD"/>
      </p:ext>
    </p:extLst>
  </p:cmAuthor>
  <p:cmAuthor id="12" name="Chris L Peterson" initials="CP" lastIdx="15" clrIdx="11">
    <p:extLst>
      <p:ext uri="{19B8F6BF-5375-455C-9EA6-DF929625EA0E}">
        <p15:presenceInfo xmlns:p15="http://schemas.microsoft.com/office/powerpoint/2012/main" userId="S::cpeterson@mitre.org::c0ba8890-80ee-429a-9bb6-791b17097c34" providerId="AD"/>
      </p:ext>
    </p:extLst>
  </p:cmAuthor>
  <p:cmAuthor id="13" name="Johanna L Barraza-Cannon" initials="JB" lastIdx="1" clrIdx="12">
    <p:extLst>
      <p:ext uri="{19B8F6BF-5375-455C-9EA6-DF929625EA0E}">
        <p15:presenceInfo xmlns:p15="http://schemas.microsoft.com/office/powerpoint/2012/main" userId="S::jbarrazacannon@mitre.org::fe9c2757-1a8f-45cc-ae11-5752f8e081ea" providerId="AD"/>
      </p:ext>
    </p:extLst>
  </p:cmAuthor>
  <p:cmAuthor id="14" name="Sejal Patel" initials="SP" lastIdx="15" clrIdx="13">
    <p:extLst>
      <p:ext uri="{19B8F6BF-5375-455C-9EA6-DF929625EA0E}">
        <p15:presenceInfo xmlns:p15="http://schemas.microsoft.com/office/powerpoint/2012/main" userId="S::patel@mitre.org::513b05b4-6934-40ff-810d-44014310b4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164A"/>
    <a:srgbClr val="DED5E6"/>
    <a:srgbClr val="D6E0EC"/>
    <a:srgbClr val="8198B0"/>
    <a:srgbClr val="113A61"/>
    <a:srgbClr val="D7E3BF"/>
    <a:srgbClr val="D0CECE"/>
    <a:srgbClr val="490D43"/>
    <a:srgbClr val="CCCCFF"/>
    <a:srgbClr val="0049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63630" autoAdjust="0"/>
  </p:normalViewPr>
  <p:slideViewPr>
    <p:cSldViewPr snapToGrid="0">
      <p:cViewPr varScale="1">
        <p:scale>
          <a:sx n="78" d="100"/>
          <a:sy n="78" d="100"/>
        </p:scale>
        <p:origin x="1392" y="176"/>
      </p:cViewPr>
      <p:guideLst>
        <p:guide orient="horz" pos="2064"/>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handoutMaster" Target="handoutMasters/handout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C16B254-F755-154D-86D8-705F3C585905}" type="datetimeFigureOut">
              <a:rPr lang="en-US" smtClean="0"/>
              <a:pPr/>
              <a:t>9/30/26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B07BA0-83C1-274E-9BA1-643DFA6696FC}" type="slidenum">
              <a:rPr lang="en-US" smtClean="0"/>
              <a:pPr/>
              <a:t>‹#›</a:t>
            </a:fld>
            <a:endParaRPr lang="en-US" dirty="0"/>
          </a:p>
        </p:txBody>
      </p:sp>
    </p:spTree>
    <p:extLst>
      <p:ext uri="{BB962C8B-B14F-4D97-AF65-F5344CB8AC3E}">
        <p14:creationId xmlns:p14="http://schemas.microsoft.com/office/powerpoint/2010/main" val="408248736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242358-85E2-2545-8677-79B1E11E6ECD}" type="datetimeFigureOut">
              <a:rPr lang="en-US" smtClean="0"/>
              <a:pPr/>
              <a:t>9/30/26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898A01-842B-0042-9AB7-55364486B929}" type="slidenum">
              <a:rPr lang="en-US" smtClean="0"/>
              <a:pPr/>
              <a:t>‹#›</a:t>
            </a:fld>
            <a:endParaRPr lang="en-US" dirty="0"/>
          </a:p>
        </p:txBody>
      </p:sp>
    </p:spTree>
    <p:extLst>
      <p:ext uri="{BB962C8B-B14F-4D97-AF65-F5344CB8AC3E}">
        <p14:creationId xmlns:p14="http://schemas.microsoft.com/office/powerpoint/2010/main" val="2101903529"/>
      </p:ext>
    </p:extLst>
  </p:cSld>
  <p:clrMap bg1="lt1" tx1="dk1" bg2="lt2" tx2="dk2" accent1="accent1" accent2="accent2" accent3="accent3" accent4="accent4" accent5="accent5" accent6="accent6" hlink="hlink" folHlink="folHlink"/>
  <p:hf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7048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Slide Number Placeholder 3"/>
          <p:cNvSpPr>
            <a:spLocks noGrp="1"/>
          </p:cNvSpPr>
          <p:nvPr>
            <p:ph type="sldNum" sz="quarter" idx="10"/>
          </p:nvPr>
        </p:nvSpPr>
        <p:spPr/>
        <p:txBody>
          <a:bodyPr/>
          <a:lstStyle/>
          <a:p>
            <a:fld id="{7B898A01-842B-0042-9AB7-55364486B929}" type="slidenum">
              <a:rPr lang="en-US" smtClean="0"/>
              <a:pPr/>
              <a:t>1</a:t>
            </a:fld>
            <a:endParaRPr lang="en-US" dirty="0"/>
          </a:p>
        </p:txBody>
      </p:sp>
      <p:sp>
        <p:nvSpPr>
          <p:cNvPr id="5" name="Header Placeholder 4">
            <a:extLst>
              <a:ext uri="{FF2B5EF4-FFF2-40B4-BE49-F238E27FC236}">
                <a16:creationId xmlns:a16="http://schemas.microsoft.com/office/drawing/2014/main" id="{59884791-7125-481D-B75F-0B83C327F6F4}"/>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4055658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Slide Number Placeholder 3"/>
          <p:cNvSpPr>
            <a:spLocks noGrp="1"/>
          </p:cNvSpPr>
          <p:nvPr>
            <p:ph type="sldNum" sz="quarter" idx="5"/>
          </p:nvPr>
        </p:nvSpPr>
        <p:spPr/>
        <p:txBody>
          <a:bodyPr/>
          <a:lstStyle/>
          <a:p>
            <a:fld id="{7B898A01-842B-0042-9AB7-55364486B929}" type="slidenum">
              <a:rPr lang="en-US" smtClean="0"/>
              <a:pPr/>
              <a:t>2</a:t>
            </a:fld>
            <a:endParaRPr lang="en-US" dirty="0"/>
          </a:p>
        </p:txBody>
      </p:sp>
      <p:sp>
        <p:nvSpPr>
          <p:cNvPr id="5" name="Header Placeholder 4">
            <a:extLst>
              <a:ext uri="{FF2B5EF4-FFF2-40B4-BE49-F238E27FC236}">
                <a16:creationId xmlns:a16="http://schemas.microsoft.com/office/drawing/2014/main" id="{F9DDC556-04BD-46DD-9F98-DEC95DB2607F}"/>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718072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3</a:t>
            </a:fld>
            <a:endParaRPr lang="en-US" dirty="0"/>
          </a:p>
        </p:txBody>
      </p:sp>
    </p:spTree>
    <p:extLst>
      <p:ext uri="{BB962C8B-B14F-4D97-AF65-F5344CB8AC3E}">
        <p14:creationId xmlns:p14="http://schemas.microsoft.com/office/powerpoint/2010/main" val="525620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4</a:t>
            </a:fld>
            <a:endParaRPr lang="en-US" dirty="0"/>
          </a:p>
        </p:txBody>
      </p:sp>
    </p:spTree>
    <p:extLst>
      <p:ext uri="{BB962C8B-B14F-4D97-AF65-F5344CB8AC3E}">
        <p14:creationId xmlns:p14="http://schemas.microsoft.com/office/powerpoint/2010/main" val="1558585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5</a:t>
            </a:fld>
            <a:endParaRPr lang="en-US" dirty="0"/>
          </a:p>
        </p:txBody>
      </p:sp>
    </p:spTree>
    <p:extLst>
      <p:ext uri="{BB962C8B-B14F-4D97-AF65-F5344CB8AC3E}">
        <p14:creationId xmlns:p14="http://schemas.microsoft.com/office/powerpoint/2010/main" val="3334014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SMC process consists of three phases and is independent of the State system implementation lifecycle methodology:</a:t>
            </a:r>
          </a:p>
          <a:p>
            <a:r>
              <a:rPr lang="en-US" sz="1200" dirty="0"/>
              <a:t>1) The Planning phase: When the State is in the planning phase of a project, the State develops the initial intended outcomes desired of the new module and works with CMS to refine them.</a:t>
            </a:r>
          </a:p>
          <a:p>
            <a:r>
              <a:rPr lang="en-US" sz="1200" dirty="0"/>
              <a:t>2) The Development phase: When the State and the vendor are in the Design, Development, and Implementation (DDI) phase the State works with CMS to prepare for the Operational Readiness Review (ORR).</a:t>
            </a:r>
          </a:p>
          <a:p>
            <a:r>
              <a:rPr lang="en-US" sz="1200" dirty="0"/>
              <a:t>3) The Production phase: When the module is live, the State works with CMS to prepare for the final CR.</a:t>
            </a:r>
          </a:p>
          <a:p>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detail on the bottom of the diagram is the output from that phase. </a:t>
            </a:r>
            <a:r>
              <a:rPr lang="en-US" dirty="0"/>
              <a:t>It is CMS’ expectation that the SMA will be able to reuse the files they have already received and reviewed from their IT investment as part of the ongoing system acceptance process. Said another way, CMS anticipates the State leveraging reuse of preexisting documentation already required by the State for the project, ultimately reducing or eliminating the additional effort associated with “evidence curation” for SMC. </a:t>
            </a:r>
          </a:p>
          <a:p>
            <a:endParaRPr lang="en-US" sz="1200" dirty="0"/>
          </a:p>
          <a:p>
            <a:r>
              <a:rPr lang="en-US" sz="1200" dirty="0"/>
              <a:t>Technical Assistance is provided throughout entire process. For example, ask the CMS Certification Team for a review of the draft SMC Intake Form, along with metrics, including after production prior to CR.</a:t>
            </a:r>
          </a:p>
          <a:p>
            <a:endParaRPr lang="en-US" sz="1200"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6</a:t>
            </a:fld>
            <a:endParaRPr lang="en-US" dirty="0"/>
          </a:p>
        </p:txBody>
      </p:sp>
    </p:spTree>
    <p:extLst>
      <p:ext uri="{BB962C8B-B14F-4D97-AF65-F5344CB8AC3E}">
        <p14:creationId xmlns:p14="http://schemas.microsoft.com/office/powerpoint/2010/main" val="4028862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7</a:t>
            </a:fld>
            <a:endParaRPr lang="en-US" dirty="0"/>
          </a:p>
        </p:txBody>
      </p:sp>
    </p:spTree>
    <p:extLst>
      <p:ext uri="{BB962C8B-B14F-4D97-AF65-F5344CB8AC3E}">
        <p14:creationId xmlns:p14="http://schemas.microsoft.com/office/powerpoint/2010/main" val="2054975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dirty="0"/>
          </a:p>
        </p:txBody>
      </p:sp>
      <p:sp>
        <p:nvSpPr>
          <p:cNvPr id="4" name="Slide Number Placeholder 3"/>
          <p:cNvSpPr>
            <a:spLocks noGrp="1"/>
          </p:cNvSpPr>
          <p:nvPr>
            <p:ph type="sldNum" sz="quarter" idx="10"/>
          </p:nvPr>
        </p:nvSpPr>
        <p:spPr/>
        <p:txBody>
          <a:bodyPr/>
          <a:lstStyle/>
          <a:p>
            <a:fld id="{2C49E191-9C6F-4970-9FE5-B50C04C703A9}" type="slidenum">
              <a:rPr lang="en-US" smtClean="0"/>
              <a:t>8</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1988757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9</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2617981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10</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218152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12</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4191482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13</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3961879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15</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4085636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92071-0952-D20C-4F0C-4687B287E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A2289-9219-4AC3-F4D5-27BC1D387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B5E19-47D2-DEE6-D6F7-5E3DCCBC331D}"/>
              </a:ext>
            </a:extLst>
          </p:cNvPr>
          <p:cNvSpPr>
            <a:spLocks noGrp="1"/>
          </p:cNvSpPr>
          <p:nvPr>
            <p:ph type="body" idx="1"/>
          </p:nvPr>
        </p:nvSpPr>
        <p:spPr/>
        <p:txBody>
          <a:bodyPr/>
          <a:lstStyle/>
          <a:p>
            <a:pPr marL="0" indent="0">
              <a:buFont typeface="Arial" panose="020B0604020202020204" pitchFamily="34" charset="0"/>
              <a:buNone/>
            </a:pPr>
            <a:r>
              <a:rPr lang="en-US" dirty="0"/>
              <a:t>For the ORR, the following steps are completed:</a:t>
            </a:r>
          </a:p>
          <a:p>
            <a:pPr marL="0" marR="0" lvl="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1. Confirming the review date requires completion of entry criteria and all remaining files must be submitted 2 weeks prior to the confirmed date. </a:t>
            </a:r>
            <a:r>
              <a:rPr lang="en-US" dirty="0"/>
              <a:t>“All files” includes </a:t>
            </a:r>
            <a:r>
              <a:rPr lang="en-US" sz="1200" b="0" i="0" dirty="0">
                <a:solidFill>
                  <a:srgbClr val="000000"/>
                </a:solidFill>
                <a:effectLst/>
                <a:latin typeface="Times New Roman" panose="02020603050405020304" pitchFamily="18" charset="0"/>
              </a:rPr>
              <a:t>Evidence, Required Artifacts, SMC Intake Form, Operational Report Workbook (ORW), Agenda, Presentation</a:t>
            </a:r>
            <a:r>
              <a:rPr lang="en-US" sz="1200" b="0" i="0" u="none" dirty="0">
                <a:solidFill>
                  <a:srgbClr val="D13438"/>
                </a:solidFill>
                <a:effectLst/>
                <a:latin typeface="Times New Roman" panose="02020603050405020304" pitchFamily="18" charset="0"/>
              </a:rPr>
              <a:t>. </a:t>
            </a:r>
          </a:p>
          <a:p>
            <a:pPr marL="6286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228600" algn="l"/>
                <a:tab pos="742950" algn="l"/>
                <a:tab pos="742950" algn="l"/>
              </a:tabLst>
              <a:defRPr/>
            </a:pPr>
            <a:r>
              <a:rPr lang="en-US" b="0" i="0" dirty="0">
                <a:solidFill>
                  <a:srgbClr val="000000"/>
                </a:solidFill>
                <a:effectLst/>
                <a:latin typeface="Times New Roman" panose="02020603050405020304" pitchFamily="18" charset="0"/>
              </a:rPr>
              <a:t>It is important to distinguish between required artifacts and evidence. Evidence is documentation or data that proves the achievement of an outcome, as listed in the SMC Intake Form on the Outcomes and Metrics tab. Required Artifacts, on the other hand, are documents that demonstrate the progression of a State’s project and are not typically used as evidence for outcomes.</a:t>
            </a:r>
            <a:endParaRPr lang="en-US" dirty="0"/>
          </a:p>
          <a:p>
            <a:pPr marL="0" indent="0">
              <a:buFont typeface="Arial" panose="020B0604020202020204" pitchFamily="34" charset="0"/>
              <a:buNone/>
            </a:pPr>
            <a:r>
              <a:rPr lang="en-US" dirty="0"/>
              <a:t>2. Preferably, earlier but no later than two weeks before the ORR, the State uploads all evidence, required artifacts, the Intake Form, Operational Report Workbook, the ORR agenda, and the presentation in the appropriate CMS Box certification folders (see Using Box).</a:t>
            </a:r>
          </a:p>
          <a:p>
            <a:pPr marL="0" indent="0">
              <a:buFont typeface="Arial" panose="020B0604020202020204" pitchFamily="34" charset="0"/>
              <a:buNone/>
            </a:pPr>
            <a:r>
              <a:rPr lang="en-US" dirty="0"/>
              <a:t>	o The State notifies the CMS Certification Team when they have completed loading all documentation (no later than 2 weeks prior to the review date).</a:t>
            </a:r>
          </a:p>
          <a:p>
            <a:pPr marL="0" indent="0">
              <a:buFont typeface="Arial" panose="020B0604020202020204" pitchFamily="34" charset="0"/>
              <a:buNone/>
            </a:pPr>
            <a:r>
              <a:rPr lang="en-US" dirty="0"/>
              <a:t>	o The CMS Certification Team will then begin a review and draft the Information Request Listing (IRL).</a:t>
            </a:r>
          </a:p>
          <a:p>
            <a:pPr marL="0" indent="0">
              <a:buFont typeface="Arial" panose="020B0604020202020204" pitchFamily="34" charset="0"/>
              <a:buNone/>
            </a:pPr>
            <a:r>
              <a:rPr lang="en-US" dirty="0"/>
              <a:t>3. Approximately one week prior to the review, an IRL will be sent to the State by the CMS Certification Team. This includes questions and feedback on the files uploaded to the CMS Box. Although providing written responses to these questions before the review is encouraged to streamline the review, it is not mandatory. The State must be prepared to address all outstanding questions from the IRL during the review discussions and demonstrations.</a:t>
            </a:r>
          </a:p>
          <a:p>
            <a:pPr marL="0" indent="0">
              <a:buFont typeface="Arial" panose="020B0604020202020204" pitchFamily="34" charset="0"/>
              <a:buNone/>
            </a:pPr>
            <a:r>
              <a:rPr lang="en-US" dirty="0"/>
              <a:t>4. The ORR meeting is held, and action items are documented, reviewed, and agreed to.</a:t>
            </a:r>
          </a:p>
          <a:p>
            <a:pPr marL="0" indent="0">
              <a:buFont typeface="Arial" panose="020B0604020202020204" pitchFamily="34" charset="0"/>
              <a:buNone/>
            </a:pPr>
            <a:r>
              <a:rPr lang="en-US" dirty="0"/>
              <a:t>5. A Tear-out will be created by the CMS Certification Team including observations, recommendations, and action items. The Tear-out will be sent to the State along with an updated Intake Form (with CMS columns filled out) approximately one week after the ORR meeting.</a:t>
            </a:r>
          </a:p>
          <a:p>
            <a:pPr marL="0" indent="0">
              <a:buFont typeface="Arial" panose="020B0604020202020204" pitchFamily="34" charset="0"/>
              <a:buNone/>
            </a:pPr>
            <a:r>
              <a:rPr lang="en-US" dirty="0"/>
              <a:t>6. The Tear-out observations and recommendations should be reviewed, and action should be taken as necessary, as the State’s response will need to be reviewed during the CR. </a:t>
            </a:r>
          </a:p>
          <a:p>
            <a:endParaRPr lang="en-US" dirty="0"/>
          </a:p>
        </p:txBody>
      </p:sp>
      <p:sp>
        <p:nvSpPr>
          <p:cNvPr id="4" name="Header Placeholder 3">
            <a:extLst>
              <a:ext uri="{FF2B5EF4-FFF2-40B4-BE49-F238E27FC236}">
                <a16:creationId xmlns:a16="http://schemas.microsoft.com/office/drawing/2014/main" id="{DA8064C6-5AB0-D4D8-CA7D-488BBEB10911}"/>
              </a:ext>
            </a:extLst>
          </p:cNvPr>
          <p:cNvSpPr>
            <a:spLocks noGrp="1"/>
          </p:cNvSpPr>
          <p:nvPr>
            <p:ph type="hdr" sz="quarter"/>
          </p:nvPr>
        </p:nvSpPr>
        <p:spPr/>
        <p:txBody>
          <a:bodyPr/>
          <a:lstStyle/>
          <a:p>
            <a:endParaRPr lang="en-US" dirty="0"/>
          </a:p>
        </p:txBody>
      </p:sp>
      <p:sp>
        <p:nvSpPr>
          <p:cNvPr id="5" name="Slide Number Placeholder 4">
            <a:extLst>
              <a:ext uri="{FF2B5EF4-FFF2-40B4-BE49-F238E27FC236}">
                <a16:creationId xmlns:a16="http://schemas.microsoft.com/office/drawing/2014/main" id="{B04A8C05-77E8-CB58-62DF-928D6A1DC720}"/>
              </a:ext>
            </a:extLst>
          </p:cNvPr>
          <p:cNvSpPr>
            <a:spLocks noGrp="1"/>
          </p:cNvSpPr>
          <p:nvPr>
            <p:ph type="sldNum" sz="quarter" idx="5"/>
          </p:nvPr>
        </p:nvSpPr>
        <p:spPr/>
        <p:txBody>
          <a:bodyPr/>
          <a:lstStyle/>
          <a:p>
            <a:fld id="{7B898A01-842B-0042-9AB7-55364486B929}" type="slidenum">
              <a:rPr lang="en-US" smtClean="0"/>
              <a:pPr/>
              <a:t>16</a:t>
            </a:fld>
            <a:endParaRPr lang="en-US" dirty="0"/>
          </a:p>
        </p:txBody>
      </p:sp>
    </p:spTree>
    <p:extLst>
      <p:ext uri="{BB962C8B-B14F-4D97-AF65-F5344CB8AC3E}">
        <p14:creationId xmlns:p14="http://schemas.microsoft.com/office/powerpoint/2010/main" val="2888994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15C2-94CB-91C8-83C1-7D4CCC371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BADCF-2CDC-D5C6-97F2-E876F2D6F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4F612-E298-CAA6-2F61-865DC9E4BD0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a:extLst>
              <a:ext uri="{FF2B5EF4-FFF2-40B4-BE49-F238E27FC236}">
                <a16:creationId xmlns:a16="http://schemas.microsoft.com/office/drawing/2014/main" id="{DC6B8419-54B7-0B2F-150A-9142AEF112A7}"/>
              </a:ext>
            </a:extLst>
          </p:cNvPr>
          <p:cNvSpPr>
            <a:spLocks noGrp="1"/>
          </p:cNvSpPr>
          <p:nvPr>
            <p:ph type="hdr" sz="quarter"/>
          </p:nvPr>
        </p:nvSpPr>
        <p:spPr/>
        <p:txBody>
          <a:bodyPr/>
          <a:lstStyle/>
          <a:p>
            <a:endParaRPr lang="en-US" dirty="0"/>
          </a:p>
        </p:txBody>
      </p:sp>
      <p:sp>
        <p:nvSpPr>
          <p:cNvPr id="5" name="Slide Number Placeholder 4">
            <a:extLst>
              <a:ext uri="{FF2B5EF4-FFF2-40B4-BE49-F238E27FC236}">
                <a16:creationId xmlns:a16="http://schemas.microsoft.com/office/drawing/2014/main" id="{8DA9F74F-FD82-F98D-5474-0911FEF5DF68}"/>
              </a:ext>
            </a:extLst>
          </p:cNvPr>
          <p:cNvSpPr>
            <a:spLocks noGrp="1"/>
          </p:cNvSpPr>
          <p:nvPr>
            <p:ph type="sldNum" sz="quarter" idx="5"/>
          </p:nvPr>
        </p:nvSpPr>
        <p:spPr/>
        <p:txBody>
          <a:bodyPr/>
          <a:lstStyle/>
          <a:p>
            <a:fld id="{7B898A01-842B-0042-9AB7-55364486B929}" type="slidenum">
              <a:rPr lang="en-US" smtClean="0"/>
              <a:pPr/>
              <a:t>17</a:t>
            </a:fld>
            <a:endParaRPr lang="en-US" dirty="0"/>
          </a:p>
        </p:txBody>
      </p:sp>
    </p:spTree>
    <p:extLst>
      <p:ext uri="{BB962C8B-B14F-4D97-AF65-F5344CB8AC3E}">
        <p14:creationId xmlns:p14="http://schemas.microsoft.com/office/powerpoint/2010/main" val="1439173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2B6EE-302F-00A9-BCC9-7E561E76E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32031-8ABA-5B00-253A-31675BF84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F894F-DB84-E4A9-2028-DFE81E156A89}"/>
              </a:ext>
            </a:extLst>
          </p:cNvPr>
          <p:cNvSpPr>
            <a:spLocks noGrp="1"/>
          </p:cNvSpPr>
          <p:nvPr>
            <p:ph type="body" idx="1"/>
          </p:nvPr>
        </p:nvSpPr>
        <p:spPr/>
        <p:txBody>
          <a:bodyPr/>
          <a:lstStyle/>
          <a:p>
            <a:pPr marL="0" marR="0" lvl="0" indent="0">
              <a:lnSpc>
                <a:spcPct val="107000"/>
              </a:lnSpc>
              <a:spcAft>
                <a:spcPts val="800"/>
              </a:spcAft>
              <a:buFont typeface="Wingdings" panose="05000000000000000000" pitchFamily="2" charset="2"/>
              <a:buNone/>
            </a:pPr>
            <a:r>
              <a:rPr lang="en-US" sz="1100" kern="100" dirty="0">
                <a:effectLst/>
                <a:latin typeface="Calibri" panose="020F0502020204030204" pitchFamily="34" charset="0"/>
                <a:ea typeface="Aptos" panose="020B0004020202020204" pitchFamily="34" charset="0"/>
                <a:cs typeface="Arial" panose="020B0604020202020204" pitchFamily="34" charset="0"/>
              </a:rPr>
              <a:t>All critical </a:t>
            </a:r>
            <a:r>
              <a:rPr lang="en-US" sz="800" kern="0" dirty="0">
                <a:effectLst/>
                <a:latin typeface="Times" panose="02020603050405020304" pitchFamily="18" charset="0"/>
                <a:ea typeface="Times" panose="02020603050405020304" pitchFamily="18" charset="0"/>
                <a:cs typeface="Times New Roman" panose="02020603050405020304" pitchFamily="18" charset="0"/>
              </a:rPr>
              <a:t> </a:t>
            </a:r>
            <a:r>
              <a:rPr lang="en-US" sz="1100" kern="100" dirty="0">
                <a:effectLst/>
                <a:latin typeface="Calibri" panose="020F0502020204030204" pitchFamily="34" charset="0"/>
                <a:ea typeface="Aptos" panose="020B0004020202020204" pitchFamily="34" charset="0"/>
                <a:cs typeface="Arial" panose="020B0604020202020204" pitchFamily="34" charset="0"/>
              </a:rPr>
              <a:t>vulnerabilities should be resolved prior to scheduling a review date. However, States can request a date with unresolved critical items if a mitigation/remediation plan is submitted using the recommended risk acceptance template, which can be found in Attachment D of CMS Information Security Plan of Action and Milestones (POA&amp;M) Procedure.</a:t>
            </a:r>
            <a:endParaRPr lang="en-US" dirty="0">
              <a:solidFill>
                <a:srgbClr val="3F3F3F"/>
              </a:solidFill>
              <a:effectLst/>
              <a:latin typeface="Helvetica" pitchFamily="2" charset="0"/>
            </a:endParaRPr>
          </a:p>
        </p:txBody>
      </p:sp>
      <p:sp>
        <p:nvSpPr>
          <p:cNvPr id="4" name="Header Placeholder 3">
            <a:extLst>
              <a:ext uri="{FF2B5EF4-FFF2-40B4-BE49-F238E27FC236}">
                <a16:creationId xmlns:a16="http://schemas.microsoft.com/office/drawing/2014/main" id="{525E7866-83E0-9DD7-D8B0-C3ECD51F03B3}"/>
              </a:ext>
            </a:extLst>
          </p:cNvPr>
          <p:cNvSpPr>
            <a:spLocks noGrp="1"/>
          </p:cNvSpPr>
          <p:nvPr>
            <p:ph type="hdr" sz="quarter"/>
          </p:nvPr>
        </p:nvSpPr>
        <p:spPr/>
        <p:txBody>
          <a:bodyPr/>
          <a:lstStyle/>
          <a:p>
            <a:endParaRPr lang="en-US" dirty="0"/>
          </a:p>
        </p:txBody>
      </p:sp>
      <p:sp>
        <p:nvSpPr>
          <p:cNvPr id="5" name="Slide Number Placeholder 4">
            <a:extLst>
              <a:ext uri="{FF2B5EF4-FFF2-40B4-BE49-F238E27FC236}">
                <a16:creationId xmlns:a16="http://schemas.microsoft.com/office/drawing/2014/main" id="{469CD521-460B-558D-44B1-19172088B59E}"/>
              </a:ext>
            </a:extLst>
          </p:cNvPr>
          <p:cNvSpPr>
            <a:spLocks noGrp="1"/>
          </p:cNvSpPr>
          <p:nvPr>
            <p:ph type="sldNum" sz="quarter" idx="5"/>
          </p:nvPr>
        </p:nvSpPr>
        <p:spPr/>
        <p:txBody>
          <a:bodyPr/>
          <a:lstStyle/>
          <a:p>
            <a:fld id="{7B898A01-842B-0042-9AB7-55364486B929}" type="slidenum">
              <a:rPr lang="en-US" smtClean="0"/>
              <a:pPr/>
              <a:t>18</a:t>
            </a:fld>
            <a:endParaRPr lang="en-US" dirty="0"/>
          </a:p>
        </p:txBody>
      </p:sp>
    </p:spTree>
    <p:extLst>
      <p:ext uri="{BB962C8B-B14F-4D97-AF65-F5344CB8AC3E}">
        <p14:creationId xmlns:p14="http://schemas.microsoft.com/office/powerpoint/2010/main" val="1519887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E656-52CC-7BD4-0294-68FD4D58D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5D02C-A7FB-E9F4-1A40-1909801B7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305FE-2CE9-1927-7A79-F6C5597530A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“All files” includes </a:t>
            </a:r>
            <a:r>
              <a:rPr lang="en-US" sz="1200" b="0" i="0" dirty="0">
                <a:solidFill>
                  <a:srgbClr val="000000"/>
                </a:solidFill>
                <a:effectLst/>
                <a:latin typeface="Times New Roman" panose="02020603050405020304" pitchFamily="18" charset="0"/>
              </a:rPr>
              <a:t>Evidence, Required Artifacts, SMC Intake Form, Operational Report Workbook (ORW) with metric definitions, Agenda, Presentation</a:t>
            </a:r>
            <a:r>
              <a:rPr lang="en-US" sz="1200" b="0" i="0" u="none" dirty="0">
                <a:solidFill>
                  <a:srgbClr val="D13438"/>
                </a:solidFill>
                <a:effectLst/>
                <a:latin typeface="Times New Roman" panose="02020603050405020304" pitchFamily="18" charset="0"/>
              </a:rPr>
              <a:t>.</a:t>
            </a:r>
            <a:endParaRPr lang="en-US" u="none" dirty="0"/>
          </a:p>
          <a:p>
            <a:endParaRPr lang="en-US" dirty="0"/>
          </a:p>
        </p:txBody>
      </p:sp>
      <p:sp>
        <p:nvSpPr>
          <p:cNvPr id="4" name="Slide Number Placeholder 3">
            <a:extLst>
              <a:ext uri="{FF2B5EF4-FFF2-40B4-BE49-F238E27FC236}">
                <a16:creationId xmlns:a16="http://schemas.microsoft.com/office/drawing/2014/main" id="{90E6B4C0-0209-0647-23F7-EA2DBB7940DF}"/>
              </a:ext>
            </a:extLst>
          </p:cNvPr>
          <p:cNvSpPr>
            <a:spLocks noGrp="1"/>
          </p:cNvSpPr>
          <p:nvPr>
            <p:ph type="sldNum" sz="quarter" idx="10"/>
          </p:nvPr>
        </p:nvSpPr>
        <p:spPr/>
        <p:txBody>
          <a:bodyPr/>
          <a:lstStyle/>
          <a:p>
            <a:fld id="{2C49E191-9C6F-4970-9FE5-B50C04C703A9}" type="slidenum">
              <a:rPr lang="en-US" smtClean="0"/>
              <a:t>19</a:t>
            </a:fld>
            <a:endParaRPr lang="en-US" dirty="0"/>
          </a:p>
        </p:txBody>
      </p:sp>
      <p:sp>
        <p:nvSpPr>
          <p:cNvPr id="5" name="Header Placeholder 4">
            <a:extLst>
              <a:ext uri="{FF2B5EF4-FFF2-40B4-BE49-F238E27FC236}">
                <a16:creationId xmlns:a16="http://schemas.microsoft.com/office/drawing/2014/main" id="{5F64752D-F41A-0A84-429B-04851D02383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1696040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917C-2D05-71A3-ECCF-56D0E1569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A26EB-7C53-2FBB-FE61-848FD32AF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23462-40BD-65B2-5ACC-F1BEF7E95BC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effectLst/>
                <a:latin typeface="Segoe UI" panose="020B0502040204020203" pitchFamily="34" charset="0"/>
              </a:rPr>
              <a:t>CMS Certification Team will send the sample agenda templates after the call as requested. States should stick to the structure as best possible but will have some flexibility to update where needed and can put in their own template if desired.</a:t>
            </a:r>
            <a:endParaRPr lang="en-US" dirty="0">
              <a:solidFill>
                <a:srgbClr val="3F3F3F"/>
              </a:solidFill>
              <a:effectLst/>
              <a:latin typeface="Helvetica" pitchFamily="2"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a:extLst>
              <a:ext uri="{FF2B5EF4-FFF2-40B4-BE49-F238E27FC236}">
                <a16:creationId xmlns:a16="http://schemas.microsoft.com/office/drawing/2014/main" id="{203FC1C1-146E-70A1-1BE7-059E0B17FB06}"/>
              </a:ext>
            </a:extLst>
          </p:cNvPr>
          <p:cNvSpPr>
            <a:spLocks noGrp="1"/>
          </p:cNvSpPr>
          <p:nvPr>
            <p:ph type="hdr" sz="quarter"/>
          </p:nvPr>
        </p:nvSpPr>
        <p:spPr/>
        <p:txBody>
          <a:bodyPr/>
          <a:lstStyle/>
          <a:p>
            <a:endParaRPr lang="en-US" dirty="0"/>
          </a:p>
        </p:txBody>
      </p:sp>
      <p:sp>
        <p:nvSpPr>
          <p:cNvPr id="5" name="Slide Number Placeholder 4">
            <a:extLst>
              <a:ext uri="{FF2B5EF4-FFF2-40B4-BE49-F238E27FC236}">
                <a16:creationId xmlns:a16="http://schemas.microsoft.com/office/drawing/2014/main" id="{3758ECEF-620B-94EF-B645-E55228F4644B}"/>
              </a:ext>
            </a:extLst>
          </p:cNvPr>
          <p:cNvSpPr>
            <a:spLocks noGrp="1"/>
          </p:cNvSpPr>
          <p:nvPr>
            <p:ph type="sldNum" sz="quarter" idx="5"/>
          </p:nvPr>
        </p:nvSpPr>
        <p:spPr/>
        <p:txBody>
          <a:bodyPr/>
          <a:lstStyle/>
          <a:p>
            <a:fld id="{7B898A01-842B-0042-9AB7-55364486B929}" type="slidenum">
              <a:rPr lang="en-US" smtClean="0"/>
              <a:pPr/>
              <a:t>20</a:t>
            </a:fld>
            <a:endParaRPr lang="en-US" dirty="0"/>
          </a:p>
        </p:txBody>
      </p:sp>
    </p:spTree>
    <p:extLst>
      <p:ext uri="{BB962C8B-B14F-4D97-AF65-F5344CB8AC3E}">
        <p14:creationId xmlns:p14="http://schemas.microsoft.com/office/powerpoint/2010/main" val="3312555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go-live and before CR, States should upload ORWs to their certification CR folder. They may also upload them to their State Submission folder, but we recommend waiting. This allows time to address any changes, or ingestion issues the Certification Team may identify before placing copies in the State Submission folder.</a:t>
            </a:r>
          </a:p>
          <a:p>
            <a:endParaRPr lang="en-US" dirty="0">
              <a:ea typeface="Calibri"/>
              <a:cs typeface="Calibri"/>
            </a:endParaRPr>
          </a:p>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23</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524676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For the CR, the following steps are completed:</a:t>
            </a:r>
          </a:p>
          <a:p>
            <a:pPr marL="0" indent="0">
              <a:buFont typeface="Arial" panose="020B0604020202020204" pitchFamily="34" charset="0"/>
              <a:buNone/>
            </a:pPr>
            <a:r>
              <a:rPr lang="en-US" dirty="0">
                <a:latin typeface="Aptos"/>
                <a:ea typeface="Calibri"/>
                <a:cs typeface="Calibri"/>
              </a:rPr>
              <a:t>1. Like the timeline for ORR, confirming the date requires completion of entry criteria and all files must be submitted 2 weeks prior to the confirmed date. </a:t>
            </a:r>
            <a:r>
              <a:rPr lang="en-US" dirty="0"/>
              <a:t>“All files” includes </a:t>
            </a:r>
            <a:r>
              <a:rPr lang="en-US" sz="1800" b="0" i="0" dirty="0">
                <a:solidFill>
                  <a:srgbClr val="000000"/>
                </a:solidFill>
                <a:effectLst/>
                <a:latin typeface="Times New Roman" panose="02020603050405020304" pitchFamily="18" charset="0"/>
              </a:rPr>
              <a:t>Evidence, Required Artifacts, SMC Intake Form, Operational Report Workbook (ORW), Agenda, Presentation</a:t>
            </a:r>
            <a:r>
              <a:rPr lang="en-US" sz="1800" b="0" i="0" u="none" dirty="0">
                <a:solidFill>
                  <a:srgbClr val="D13438"/>
                </a:solidFill>
                <a:effectLst/>
                <a:latin typeface="Times New Roman" panose="02020603050405020304" pitchFamily="18" charset="0"/>
              </a:rPr>
              <a:t>. </a:t>
            </a:r>
          </a:p>
          <a:p>
            <a:pPr marL="628650" lvl="1" indent="-171450">
              <a:buFont typeface="Arial" panose="020B0604020202020204" pitchFamily="34" charset="0"/>
              <a:buChar char="•"/>
            </a:pPr>
            <a:r>
              <a:rPr lang="en-US" b="0" i="0" dirty="0">
                <a:solidFill>
                  <a:srgbClr val="000000"/>
                </a:solidFill>
                <a:effectLst/>
                <a:latin typeface="Times New Roman" panose="02020603050405020304" pitchFamily="18" charset="0"/>
              </a:rPr>
              <a:t>It is important to distinguish between required artifacts and evidence. Evidence is documentation or data that proves the achievement of an outcome, as listed in the SMC Intake Form on the Outcomes and Metrics tab. Required Artifacts, on the other hand, are documents that demonstrate the progression of a State’s project and are not typically used as evidence for outcomes.</a:t>
            </a:r>
            <a:endParaRPr lang="en-US" dirty="0"/>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2. Preferably, earlier but no later than two weeks before the CR, the State uploads all evidence, required artifacts, the Intake Form, Operational Report Workbook, the CR agenda, and the presentation in the appropriate CMS Box certification folders (see Using Box).</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	o The State notifies the CMS Certification Team when they have completed loading all documentation (no later than 2 weeks prior to the review date).</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	o The CMS Certification Team will then begin a review of the evidence and required artifacts.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3. Approximately one week prior to the review, an IRL will be sent to the State by the CMS Certification Team. This includes questions and feedback on the files uploaded to the CMS Box. Although providing written responses to these questions before the review is encouraged to streamline the review, it is not mandatory. The State must be prepared to address all outstanding questions from the IRL during the review discussions and demonstrations.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4. The CR meeting is held, and action items are documented, reviewed, and agreed to.</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	o The demonstrations must be in the production environment (test data should not be entered).</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	o The State should try to respond to all action items as soon as possible, preferably within 24 hours.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228600" algn="l"/>
                <a:tab pos="742950" algn="l"/>
                <a:tab pos="742950" algn="l"/>
              </a:tabLst>
              <a:defRPr/>
            </a:pPr>
            <a:r>
              <a:rPr lang="en-US" dirty="0">
                <a:latin typeface="Aptos"/>
                <a:ea typeface="Calibri"/>
                <a:cs typeface="Calibri"/>
              </a:rPr>
              <a:t>5. After the CR, CMS Certification Team will review and enter comments into the SMC Intake Form and assemble the certification package. CMS will follow up with the State to discuss any necessary request for additional information. Once certification is approved, the State will receive the updated Intake Form, the certification report, and the certification decision letter from CMS.</a:t>
            </a:r>
          </a:p>
          <a:p>
            <a:endParaRPr lang="en-US" dirty="0"/>
          </a:p>
          <a:p>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24</a:t>
            </a:fld>
            <a:endParaRPr lang="en-US" dirty="0"/>
          </a:p>
        </p:txBody>
      </p:sp>
    </p:spTree>
    <p:extLst>
      <p:ext uri="{BB962C8B-B14F-4D97-AF65-F5344CB8AC3E}">
        <p14:creationId xmlns:p14="http://schemas.microsoft.com/office/powerpoint/2010/main" val="1285883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25</a:t>
            </a:fld>
            <a:endParaRPr lang="en-US" dirty="0"/>
          </a:p>
        </p:txBody>
      </p:sp>
    </p:spTree>
    <p:extLst>
      <p:ext uri="{BB962C8B-B14F-4D97-AF65-F5344CB8AC3E}">
        <p14:creationId xmlns:p14="http://schemas.microsoft.com/office/powerpoint/2010/main" val="2168753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3F10-5948-CA4C-E12B-8959DED40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9FACB-B165-9187-0BB2-05E0CAA62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17388-FB98-F87D-96D4-18F26F408C4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kern="100" dirty="0">
                <a:effectLst/>
                <a:latin typeface="Calibri" panose="020F0502020204030204" pitchFamily="34" charset="0"/>
                <a:ea typeface="Aptos" panose="020B0004020202020204" pitchFamily="34" charset="0"/>
                <a:cs typeface="Arial" panose="020B0604020202020204" pitchFamily="34" charset="0"/>
              </a:rPr>
              <a:t>All critical vulnerabilities should be resolved prior to scheduling a CR date.  However, States can request a date with unresolved critical items if a mitigation/remediation plan is submitted and </a:t>
            </a:r>
            <a:r>
              <a:rPr lang="en-US" sz="1800" b="1" kern="100" dirty="0">
                <a:solidFill>
                  <a:srgbClr val="FF0000"/>
                </a:solidFill>
                <a:effectLst/>
                <a:highlight>
                  <a:srgbClr val="FFFF00"/>
                </a:highlight>
                <a:latin typeface="Calibri" panose="020F0502020204030204" pitchFamily="34" charset="0"/>
                <a:ea typeface="Aptos" panose="020B0004020202020204" pitchFamily="34" charset="0"/>
                <a:cs typeface="Arial" panose="020B0604020202020204" pitchFamily="34" charset="0"/>
              </a:rPr>
              <a:t>approved by CMS</a:t>
            </a:r>
            <a:r>
              <a:rPr lang="en-US" sz="1800" kern="100" dirty="0">
                <a:effectLst/>
                <a:highlight>
                  <a:srgbClr val="FFFF00"/>
                </a:highlight>
                <a:latin typeface="Calibri" panose="020F0502020204030204" pitchFamily="34" charset="0"/>
                <a:ea typeface="Aptos" panose="020B0004020202020204" pitchFamily="34" charset="0"/>
                <a:cs typeface="Arial" panose="020B0604020202020204" pitchFamily="34" charset="0"/>
              </a:rPr>
              <a:t>, </a:t>
            </a:r>
            <a:r>
              <a:rPr lang="en-US" sz="1800" kern="100" dirty="0">
                <a:effectLst/>
                <a:latin typeface="Calibri" panose="020F0502020204030204" pitchFamily="34" charset="0"/>
                <a:ea typeface="Aptos" panose="020B0004020202020204" pitchFamily="34" charset="0"/>
                <a:cs typeface="Arial" panose="020B0604020202020204" pitchFamily="34" charset="0"/>
              </a:rPr>
              <a:t>using the recommended risk acceptance template, which can be found in Attachment D of CMS Information Security Plan of Action and Milestones (POA&amp;M) Procedure.</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a:extLst>
              <a:ext uri="{FF2B5EF4-FFF2-40B4-BE49-F238E27FC236}">
                <a16:creationId xmlns:a16="http://schemas.microsoft.com/office/drawing/2014/main" id="{0A0FA897-7DEE-08F3-8D76-4E3F32610332}"/>
              </a:ext>
            </a:extLst>
          </p:cNvPr>
          <p:cNvSpPr>
            <a:spLocks noGrp="1"/>
          </p:cNvSpPr>
          <p:nvPr>
            <p:ph type="hdr" sz="quarter"/>
          </p:nvPr>
        </p:nvSpPr>
        <p:spPr/>
        <p:txBody>
          <a:bodyPr/>
          <a:lstStyle/>
          <a:p>
            <a:endParaRPr lang="en-US" dirty="0"/>
          </a:p>
        </p:txBody>
      </p:sp>
      <p:sp>
        <p:nvSpPr>
          <p:cNvPr id="5" name="Slide Number Placeholder 4">
            <a:extLst>
              <a:ext uri="{FF2B5EF4-FFF2-40B4-BE49-F238E27FC236}">
                <a16:creationId xmlns:a16="http://schemas.microsoft.com/office/drawing/2014/main" id="{09E4F524-3B8A-D04A-8FCB-A0A046D015CF}"/>
              </a:ext>
            </a:extLst>
          </p:cNvPr>
          <p:cNvSpPr>
            <a:spLocks noGrp="1"/>
          </p:cNvSpPr>
          <p:nvPr>
            <p:ph type="sldNum" sz="quarter" idx="5"/>
          </p:nvPr>
        </p:nvSpPr>
        <p:spPr/>
        <p:txBody>
          <a:bodyPr/>
          <a:lstStyle/>
          <a:p>
            <a:fld id="{7B898A01-842B-0042-9AB7-55364486B929}" type="slidenum">
              <a:rPr lang="en-US" smtClean="0"/>
              <a:pPr/>
              <a:t>26</a:t>
            </a:fld>
            <a:endParaRPr lang="en-US" dirty="0"/>
          </a:p>
        </p:txBody>
      </p:sp>
    </p:spTree>
    <p:extLst>
      <p:ext uri="{BB962C8B-B14F-4D97-AF65-F5344CB8AC3E}">
        <p14:creationId xmlns:p14="http://schemas.microsoft.com/office/powerpoint/2010/main" val="18429376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5AB7-300E-AF53-413A-50243D912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6791D-7C1D-570A-AD59-017781926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368B2-33D1-89FD-93CE-87348C82C44E}"/>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Certification Request Letter FAQs from MES Certification Repository:</a:t>
            </a:r>
          </a:p>
          <a:p>
            <a:r>
              <a:rPr lang="en-US" sz="1200" b="1" i="0" kern="1200" dirty="0">
                <a:solidFill>
                  <a:schemeClr val="tx1"/>
                </a:solidFill>
                <a:effectLst/>
                <a:latin typeface="+mn-lt"/>
                <a:ea typeface="+mn-ea"/>
                <a:cs typeface="+mn-cs"/>
              </a:rPr>
              <a:t>Q: What date should the State put in the Certification Request Letter?</a:t>
            </a:r>
          </a:p>
          <a:p>
            <a:r>
              <a:rPr lang="en-US" sz="1200" b="0" i="0" kern="1200" dirty="0">
                <a:solidFill>
                  <a:schemeClr val="tx1"/>
                </a:solidFill>
                <a:effectLst/>
                <a:latin typeface="+mn-lt"/>
                <a:ea typeface="+mn-ea"/>
                <a:cs typeface="+mn-cs"/>
              </a:rPr>
              <a:t>A: The State should use the go-live date as the retroactive date in the Certification Request Letter, unless there was a system issue, then use the date the issue was resolved and include a brief description of the issue in the letter.</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Q: What is the retroactive date for claiming the 75% Federal Financial Participation (FFP) rate once a system is certified?</a:t>
            </a:r>
          </a:p>
          <a:p>
            <a:r>
              <a:rPr lang="en-US" sz="1200" b="0" i="0" kern="1200" dirty="0">
                <a:solidFill>
                  <a:schemeClr val="tx1"/>
                </a:solidFill>
                <a:effectLst/>
                <a:latin typeface="+mn-lt"/>
                <a:ea typeface="+mn-ea"/>
                <a:cs typeface="+mn-cs"/>
              </a:rPr>
              <a:t>A: Per 42 CFR 433.116(a), the 75% FFP rate begins retroactively on the first day of the calendar quarter following the system’s implementation date. For example, if a system goes live on February 1, 2025, and CMS approves certification back to that date, the State can claim the 75% FFP rate starting April 1, 2025.</a:t>
            </a:r>
          </a:p>
          <a:p>
            <a:r>
              <a:rPr lang="en-US" sz="1200" b="0" i="0" kern="1200" dirty="0">
                <a:solidFill>
                  <a:schemeClr val="tx1"/>
                </a:solidFill>
                <a:effectLst/>
                <a:latin typeface="+mn-lt"/>
                <a:ea typeface="+mn-ea"/>
                <a:cs typeface="+mn-cs"/>
              </a:rPr>
              <a:t>The enhanced DDI rate (90/10) applies up to the implementation (go-live) date.(February 1, 2025, in this example).</a:t>
            </a:r>
          </a:p>
          <a:p>
            <a:r>
              <a:rPr lang="en-US" sz="1200" b="0" i="0" kern="1200" dirty="0">
                <a:solidFill>
                  <a:schemeClr val="tx1"/>
                </a:solidFill>
                <a:effectLst/>
                <a:latin typeface="+mn-lt"/>
                <a:ea typeface="+mn-ea"/>
                <a:cs typeface="+mn-cs"/>
              </a:rPr>
              <a:t>After implementation, any months remaining in that calendar quarter are claimed at the 50% FFP rate (February-March 2025 in this example).</a:t>
            </a:r>
          </a:p>
          <a:p>
            <a:r>
              <a:rPr lang="en-US" sz="1200" b="0" i="0" kern="1200" dirty="0">
                <a:solidFill>
                  <a:schemeClr val="tx1"/>
                </a:solidFill>
                <a:effectLst/>
                <a:latin typeface="+mn-lt"/>
                <a:ea typeface="+mn-ea"/>
                <a:cs typeface="+mn-cs"/>
              </a:rPr>
              <a:t>The enhanced M&amp;O rate (75/25) starts on the first day of the calendar quarter following the retroactive certification approval date (April 1, 2025, in this example).</a:t>
            </a:r>
          </a:p>
          <a:p>
            <a:r>
              <a:rPr lang="en-US" sz="1200" b="0" i="0" kern="1200" dirty="0">
                <a:solidFill>
                  <a:schemeClr val="tx1"/>
                </a:solidFill>
                <a:effectLst/>
                <a:latin typeface="+mn-lt"/>
                <a:ea typeface="+mn-ea"/>
                <a:cs typeface="+mn-cs"/>
              </a:rPr>
              <a:t>States are encouraged to implement in the last month of a calendar quarter.</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a:extLst>
              <a:ext uri="{FF2B5EF4-FFF2-40B4-BE49-F238E27FC236}">
                <a16:creationId xmlns:a16="http://schemas.microsoft.com/office/drawing/2014/main" id="{0FF4CD36-5D87-737D-E27B-C46CFB21BA38}"/>
              </a:ext>
            </a:extLst>
          </p:cNvPr>
          <p:cNvSpPr>
            <a:spLocks noGrp="1"/>
          </p:cNvSpPr>
          <p:nvPr>
            <p:ph type="hdr" sz="quarter"/>
          </p:nvPr>
        </p:nvSpPr>
        <p:spPr/>
        <p:txBody>
          <a:bodyPr/>
          <a:lstStyle/>
          <a:p>
            <a:endParaRPr lang="en-US" dirty="0"/>
          </a:p>
        </p:txBody>
      </p:sp>
      <p:sp>
        <p:nvSpPr>
          <p:cNvPr id="5" name="Slide Number Placeholder 4">
            <a:extLst>
              <a:ext uri="{FF2B5EF4-FFF2-40B4-BE49-F238E27FC236}">
                <a16:creationId xmlns:a16="http://schemas.microsoft.com/office/drawing/2014/main" id="{FA473E43-CDBA-30F3-49F6-D9E597744C51}"/>
              </a:ext>
            </a:extLst>
          </p:cNvPr>
          <p:cNvSpPr>
            <a:spLocks noGrp="1"/>
          </p:cNvSpPr>
          <p:nvPr>
            <p:ph type="sldNum" sz="quarter" idx="5"/>
          </p:nvPr>
        </p:nvSpPr>
        <p:spPr/>
        <p:txBody>
          <a:bodyPr/>
          <a:lstStyle/>
          <a:p>
            <a:fld id="{7B898A01-842B-0042-9AB7-55364486B929}" type="slidenum">
              <a:rPr lang="en-US" smtClean="0"/>
              <a:pPr/>
              <a:t>27</a:t>
            </a:fld>
            <a:endParaRPr lang="en-US" dirty="0"/>
          </a:p>
        </p:txBody>
      </p:sp>
    </p:spTree>
    <p:extLst>
      <p:ext uri="{BB962C8B-B14F-4D97-AF65-F5344CB8AC3E}">
        <p14:creationId xmlns:p14="http://schemas.microsoft.com/office/powerpoint/2010/main" val="3822097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7905-CD5A-22C9-55F4-0CCB17AA7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4BEDE-61C6-0A7C-6B7F-F7013E1BB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A7F30-67CA-6FF9-131D-E74E9D3FB0D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“All files” includes </a:t>
            </a:r>
            <a:r>
              <a:rPr lang="en-US" sz="1200" b="0" i="0" dirty="0">
                <a:solidFill>
                  <a:srgbClr val="000000"/>
                </a:solidFill>
                <a:effectLst/>
                <a:latin typeface="Times New Roman" panose="02020603050405020304" pitchFamily="18" charset="0"/>
              </a:rPr>
              <a:t>Evidence, Required Artifacts, SMC Intake Form, Operational Report Workbook (ORW)-with values back to go-live, Agenda, Presentation</a:t>
            </a:r>
            <a:r>
              <a:rPr lang="en-US" sz="1200" b="0" i="0" u="none" dirty="0">
                <a:solidFill>
                  <a:srgbClr val="D13438"/>
                </a:solidFill>
                <a:effectLst/>
                <a:latin typeface="Times New Roman" panose="02020603050405020304" pitchFamily="18" charset="0"/>
              </a:rPr>
              <a:t>.</a:t>
            </a:r>
            <a:endParaRPr lang="en-US" u="none" dirty="0"/>
          </a:p>
          <a:p>
            <a:endParaRPr lang="en-US" dirty="0"/>
          </a:p>
        </p:txBody>
      </p:sp>
      <p:sp>
        <p:nvSpPr>
          <p:cNvPr id="4" name="Slide Number Placeholder 3">
            <a:extLst>
              <a:ext uri="{FF2B5EF4-FFF2-40B4-BE49-F238E27FC236}">
                <a16:creationId xmlns:a16="http://schemas.microsoft.com/office/drawing/2014/main" id="{0C61E49F-2861-C32B-0B72-7B75AA947FA6}"/>
              </a:ext>
            </a:extLst>
          </p:cNvPr>
          <p:cNvSpPr>
            <a:spLocks noGrp="1"/>
          </p:cNvSpPr>
          <p:nvPr>
            <p:ph type="sldNum" sz="quarter" idx="10"/>
          </p:nvPr>
        </p:nvSpPr>
        <p:spPr/>
        <p:txBody>
          <a:bodyPr/>
          <a:lstStyle/>
          <a:p>
            <a:fld id="{2C49E191-9C6F-4970-9FE5-B50C04C703A9}" type="slidenum">
              <a:rPr lang="en-US" smtClean="0"/>
              <a:t>28</a:t>
            </a:fld>
            <a:endParaRPr lang="en-US" dirty="0"/>
          </a:p>
        </p:txBody>
      </p:sp>
      <p:sp>
        <p:nvSpPr>
          <p:cNvPr id="5" name="Header Placeholder 4">
            <a:extLst>
              <a:ext uri="{FF2B5EF4-FFF2-40B4-BE49-F238E27FC236}">
                <a16:creationId xmlns:a16="http://schemas.microsoft.com/office/drawing/2014/main" id="{C4C77A92-E27E-C44E-B708-17776EF54691}"/>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947338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effectLst/>
                <a:latin typeface="Segoe UI" panose="020B0502040204020203" pitchFamily="34" charset="0"/>
              </a:rPr>
              <a:t>CMS Certification Team will send the sample agenda templates after the call as requested. States should stick to the structure as best possible but will have some flexibility to update where needed and can put in their own template if desired.</a:t>
            </a:r>
            <a:endParaRPr lang="en-US" dirty="0">
              <a:solidFill>
                <a:srgbClr val="3F3F3F"/>
              </a:solidFill>
              <a:effectLst/>
              <a:latin typeface="Helvetica" pitchFamily="2"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solidFill>
                <a:srgbClr val="3F3F3F"/>
              </a:solidFill>
              <a:effectLst/>
              <a:latin typeface="Helvetica" pitchFamily="2" charset="0"/>
            </a:endParaRPr>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7B898A01-842B-0042-9AB7-55364486B929}" type="slidenum">
              <a:rPr lang="en-US" smtClean="0"/>
              <a:pPr/>
              <a:t>29</a:t>
            </a:fld>
            <a:endParaRPr lang="en-US" dirty="0"/>
          </a:p>
        </p:txBody>
      </p:sp>
    </p:spTree>
    <p:extLst>
      <p:ext uri="{BB962C8B-B14F-4D97-AF65-F5344CB8AC3E}">
        <p14:creationId xmlns:p14="http://schemas.microsoft.com/office/powerpoint/2010/main" val="17973814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31</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414864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49E191-9C6F-4970-9FE5-B50C04C703A9}" type="slidenum">
              <a:rPr lang="en-US" smtClean="0"/>
              <a:t>32</a:t>
            </a:fld>
            <a:endParaRPr lang="en-US" dirty="0"/>
          </a:p>
        </p:txBody>
      </p:sp>
      <p:sp>
        <p:nvSpPr>
          <p:cNvPr id="5" name="Header Placeholder 4">
            <a:extLst>
              <a:ext uri="{FF2B5EF4-FFF2-40B4-BE49-F238E27FC236}">
                <a16:creationId xmlns:a16="http://schemas.microsoft.com/office/drawing/2014/main" id="{4DE38904-5BE9-4C11-A235-51D62AB686BC}"/>
              </a:ext>
            </a:extLst>
          </p:cNvPr>
          <p:cNvSpPr>
            <a:spLocks noGrp="1"/>
          </p:cNvSpPr>
          <p:nvPr>
            <p:ph type="hdr" sz="quarter"/>
          </p:nvPr>
        </p:nvSpPr>
        <p:spPr/>
        <p:txBody>
          <a:bodyPr/>
          <a:lstStyle/>
          <a:p>
            <a:endParaRPr lang="en-US" dirty="0"/>
          </a:p>
        </p:txBody>
      </p:sp>
    </p:spTree>
    <p:extLst>
      <p:ext uri="{BB962C8B-B14F-4D97-AF65-F5344CB8AC3E}">
        <p14:creationId xmlns:p14="http://schemas.microsoft.com/office/powerpoint/2010/main" val="2598068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2874" y="2083917"/>
            <a:ext cx="8979343" cy="2250988"/>
          </a:xfrm>
        </p:spPr>
        <p:txBody>
          <a:bodyPr/>
          <a:lstStyle/>
          <a:p>
            <a:r>
              <a:rPr lang="en-US"/>
              <a:t>Click to edit Master title style</a:t>
            </a:r>
          </a:p>
        </p:txBody>
      </p:sp>
      <p:sp>
        <p:nvSpPr>
          <p:cNvPr id="3" name="Date Placeholder 2">
            <a:extLst>
              <a:ext uri="{FF2B5EF4-FFF2-40B4-BE49-F238E27FC236}">
                <a16:creationId xmlns:a16="http://schemas.microsoft.com/office/drawing/2014/main" id="{F452C891-92AF-BF4E-A5DF-B48ABFD01EB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AE29D08-DEE4-2440-96CD-2A553FD7EF7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8EC4B84-457D-5A43-AE00-4E8DDDEE0E9F}"/>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9" name="Text Placeholder 8">
            <a:extLst>
              <a:ext uri="{FF2B5EF4-FFF2-40B4-BE49-F238E27FC236}">
                <a16:creationId xmlns:a16="http://schemas.microsoft.com/office/drawing/2014/main" id="{4C986063-5590-2540-AD01-371777DB5AE9}"/>
              </a:ext>
            </a:extLst>
          </p:cNvPr>
          <p:cNvSpPr>
            <a:spLocks noGrp="1"/>
          </p:cNvSpPr>
          <p:nvPr>
            <p:ph type="body" sz="quarter" idx="13" hasCustomPrompt="1"/>
          </p:nvPr>
        </p:nvSpPr>
        <p:spPr>
          <a:xfrm>
            <a:off x="832874" y="4563340"/>
            <a:ext cx="8979343" cy="838200"/>
          </a:xfrm>
          <a:prstGeom prst="rect">
            <a:avLst/>
          </a:prstGeom>
        </p:spPr>
        <p:txBody>
          <a:bodyPr/>
          <a:lstStyle>
            <a:lvl1pPr marL="0" indent="0">
              <a:buNone/>
              <a:defRPr>
                <a:solidFill>
                  <a:schemeClr val="bg1"/>
                </a:solidFill>
              </a:defRPr>
            </a:lvl1pPr>
            <a:lvl2pPr marL="457189" indent="0">
              <a:buNone/>
              <a:defRPr>
                <a:solidFill>
                  <a:schemeClr val="bg1"/>
                </a:solidFill>
              </a:defRPr>
            </a:lvl2pPr>
            <a:lvl3pPr marL="914377" indent="0">
              <a:buNone/>
              <a:defRPr>
                <a:solidFill>
                  <a:schemeClr val="bg1"/>
                </a:solidFill>
              </a:defRPr>
            </a:lvl3pPr>
            <a:lvl4pPr marL="1371566" indent="0">
              <a:buNone/>
              <a:defRPr>
                <a:solidFill>
                  <a:schemeClr val="bg1"/>
                </a:solidFill>
              </a:defRPr>
            </a:lvl4pPr>
            <a:lvl5pPr marL="1828754" indent="0">
              <a:buNone/>
              <a:defRPr>
                <a:solidFill>
                  <a:schemeClr val="bg1"/>
                </a:solidFill>
              </a:defRPr>
            </a:lvl5pPr>
          </a:lstStyle>
          <a:p>
            <a:pPr lvl="0"/>
            <a:r>
              <a:rPr lang="en-US"/>
              <a:t>Subtitle</a:t>
            </a:r>
          </a:p>
        </p:txBody>
      </p:sp>
    </p:spTree>
    <p:extLst>
      <p:ext uri="{BB962C8B-B14F-4D97-AF65-F5344CB8AC3E}">
        <p14:creationId xmlns:p14="http://schemas.microsoft.com/office/powerpoint/2010/main" val="3994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9" name="Rectangle 8"/>
          <p:cNvSpPr/>
          <p:nvPr userDrawn="1"/>
        </p:nvSpPr>
        <p:spPr>
          <a:xfrm>
            <a:off x="0" y="5489576"/>
            <a:ext cx="12192000" cy="1368425"/>
          </a:xfrm>
          <a:prstGeom prst="rect">
            <a:avLst/>
          </a:prstGeom>
          <a:solidFill>
            <a:srgbClr val="00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2" name="Title 1"/>
          <p:cNvSpPr>
            <a:spLocks noGrp="1"/>
          </p:cNvSpPr>
          <p:nvPr>
            <p:ph type="ctrTitle" hasCustomPrompt="1"/>
          </p:nvPr>
        </p:nvSpPr>
        <p:spPr>
          <a:xfrm>
            <a:off x="928255" y="441383"/>
            <a:ext cx="9144000" cy="745048"/>
          </a:xfrm>
        </p:spPr>
        <p:txBody>
          <a:bodyPr anchor="b"/>
          <a:lstStyle>
            <a:lvl1pPr algn="l">
              <a:defRPr sz="5000">
                <a:solidFill>
                  <a:srgbClr val="004986"/>
                </a:solidFill>
              </a:defRPr>
            </a:lvl1pPr>
          </a:lstStyle>
          <a:p>
            <a:r>
              <a:rPr lang="en-US"/>
              <a:t>Click to edit master title style</a:t>
            </a:r>
          </a:p>
        </p:txBody>
      </p:sp>
      <p:sp>
        <p:nvSpPr>
          <p:cNvPr id="8" name="Text Placeholder 10"/>
          <p:cNvSpPr>
            <a:spLocks noGrp="1"/>
          </p:cNvSpPr>
          <p:nvPr>
            <p:ph type="body" sz="quarter" idx="10"/>
          </p:nvPr>
        </p:nvSpPr>
        <p:spPr>
          <a:xfrm>
            <a:off x="928255" y="1313847"/>
            <a:ext cx="9144000" cy="3922296"/>
          </a:xfrm>
          <a:prstGeom prst="rect">
            <a:avLst/>
          </a:prstGeom>
        </p:spPr>
        <p:txBody>
          <a:bodyPr/>
          <a:lstStyle>
            <a:lvl1pPr>
              <a:defRPr b="0" i="0">
                <a:solidFill>
                  <a:schemeClr val="tx1"/>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a:p>
            <a:pPr lvl="1"/>
            <a:r>
              <a:rPr lang="en-US" err="1"/>
              <a:t>nmn</a:t>
            </a:r>
            <a:endParaRPr lang="en-US"/>
          </a:p>
        </p:txBody>
      </p:sp>
      <p:pic>
        <p:nvPicPr>
          <p:cNvPr id="6" name="Picture 5" descr="Centers for Medicare &amp; Medicaid Services"/>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096501" y="5871337"/>
            <a:ext cx="1841500" cy="640843"/>
          </a:xfrm>
          <a:prstGeom prst="rect">
            <a:avLst/>
          </a:prstGeom>
        </p:spPr>
      </p:pic>
      <p:sp>
        <p:nvSpPr>
          <p:cNvPr id="13" name="Slide Number Placeholder 11">
            <a:extLst>
              <a:ext uri="{FF2B5EF4-FFF2-40B4-BE49-F238E27FC236}">
                <a16:creationId xmlns:a16="http://schemas.microsoft.com/office/drawing/2014/main" id="{08C1CF7C-DA1A-9048-96D3-65FAA26B0560}"/>
              </a:ext>
            </a:extLst>
          </p:cNvPr>
          <p:cNvSpPr txBox="1">
            <a:spLocks/>
          </p:cNvSpPr>
          <p:nvPr userDrawn="1"/>
        </p:nvSpPr>
        <p:spPr>
          <a:xfrm>
            <a:off x="11684000" y="8678334"/>
            <a:ext cx="3657600" cy="486833"/>
          </a:xfrm>
          <a:prstGeom prst="rect">
            <a:avLst/>
          </a:prstGeom>
        </p:spPr>
        <p:txBody>
          <a:bodyPr/>
          <a:lstStyle>
            <a:defPPr>
              <a:defRPr lang="en-US"/>
            </a:defPPr>
            <a:lvl1pPr marL="0" algn="r" defTabSz="685800" rtl="0" eaLnBrk="1" latinLnBrk="0" hangingPunct="1">
              <a:defRPr sz="1350" kern="1200">
                <a:solidFill>
                  <a:schemeClr val="bg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A8293F48-28FC-5446-B693-64BAD680F382}" type="slidenum">
              <a:rPr lang="en-US" sz="1800" smtClean="0"/>
              <a:pPr/>
              <a:t>‹#›</a:t>
            </a:fld>
            <a:endParaRPr lang="en-US" sz="1800" dirty="0"/>
          </a:p>
        </p:txBody>
      </p:sp>
      <p:sp>
        <p:nvSpPr>
          <p:cNvPr id="21" name="Slide Number Placeholder 11">
            <a:extLst>
              <a:ext uri="{FF2B5EF4-FFF2-40B4-BE49-F238E27FC236}">
                <a16:creationId xmlns:a16="http://schemas.microsoft.com/office/drawing/2014/main" id="{4CFDC215-D833-8540-8BFB-0127BAA005AC}"/>
              </a:ext>
            </a:extLst>
          </p:cNvPr>
          <p:cNvSpPr txBox="1">
            <a:spLocks/>
          </p:cNvSpPr>
          <p:nvPr userDrawn="1"/>
        </p:nvSpPr>
        <p:spPr>
          <a:xfrm>
            <a:off x="11887200" y="8881534"/>
            <a:ext cx="3657600" cy="486833"/>
          </a:xfrm>
          <a:prstGeom prst="rect">
            <a:avLst/>
          </a:prstGeom>
        </p:spPr>
        <p:txBody>
          <a:bodyPr/>
          <a:lstStyle>
            <a:defPPr>
              <a:defRPr lang="en-US"/>
            </a:defPPr>
            <a:lvl1pPr marL="0" algn="r" defTabSz="685800" rtl="0" eaLnBrk="1" latinLnBrk="0" hangingPunct="1">
              <a:defRPr sz="1350" kern="1200">
                <a:solidFill>
                  <a:schemeClr val="bg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A8293F48-28FC-5446-B693-64BAD680F382}" type="slidenum">
              <a:rPr lang="en-US" sz="1800" smtClean="0"/>
              <a:pPr/>
              <a:t>‹#›</a:t>
            </a:fld>
            <a:endParaRPr lang="en-US" sz="1800" dirty="0"/>
          </a:p>
        </p:txBody>
      </p:sp>
      <p:sp>
        <p:nvSpPr>
          <p:cNvPr id="23" name="Slide Number Placeholder 11">
            <a:extLst>
              <a:ext uri="{FF2B5EF4-FFF2-40B4-BE49-F238E27FC236}">
                <a16:creationId xmlns:a16="http://schemas.microsoft.com/office/drawing/2014/main" id="{832E31FA-E8D8-7C45-B8FD-B59CA11ECBD5}"/>
              </a:ext>
            </a:extLst>
          </p:cNvPr>
          <p:cNvSpPr txBox="1">
            <a:spLocks/>
          </p:cNvSpPr>
          <p:nvPr userDrawn="1"/>
        </p:nvSpPr>
        <p:spPr>
          <a:xfrm>
            <a:off x="12090400" y="9084734"/>
            <a:ext cx="3657600" cy="486833"/>
          </a:xfrm>
          <a:prstGeom prst="rect">
            <a:avLst/>
          </a:prstGeom>
        </p:spPr>
        <p:txBody>
          <a:bodyPr/>
          <a:lstStyle>
            <a:defPPr>
              <a:defRPr lang="en-US"/>
            </a:defPPr>
            <a:lvl1pPr marL="0" algn="r" defTabSz="685800" rtl="0" eaLnBrk="1" latinLnBrk="0" hangingPunct="1">
              <a:defRPr sz="1350" kern="1200">
                <a:solidFill>
                  <a:schemeClr val="bg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A8293F48-28FC-5446-B693-64BAD680F382}" type="slidenum">
              <a:rPr lang="en-US" sz="1800" smtClean="0"/>
              <a:pPr/>
              <a:t>‹#›</a:t>
            </a:fld>
            <a:endParaRPr lang="en-US" sz="1800" dirty="0"/>
          </a:p>
        </p:txBody>
      </p:sp>
      <p:sp>
        <p:nvSpPr>
          <p:cNvPr id="25" name="Footer Placeholder 10">
            <a:extLst>
              <a:ext uri="{FF2B5EF4-FFF2-40B4-BE49-F238E27FC236}">
                <a16:creationId xmlns:a16="http://schemas.microsoft.com/office/drawing/2014/main" id="{14E83814-5EA9-C949-932B-64096ABC107C}"/>
              </a:ext>
            </a:extLst>
          </p:cNvPr>
          <p:cNvSpPr>
            <a:spLocks noGrp="1"/>
          </p:cNvSpPr>
          <p:nvPr/>
        </p:nvSpPr>
        <p:spPr>
          <a:xfrm>
            <a:off x="4777339" y="6025348"/>
            <a:ext cx="5486400" cy="486833"/>
          </a:xfrm>
          <a:prstGeom prst="rect">
            <a:avLst/>
          </a:prstGeom>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sz="2400" dirty="0"/>
          </a:p>
        </p:txBody>
      </p:sp>
      <p:sp>
        <p:nvSpPr>
          <p:cNvPr id="27" name="Date Placeholder 3">
            <a:extLst>
              <a:ext uri="{FF2B5EF4-FFF2-40B4-BE49-F238E27FC236}">
                <a16:creationId xmlns:a16="http://schemas.microsoft.com/office/drawing/2014/main" id="{6154B9DD-26C6-7D40-9996-2C42CA136E00}"/>
              </a:ext>
            </a:extLst>
          </p:cNvPr>
          <p:cNvSpPr>
            <a:spLocks noGrp="1"/>
          </p:cNvSpPr>
          <p:nvPr>
            <p:ph type="dt" sz="half" idx="11"/>
          </p:nvPr>
        </p:nvSpPr>
        <p:spPr>
          <a:xfrm>
            <a:off x="838200" y="6356351"/>
            <a:ext cx="2743200" cy="365125"/>
          </a:xfrm>
          <a:prstGeom prst="rect">
            <a:avLst/>
          </a:prstGeom>
        </p:spPr>
        <p:txBody>
          <a:bodyPr/>
          <a:lstStyle/>
          <a:p>
            <a:endParaRPr lang="en-US" dirty="0"/>
          </a:p>
        </p:txBody>
      </p:sp>
      <p:sp>
        <p:nvSpPr>
          <p:cNvPr id="28" name="Footer Placeholder 4">
            <a:extLst>
              <a:ext uri="{FF2B5EF4-FFF2-40B4-BE49-F238E27FC236}">
                <a16:creationId xmlns:a16="http://schemas.microsoft.com/office/drawing/2014/main" id="{F7A32B59-52F2-1D4E-8130-7FC2452037F0}"/>
              </a:ext>
            </a:extLst>
          </p:cNvPr>
          <p:cNvSpPr>
            <a:spLocks noGrp="1"/>
          </p:cNvSpPr>
          <p:nvPr>
            <p:ph type="ftr" sz="quarter" idx="12"/>
          </p:nvPr>
        </p:nvSpPr>
        <p:spPr>
          <a:xfrm>
            <a:off x="4038600" y="6356351"/>
            <a:ext cx="4114800" cy="365125"/>
          </a:xfrm>
          <a:prstGeom prst="rect">
            <a:avLst/>
          </a:prstGeom>
        </p:spPr>
        <p:txBody>
          <a:bodyPr/>
          <a:lstStyle/>
          <a:p>
            <a:endParaRPr lang="en-US" dirty="0"/>
          </a:p>
        </p:txBody>
      </p:sp>
      <p:sp>
        <p:nvSpPr>
          <p:cNvPr id="16" name="Slide Number Placeholder 5">
            <a:extLst>
              <a:ext uri="{FF2B5EF4-FFF2-40B4-BE49-F238E27FC236}">
                <a16:creationId xmlns:a16="http://schemas.microsoft.com/office/drawing/2014/main" id="{1F38A660-4B4B-094A-A964-F0000BC79708}"/>
              </a:ext>
            </a:extLst>
          </p:cNvPr>
          <p:cNvSpPr>
            <a:spLocks noGrp="1"/>
          </p:cNvSpPr>
          <p:nvPr>
            <p:ph type="sldNum" sz="quarter" idx="4"/>
          </p:nvPr>
        </p:nvSpPr>
        <p:spPr>
          <a:xfrm>
            <a:off x="9637486" y="6356351"/>
            <a:ext cx="459015" cy="365125"/>
          </a:xfrm>
          <a:prstGeom prst="rect">
            <a:avLst/>
          </a:prstGeom>
        </p:spPr>
        <p:txBody>
          <a:bodyPr vert="horz" lIns="91440" tIns="45720" rIns="91440" bIns="45720" rtlCol="0" anchor="ctr"/>
          <a:lstStyle>
            <a:lvl1pPr algn="l">
              <a:defRPr sz="1200">
                <a:solidFill>
                  <a:schemeClr val="bg1"/>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6763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9" name="Rectangle 8"/>
          <p:cNvSpPr/>
          <p:nvPr userDrawn="1"/>
        </p:nvSpPr>
        <p:spPr>
          <a:xfrm>
            <a:off x="0" y="5507182"/>
            <a:ext cx="12192000" cy="1368425"/>
          </a:xfrm>
          <a:prstGeom prst="rect">
            <a:avLst/>
          </a:prstGeom>
          <a:solidFill>
            <a:srgbClr val="00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2" name="Title 1"/>
          <p:cNvSpPr>
            <a:spLocks noGrp="1"/>
          </p:cNvSpPr>
          <p:nvPr>
            <p:ph type="ctrTitle" hasCustomPrompt="1"/>
          </p:nvPr>
        </p:nvSpPr>
        <p:spPr>
          <a:xfrm>
            <a:off x="928255" y="441383"/>
            <a:ext cx="9877859" cy="745048"/>
          </a:xfrm>
        </p:spPr>
        <p:txBody>
          <a:bodyPr anchor="b"/>
          <a:lstStyle>
            <a:lvl1pPr algn="l">
              <a:defRPr sz="5000">
                <a:solidFill>
                  <a:srgbClr val="004986"/>
                </a:solidFill>
              </a:defRPr>
            </a:lvl1pPr>
          </a:lstStyle>
          <a:p>
            <a:r>
              <a:rPr lang="en-US"/>
              <a:t>Click to edit master 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096501" y="5871337"/>
            <a:ext cx="1841500" cy="640843"/>
          </a:xfrm>
          <a:prstGeom prst="rect">
            <a:avLst/>
          </a:prstGeom>
        </p:spPr>
      </p:pic>
      <p:sp>
        <p:nvSpPr>
          <p:cNvPr id="4" name="Table Placeholder 3">
            <a:extLst>
              <a:ext uri="{FF2B5EF4-FFF2-40B4-BE49-F238E27FC236}">
                <a16:creationId xmlns:a16="http://schemas.microsoft.com/office/drawing/2014/main" id="{04E1EECE-B442-2B40-AE12-01C2243E511D}"/>
              </a:ext>
            </a:extLst>
          </p:cNvPr>
          <p:cNvSpPr>
            <a:spLocks noGrp="1"/>
          </p:cNvSpPr>
          <p:nvPr>
            <p:ph type="tbl" sz="quarter" idx="10"/>
          </p:nvPr>
        </p:nvSpPr>
        <p:spPr>
          <a:xfrm>
            <a:off x="928689" y="1339851"/>
            <a:ext cx="9877425" cy="3824288"/>
          </a:xfrm>
          <a:prstGeom prst="rect">
            <a:avLst/>
          </a:prstGeom>
        </p:spPr>
        <p:txBody>
          <a:bodyPr/>
          <a:lstStyle/>
          <a:p>
            <a:endParaRPr lang="en-US" dirty="0"/>
          </a:p>
        </p:txBody>
      </p:sp>
      <p:sp>
        <p:nvSpPr>
          <p:cNvPr id="8" name="Footer Placeholder 10">
            <a:extLst>
              <a:ext uri="{FF2B5EF4-FFF2-40B4-BE49-F238E27FC236}">
                <a16:creationId xmlns:a16="http://schemas.microsoft.com/office/drawing/2014/main" id="{11BDECC5-A2D2-AF4C-AAA5-A3BCBDD7686C}"/>
              </a:ext>
            </a:extLst>
          </p:cNvPr>
          <p:cNvSpPr>
            <a:spLocks noGrp="1"/>
          </p:cNvSpPr>
          <p:nvPr userDrawn="1"/>
        </p:nvSpPr>
        <p:spPr>
          <a:xfrm>
            <a:off x="4777339" y="6025348"/>
            <a:ext cx="5486400" cy="486833"/>
          </a:xfrm>
          <a:prstGeom prst="rect">
            <a:avLst/>
          </a:prstGeom>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sz="2400" dirty="0"/>
          </a:p>
        </p:txBody>
      </p:sp>
      <p:sp>
        <p:nvSpPr>
          <p:cNvPr id="11" name="Date Placeholder 3">
            <a:extLst>
              <a:ext uri="{FF2B5EF4-FFF2-40B4-BE49-F238E27FC236}">
                <a16:creationId xmlns:a16="http://schemas.microsoft.com/office/drawing/2014/main" id="{176CEDFF-6B9B-A741-BA79-C3C971A1CC67}"/>
              </a:ext>
            </a:extLst>
          </p:cNvPr>
          <p:cNvSpPr>
            <a:spLocks noGrp="1"/>
          </p:cNvSpPr>
          <p:nvPr>
            <p:ph type="dt" sz="half" idx="11"/>
          </p:nvPr>
        </p:nvSpPr>
        <p:spPr>
          <a:xfrm>
            <a:off x="838200" y="6356351"/>
            <a:ext cx="2743200" cy="365125"/>
          </a:xfrm>
          <a:prstGeom prst="rect">
            <a:avLst/>
          </a:prstGeom>
        </p:spPr>
        <p:txBody>
          <a:bodyPr/>
          <a:lstStyle/>
          <a:p>
            <a:endParaRPr lang="en-US" dirty="0"/>
          </a:p>
        </p:txBody>
      </p:sp>
      <p:sp>
        <p:nvSpPr>
          <p:cNvPr id="12" name="Footer Placeholder 4">
            <a:extLst>
              <a:ext uri="{FF2B5EF4-FFF2-40B4-BE49-F238E27FC236}">
                <a16:creationId xmlns:a16="http://schemas.microsoft.com/office/drawing/2014/main" id="{CEE5D163-1CF3-154C-BF7D-0CA5A4F4F1C3}"/>
              </a:ext>
            </a:extLst>
          </p:cNvPr>
          <p:cNvSpPr>
            <a:spLocks noGrp="1"/>
          </p:cNvSpPr>
          <p:nvPr>
            <p:ph type="ftr" sz="quarter" idx="12"/>
          </p:nvPr>
        </p:nvSpPr>
        <p:spPr>
          <a:xfrm>
            <a:off x="4038600" y="6356351"/>
            <a:ext cx="4114800" cy="365125"/>
          </a:xfrm>
          <a:prstGeom prst="rect">
            <a:avLst/>
          </a:prstGeom>
        </p:spPr>
        <p:txBody>
          <a:bodyPr/>
          <a:lstStyle/>
          <a:p>
            <a:endParaRPr lang="en-US" dirty="0"/>
          </a:p>
        </p:txBody>
      </p:sp>
      <p:sp>
        <p:nvSpPr>
          <p:cNvPr id="10" name="Slide Number Placeholder 5">
            <a:extLst>
              <a:ext uri="{FF2B5EF4-FFF2-40B4-BE49-F238E27FC236}">
                <a16:creationId xmlns:a16="http://schemas.microsoft.com/office/drawing/2014/main" id="{FE044AB7-FD65-C94B-BEC6-5EBBD51832E5}"/>
              </a:ext>
            </a:extLst>
          </p:cNvPr>
          <p:cNvSpPr>
            <a:spLocks noGrp="1"/>
          </p:cNvSpPr>
          <p:nvPr>
            <p:ph type="sldNum" sz="quarter" idx="4"/>
          </p:nvPr>
        </p:nvSpPr>
        <p:spPr>
          <a:xfrm>
            <a:off x="9637486" y="6356351"/>
            <a:ext cx="459015" cy="365125"/>
          </a:xfrm>
          <a:prstGeom prst="rect">
            <a:avLst/>
          </a:prstGeom>
        </p:spPr>
        <p:txBody>
          <a:bodyPr vert="horz" lIns="91440" tIns="45720" rIns="91440" bIns="45720" rtlCol="0" anchor="ctr"/>
          <a:lstStyle>
            <a:lvl1pPr algn="l">
              <a:defRPr sz="1200">
                <a:solidFill>
                  <a:schemeClr val="bg1"/>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88842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9" name="Rectangle 8"/>
          <p:cNvSpPr/>
          <p:nvPr userDrawn="1"/>
        </p:nvSpPr>
        <p:spPr>
          <a:xfrm>
            <a:off x="0" y="5507182"/>
            <a:ext cx="12192000" cy="1368425"/>
          </a:xfrm>
          <a:prstGeom prst="rect">
            <a:avLst/>
          </a:prstGeom>
          <a:solidFill>
            <a:srgbClr val="00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2" name="Title 1"/>
          <p:cNvSpPr>
            <a:spLocks noGrp="1"/>
          </p:cNvSpPr>
          <p:nvPr>
            <p:ph type="ctrTitle" hasCustomPrompt="1"/>
          </p:nvPr>
        </p:nvSpPr>
        <p:spPr>
          <a:xfrm>
            <a:off x="928255" y="441383"/>
            <a:ext cx="9877859" cy="745048"/>
          </a:xfrm>
        </p:spPr>
        <p:txBody>
          <a:bodyPr anchor="b"/>
          <a:lstStyle>
            <a:lvl1pPr algn="l">
              <a:defRPr sz="5000">
                <a:solidFill>
                  <a:srgbClr val="004986"/>
                </a:solidFill>
              </a:defRPr>
            </a:lvl1pPr>
          </a:lstStyle>
          <a:p>
            <a:r>
              <a:rPr lang="en-US"/>
              <a:t>Click to edit master 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096501" y="5871337"/>
            <a:ext cx="1841500" cy="640843"/>
          </a:xfrm>
          <a:prstGeom prst="rect">
            <a:avLst/>
          </a:prstGeom>
        </p:spPr>
      </p:pic>
      <p:sp>
        <p:nvSpPr>
          <p:cNvPr id="5" name="Picture Placeholder 4">
            <a:extLst>
              <a:ext uri="{FF2B5EF4-FFF2-40B4-BE49-F238E27FC236}">
                <a16:creationId xmlns:a16="http://schemas.microsoft.com/office/drawing/2014/main" id="{3D6ACE7E-5779-2749-A63F-69BA099D0957}"/>
              </a:ext>
            </a:extLst>
          </p:cNvPr>
          <p:cNvSpPr>
            <a:spLocks noGrp="1"/>
          </p:cNvSpPr>
          <p:nvPr>
            <p:ph type="pic" sz="quarter" idx="10"/>
          </p:nvPr>
        </p:nvSpPr>
        <p:spPr>
          <a:xfrm>
            <a:off x="929218" y="1309036"/>
            <a:ext cx="3369733" cy="4041897"/>
          </a:xfrm>
          <a:prstGeom prst="rect">
            <a:avLst/>
          </a:prstGeom>
        </p:spPr>
        <p:txBody>
          <a:bodyPr/>
          <a:lstStyle/>
          <a:p>
            <a:endParaRPr lang="en-US" dirty="0"/>
          </a:p>
        </p:txBody>
      </p:sp>
      <p:sp>
        <p:nvSpPr>
          <p:cNvPr id="8" name="Text Placeholder 7">
            <a:extLst>
              <a:ext uri="{FF2B5EF4-FFF2-40B4-BE49-F238E27FC236}">
                <a16:creationId xmlns:a16="http://schemas.microsoft.com/office/drawing/2014/main" id="{F2474F26-DC81-CE4A-9849-AD502DCD63CE}"/>
              </a:ext>
            </a:extLst>
          </p:cNvPr>
          <p:cNvSpPr>
            <a:spLocks noGrp="1"/>
          </p:cNvSpPr>
          <p:nvPr>
            <p:ph type="body" sz="quarter" idx="11"/>
          </p:nvPr>
        </p:nvSpPr>
        <p:spPr>
          <a:xfrm>
            <a:off x="4453467" y="1308101"/>
            <a:ext cx="6352117" cy="4042833"/>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10">
            <a:extLst>
              <a:ext uri="{FF2B5EF4-FFF2-40B4-BE49-F238E27FC236}">
                <a16:creationId xmlns:a16="http://schemas.microsoft.com/office/drawing/2014/main" id="{02DE0AC4-BCC0-7747-8E35-F754FCC287E2}"/>
              </a:ext>
            </a:extLst>
          </p:cNvPr>
          <p:cNvSpPr>
            <a:spLocks noGrp="1"/>
          </p:cNvSpPr>
          <p:nvPr userDrawn="1"/>
        </p:nvSpPr>
        <p:spPr>
          <a:xfrm>
            <a:off x="4777339" y="6025348"/>
            <a:ext cx="5486400" cy="486833"/>
          </a:xfrm>
          <a:prstGeom prst="rect">
            <a:avLst/>
          </a:prstGeom>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sz="2400" dirty="0"/>
          </a:p>
        </p:txBody>
      </p:sp>
      <p:sp>
        <p:nvSpPr>
          <p:cNvPr id="12" name="Date Placeholder 3">
            <a:extLst>
              <a:ext uri="{FF2B5EF4-FFF2-40B4-BE49-F238E27FC236}">
                <a16:creationId xmlns:a16="http://schemas.microsoft.com/office/drawing/2014/main" id="{96209D1D-CF5F-FA43-BB59-F1E677BAD40D}"/>
              </a:ext>
            </a:extLst>
          </p:cNvPr>
          <p:cNvSpPr>
            <a:spLocks noGrp="1"/>
          </p:cNvSpPr>
          <p:nvPr>
            <p:ph type="dt" sz="half" idx="12"/>
          </p:nvPr>
        </p:nvSpPr>
        <p:spPr>
          <a:xfrm>
            <a:off x="838200" y="6356351"/>
            <a:ext cx="2743200" cy="365125"/>
          </a:xfrm>
          <a:prstGeom prst="rect">
            <a:avLst/>
          </a:prstGeom>
        </p:spPr>
        <p:txBody>
          <a:bodyPr/>
          <a:lstStyle/>
          <a:p>
            <a:endParaRPr lang="en-US" dirty="0"/>
          </a:p>
        </p:txBody>
      </p:sp>
      <p:sp>
        <p:nvSpPr>
          <p:cNvPr id="13" name="Footer Placeholder 4">
            <a:extLst>
              <a:ext uri="{FF2B5EF4-FFF2-40B4-BE49-F238E27FC236}">
                <a16:creationId xmlns:a16="http://schemas.microsoft.com/office/drawing/2014/main" id="{CBBCAD72-2B27-1E4B-B3DB-432D006729DE}"/>
              </a:ext>
            </a:extLst>
          </p:cNvPr>
          <p:cNvSpPr>
            <a:spLocks noGrp="1"/>
          </p:cNvSpPr>
          <p:nvPr>
            <p:ph type="ftr" sz="quarter" idx="13"/>
          </p:nvPr>
        </p:nvSpPr>
        <p:spPr>
          <a:xfrm>
            <a:off x="4038600" y="6356351"/>
            <a:ext cx="4114800" cy="365125"/>
          </a:xfrm>
          <a:prstGeom prst="rect">
            <a:avLst/>
          </a:prstGeom>
        </p:spPr>
        <p:txBody>
          <a:bodyPr/>
          <a:lstStyle/>
          <a:p>
            <a:endParaRPr lang="en-US" dirty="0"/>
          </a:p>
        </p:txBody>
      </p:sp>
      <p:sp>
        <p:nvSpPr>
          <p:cNvPr id="11" name="Slide Number Placeholder 5">
            <a:extLst>
              <a:ext uri="{FF2B5EF4-FFF2-40B4-BE49-F238E27FC236}">
                <a16:creationId xmlns:a16="http://schemas.microsoft.com/office/drawing/2014/main" id="{9FCF8D2C-F720-E04C-8BAA-8E3D608222C5}"/>
              </a:ext>
            </a:extLst>
          </p:cNvPr>
          <p:cNvSpPr>
            <a:spLocks noGrp="1"/>
          </p:cNvSpPr>
          <p:nvPr>
            <p:ph type="sldNum" sz="quarter" idx="4"/>
          </p:nvPr>
        </p:nvSpPr>
        <p:spPr>
          <a:xfrm>
            <a:off x="9637486" y="6356351"/>
            <a:ext cx="459015" cy="365125"/>
          </a:xfrm>
          <a:prstGeom prst="rect">
            <a:avLst/>
          </a:prstGeom>
        </p:spPr>
        <p:txBody>
          <a:bodyPr vert="horz" lIns="91440" tIns="45720" rIns="91440" bIns="45720" rtlCol="0" anchor="ctr"/>
          <a:lstStyle>
            <a:lvl1pPr algn="l">
              <a:defRPr sz="1200">
                <a:solidFill>
                  <a:schemeClr val="bg1"/>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83036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1676EF-F33A-1E48-ADA3-10EB02AB248D}"/>
              </a:ext>
            </a:extLst>
          </p:cNvPr>
          <p:cNvSpPr/>
          <p:nvPr userDrawn="1"/>
        </p:nvSpPr>
        <p:spPr>
          <a:xfrm>
            <a:off x="0" y="5489576"/>
            <a:ext cx="12192000" cy="1368425"/>
          </a:xfrm>
          <a:prstGeom prst="rect">
            <a:avLst/>
          </a:prstGeom>
          <a:solidFill>
            <a:srgbClr val="00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5" name="Title 1">
            <a:extLst>
              <a:ext uri="{FF2B5EF4-FFF2-40B4-BE49-F238E27FC236}">
                <a16:creationId xmlns:a16="http://schemas.microsoft.com/office/drawing/2014/main" id="{A5E3CD19-AEDC-7741-947C-DFBB5338B2C5}"/>
              </a:ext>
            </a:extLst>
          </p:cNvPr>
          <p:cNvSpPr>
            <a:spLocks noGrp="1"/>
          </p:cNvSpPr>
          <p:nvPr>
            <p:ph type="title"/>
          </p:nvPr>
        </p:nvSpPr>
        <p:spPr>
          <a:xfrm>
            <a:off x="507733" y="405692"/>
            <a:ext cx="11024135" cy="826341"/>
          </a:xfrm>
        </p:spPr>
        <p:txBody>
          <a:bodyPr/>
          <a:lstStyle>
            <a:lvl1pPr algn="ctr">
              <a:defRPr sz="5000">
                <a:solidFill>
                  <a:srgbClr val="004986"/>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Content Placeholder 2">
            <a:extLst>
              <a:ext uri="{FF2B5EF4-FFF2-40B4-BE49-F238E27FC236}">
                <a16:creationId xmlns:a16="http://schemas.microsoft.com/office/drawing/2014/main" id="{798334F5-75B3-5A4B-B7CB-77E938310BDB}"/>
              </a:ext>
            </a:extLst>
          </p:cNvPr>
          <p:cNvSpPr>
            <a:spLocks noGrp="1"/>
          </p:cNvSpPr>
          <p:nvPr>
            <p:ph sz="half" idx="1"/>
          </p:nvPr>
        </p:nvSpPr>
        <p:spPr>
          <a:xfrm>
            <a:off x="838199" y="3380586"/>
            <a:ext cx="5181600" cy="1763169"/>
          </a:xfrm>
          <a:prstGeom prst="rect">
            <a:avLst/>
          </a:prstGeom>
        </p:spPr>
        <p:txBody>
          <a:bodyPr/>
          <a:lstStyle>
            <a:lvl1pPr>
              <a:defRPr>
                <a:solidFill>
                  <a:srgbClr val="004986"/>
                </a:solidFill>
                <a:latin typeface="Arial" panose="020B0604020202020204" pitchFamily="34" charset="0"/>
                <a:cs typeface="Arial" panose="020B0604020202020204" pitchFamily="34" charset="0"/>
              </a:defRPr>
            </a:lvl1pPr>
            <a:lvl2pPr>
              <a:defRPr>
                <a:solidFill>
                  <a:srgbClr val="004986"/>
                </a:solidFill>
                <a:latin typeface="Arial" panose="020B0604020202020204" pitchFamily="34" charset="0"/>
                <a:cs typeface="Arial" panose="020B0604020202020204" pitchFamily="34" charset="0"/>
              </a:defRPr>
            </a:lvl2pPr>
            <a:lvl3pPr>
              <a:defRPr>
                <a:solidFill>
                  <a:srgbClr val="004986"/>
                </a:solidFill>
                <a:latin typeface="Arial" panose="020B0604020202020204" pitchFamily="34" charset="0"/>
                <a:cs typeface="Arial" panose="020B0604020202020204" pitchFamily="34" charset="0"/>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7" name="Content Placeholder 3">
            <a:extLst>
              <a:ext uri="{FF2B5EF4-FFF2-40B4-BE49-F238E27FC236}">
                <a16:creationId xmlns:a16="http://schemas.microsoft.com/office/drawing/2014/main" id="{4331966A-C03F-3F4B-AF4A-B6FB15DB6C3D}"/>
              </a:ext>
            </a:extLst>
          </p:cNvPr>
          <p:cNvSpPr>
            <a:spLocks noGrp="1"/>
          </p:cNvSpPr>
          <p:nvPr>
            <p:ph sz="half" idx="2"/>
          </p:nvPr>
        </p:nvSpPr>
        <p:spPr>
          <a:xfrm>
            <a:off x="6172199" y="3367753"/>
            <a:ext cx="5181600" cy="1763169"/>
          </a:xfrm>
          <a:prstGeom prst="rect">
            <a:avLst/>
          </a:prstGeom>
        </p:spPr>
        <p:txBody>
          <a:bodyPr/>
          <a:lstStyle>
            <a:lvl1pPr>
              <a:defRPr>
                <a:solidFill>
                  <a:srgbClr val="004986"/>
                </a:solidFill>
                <a:latin typeface="Arial" panose="020B0604020202020204" pitchFamily="34" charset="0"/>
                <a:cs typeface="Arial" panose="020B0604020202020204" pitchFamily="34" charset="0"/>
              </a:defRPr>
            </a:lvl1pPr>
            <a:lvl2pPr>
              <a:defRPr>
                <a:solidFill>
                  <a:srgbClr val="004986"/>
                </a:solidFill>
                <a:latin typeface="Arial" panose="020B0604020202020204" pitchFamily="34" charset="0"/>
                <a:cs typeface="Arial" panose="020B0604020202020204" pitchFamily="34" charset="0"/>
              </a:defRPr>
            </a:lvl2pPr>
            <a:lvl3pPr>
              <a:defRPr>
                <a:solidFill>
                  <a:srgbClr val="004986"/>
                </a:solidFill>
                <a:latin typeface="Arial" panose="020B0604020202020204" pitchFamily="34" charset="0"/>
                <a:cs typeface="Arial" panose="020B0604020202020204" pitchFamily="34" charset="0"/>
              </a:defRPr>
            </a:lvl3pPr>
            <a:lvl4pPr marL="1371566" indent="0">
              <a:buNone/>
              <a:defRPr>
                <a:solidFill>
                  <a:schemeClr val="bg1"/>
                </a:solidFill>
              </a:defRPr>
            </a:lvl4pPr>
            <a:lvl5pPr marL="1828754" indent="0">
              <a:buNone/>
              <a:defRPr>
                <a:solidFill>
                  <a:schemeClr val="bg1"/>
                </a:solidFill>
              </a:defRPr>
            </a:lvl5pPr>
          </a:lstStyle>
          <a:p>
            <a:pPr lvl="0"/>
            <a:r>
              <a:rPr lang="en-US"/>
              <a:t>Edit Master text styles</a:t>
            </a:r>
          </a:p>
          <a:p>
            <a:pPr lvl="1"/>
            <a:r>
              <a:rPr lang="en-US"/>
              <a:t>Second level</a:t>
            </a:r>
          </a:p>
          <a:p>
            <a:pPr lvl="2"/>
            <a:r>
              <a:rPr lang="en-US"/>
              <a:t>Third level</a:t>
            </a:r>
          </a:p>
        </p:txBody>
      </p:sp>
      <p:pic>
        <p:nvPicPr>
          <p:cNvPr id="11" name="Picture 10">
            <a:extLst>
              <a:ext uri="{FF2B5EF4-FFF2-40B4-BE49-F238E27FC236}">
                <a16:creationId xmlns:a16="http://schemas.microsoft.com/office/drawing/2014/main" id="{90BDE079-92C4-7B41-BC32-39E89A79B68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096501" y="5871337"/>
            <a:ext cx="1841500" cy="640843"/>
          </a:xfrm>
          <a:prstGeom prst="rect">
            <a:avLst/>
          </a:prstGeom>
        </p:spPr>
      </p:pic>
      <p:sp>
        <p:nvSpPr>
          <p:cNvPr id="13" name="Footer Placeholder 10">
            <a:extLst>
              <a:ext uri="{FF2B5EF4-FFF2-40B4-BE49-F238E27FC236}">
                <a16:creationId xmlns:a16="http://schemas.microsoft.com/office/drawing/2014/main" id="{E4AD328F-F952-2D4B-87B2-A83F23F299C7}"/>
              </a:ext>
            </a:extLst>
          </p:cNvPr>
          <p:cNvSpPr>
            <a:spLocks noGrp="1"/>
          </p:cNvSpPr>
          <p:nvPr userDrawn="1"/>
        </p:nvSpPr>
        <p:spPr>
          <a:xfrm>
            <a:off x="4777339" y="6025348"/>
            <a:ext cx="5486400" cy="486833"/>
          </a:xfrm>
          <a:prstGeom prst="rect">
            <a:avLst/>
          </a:prstGeom>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sz="2400" dirty="0"/>
          </a:p>
        </p:txBody>
      </p:sp>
      <p:sp>
        <p:nvSpPr>
          <p:cNvPr id="15" name="Date Placeholder 3">
            <a:extLst>
              <a:ext uri="{FF2B5EF4-FFF2-40B4-BE49-F238E27FC236}">
                <a16:creationId xmlns:a16="http://schemas.microsoft.com/office/drawing/2014/main" id="{0481E62F-4C7C-D049-B79D-AD54B65664F7}"/>
              </a:ext>
            </a:extLst>
          </p:cNvPr>
          <p:cNvSpPr>
            <a:spLocks noGrp="1"/>
          </p:cNvSpPr>
          <p:nvPr>
            <p:ph type="dt" sz="half" idx="10"/>
          </p:nvPr>
        </p:nvSpPr>
        <p:spPr>
          <a:xfrm>
            <a:off x="838200" y="6356351"/>
            <a:ext cx="2743200" cy="365125"/>
          </a:xfrm>
          <a:prstGeom prst="rect">
            <a:avLst/>
          </a:prstGeom>
        </p:spPr>
        <p:txBody>
          <a:bodyPr/>
          <a:lstStyle/>
          <a:p>
            <a:endParaRPr lang="en-US" dirty="0"/>
          </a:p>
        </p:txBody>
      </p:sp>
      <p:sp>
        <p:nvSpPr>
          <p:cNvPr id="16" name="Footer Placeholder 4">
            <a:extLst>
              <a:ext uri="{FF2B5EF4-FFF2-40B4-BE49-F238E27FC236}">
                <a16:creationId xmlns:a16="http://schemas.microsoft.com/office/drawing/2014/main" id="{9A3ABA3C-DEAA-1048-8B34-6B8DA3D8CAE9}"/>
              </a:ext>
            </a:extLst>
          </p:cNvPr>
          <p:cNvSpPr>
            <a:spLocks noGrp="1"/>
          </p:cNvSpPr>
          <p:nvPr>
            <p:ph type="ftr" sz="quarter" idx="11"/>
          </p:nvPr>
        </p:nvSpPr>
        <p:spPr>
          <a:xfrm>
            <a:off x="4038600" y="6356351"/>
            <a:ext cx="4114800" cy="365125"/>
          </a:xfrm>
          <a:prstGeom prst="rect">
            <a:avLst/>
          </a:prstGeom>
        </p:spPr>
        <p:txBody>
          <a:bodyPr/>
          <a:lstStyle/>
          <a:p>
            <a:endParaRPr lang="en-US" dirty="0"/>
          </a:p>
        </p:txBody>
      </p:sp>
      <p:sp>
        <p:nvSpPr>
          <p:cNvPr id="14" name="Slide Number Placeholder 5">
            <a:extLst>
              <a:ext uri="{FF2B5EF4-FFF2-40B4-BE49-F238E27FC236}">
                <a16:creationId xmlns:a16="http://schemas.microsoft.com/office/drawing/2014/main" id="{E4B6C2BF-0C51-3540-A10F-8C6A3604104D}"/>
              </a:ext>
            </a:extLst>
          </p:cNvPr>
          <p:cNvSpPr>
            <a:spLocks noGrp="1"/>
          </p:cNvSpPr>
          <p:nvPr>
            <p:ph type="sldNum" sz="quarter" idx="4"/>
          </p:nvPr>
        </p:nvSpPr>
        <p:spPr>
          <a:xfrm>
            <a:off x="9637486" y="6356351"/>
            <a:ext cx="459015" cy="365125"/>
          </a:xfrm>
          <a:prstGeom prst="rect">
            <a:avLst/>
          </a:prstGeom>
        </p:spPr>
        <p:txBody>
          <a:bodyPr vert="horz" lIns="91440" tIns="45720" rIns="91440" bIns="45720" rtlCol="0" anchor="ctr"/>
          <a:lstStyle>
            <a:lvl1pPr algn="l">
              <a:defRPr sz="1200">
                <a:solidFill>
                  <a:schemeClr val="bg1"/>
                </a:solidFill>
              </a:defRPr>
            </a:lvl1pPr>
          </a:lstStyle>
          <a:p>
            <a:fld id="{48F63A3B-78C7-47BE-AE5E-E10140E04643}" type="slidenum">
              <a:rPr lang="en-US" smtClean="0"/>
              <a:pPr/>
              <a:t>‹#›</a:t>
            </a:fld>
            <a:endParaRPr lang="en-US" dirty="0"/>
          </a:p>
        </p:txBody>
      </p:sp>
      <p:sp>
        <p:nvSpPr>
          <p:cNvPr id="3" name="Picture Placeholder 2" descr="placeholder for picture">
            <a:extLst>
              <a:ext uri="{FF2B5EF4-FFF2-40B4-BE49-F238E27FC236}">
                <a16:creationId xmlns:a16="http://schemas.microsoft.com/office/drawing/2014/main" id="{B9B996F6-61A3-F44F-B07F-D3B7B411AB9B}"/>
              </a:ext>
            </a:extLst>
          </p:cNvPr>
          <p:cNvSpPr>
            <a:spLocks noGrp="1"/>
          </p:cNvSpPr>
          <p:nvPr>
            <p:ph type="pic" sz="quarter" idx="12"/>
          </p:nvPr>
        </p:nvSpPr>
        <p:spPr>
          <a:xfrm>
            <a:off x="2357589" y="1471931"/>
            <a:ext cx="1681012" cy="1655923"/>
          </a:xfrm>
          <a:prstGeom prst="ellipse">
            <a:avLst/>
          </a:prstGeom>
          <a:solidFill>
            <a:schemeClr val="tx2"/>
          </a:solidFill>
        </p:spPr>
        <p:txBody>
          <a:bodyPr/>
          <a:lstStyle>
            <a:lvl1pPr marL="0" indent="0" algn="ctr">
              <a:buNone/>
              <a:defRPr sz="1867">
                <a:solidFill>
                  <a:schemeClr val="bg1"/>
                </a:solidFill>
              </a:defRPr>
            </a:lvl1pPr>
          </a:lstStyle>
          <a:p>
            <a:endParaRPr lang="en-US" dirty="0"/>
          </a:p>
        </p:txBody>
      </p:sp>
      <p:sp>
        <p:nvSpPr>
          <p:cNvPr id="18" name="Picture Placeholder 2" descr="placeholder for picture">
            <a:extLst>
              <a:ext uri="{FF2B5EF4-FFF2-40B4-BE49-F238E27FC236}">
                <a16:creationId xmlns:a16="http://schemas.microsoft.com/office/drawing/2014/main" id="{14CBE3A2-61CF-2F4C-A9CC-D21D40F8120C}"/>
              </a:ext>
            </a:extLst>
          </p:cNvPr>
          <p:cNvSpPr>
            <a:spLocks noGrp="1"/>
          </p:cNvSpPr>
          <p:nvPr>
            <p:ph type="pic" sz="quarter" idx="13"/>
          </p:nvPr>
        </p:nvSpPr>
        <p:spPr>
          <a:xfrm>
            <a:off x="7542397" y="1471931"/>
            <a:ext cx="1681012" cy="1655923"/>
          </a:xfrm>
          <a:prstGeom prst="ellipse">
            <a:avLst/>
          </a:prstGeom>
          <a:solidFill>
            <a:schemeClr val="tx2"/>
          </a:solidFill>
        </p:spPr>
        <p:txBody>
          <a:bodyPr/>
          <a:lstStyle>
            <a:lvl1pPr marL="0" indent="0" algn="ctr">
              <a:buNone/>
              <a:defRPr lang="en-US" sz="1867" kern="1200" dirty="0">
                <a:solidFill>
                  <a:schemeClr val="bg1"/>
                </a:solidFill>
                <a:latin typeface="+mn-lt"/>
                <a:ea typeface="+mn-ea"/>
                <a:cs typeface="+mn-cs"/>
              </a:defRPr>
            </a:lvl1pPr>
          </a:lstStyle>
          <a:p>
            <a:endParaRPr lang="en-US" dirty="0"/>
          </a:p>
        </p:txBody>
      </p:sp>
    </p:spTree>
    <p:extLst>
      <p:ext uri="{BB962C8B-B14F-4D97-AF65-F5344CB8AC3E}">
        <p14:creationId xmlns:p14="http://schemas.microsoft.com/office/powerpoint/2010/main" val="1952547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96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EC46-A0DD-0745-8FEB-2DE2496889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E494EF-6CEF-3C42-B25D-B4F754AB76E4}"/>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2CEB070E-AE3F-E445-A69F-D9959764589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33A3F39-366C-1E4C-979E-320710962BB1}"/>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7" name="Content Placeholder 6">
            <a:extLst>
              <a:ext uri="{FF2B5EF4-FFF2-40B4-BE49-F238E27FC236}">
                <a16:creationId xmlns:a16="http://schemas.microsoft.com/office/drawing/2014/main" id="{0EB3F869-6FFA-D04F-9E0E-61AE949C2557}"/>
              </a:ext>
            </a:extLst>
          </p:cNvPr>
          <p:cNvSpPr>
            <a:spLocks noGrp="1"/>
          </p:cNvSpPr>
          <p:nvPr>
            <p:ph sz="quarter" idx="13"/>
          </p:nvPr>
        </p:nvSpPr>
        <p:spPr>
          <a:xfrm>
            <a:off x="838200" y="1877485"/>
            <a:ext cx="10515600" cy="327024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1104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26181" y="365125"/>
            <a:ext cx="11024135" cy="1325563"/>
          </a:xfrm>
        </p:spPr>
        <p:txBody>
          <a:bodyPr/>
          <a:lstStyle>
            <a:lvl1pPr algn="ctr">
              <a:defRPr>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838200" y="3619100"/>
            <a:ext cx="5181600" cy="17631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3606266"/>
            <a:ext cx="5181600" cy="1763169"/>
          </a:xfrm>
        </p:spPr>
        <p:txBody>
          <a:bodyPr/>
          <a:lstStyle>
            <a:lvl1pPr>
              <a:defRPr>
                <a:solidFill>
                  <a:schemeClr val="bg1"/>
                </a:solidFill>
              </a:defRPr>
            </a:lvl1pPr>
            <a:lvl2pPr>
              <a:defRPr>
                <a:solidFill>
                  <a:schemeClr val="bg1"/>
                </a:solidFill>
              </a:defRPr>
            </a:lvl2pPr>
            <a:lvl3pPr>
              <a:defRPr>
                <a:solidFill>
                  <a:schemeClr val="bg1"/>
                </a:solidFill>
              </a:defRPr>
            </a:lvl3pPr>
            <a:lvl4pPr marL="1371566" indent="0">
              <a:buNone/>
              <a:defRPr>
                <a:solidFill>
                  <a:schemeClr val="bg1"/>
                </a:solidFill>
              </a:defRPr>
            </a:lvl4pPr>
            <a:lvl5pPr marL="1828754" indent="0">
              <a:buNone/>
              <a:defRPr>
                <a:solidFill>
                  <a:schemeClr val="bg1"/>
                </a:solidFill>
              </a:defRPr>
            </a:lvl5pPr>
          </a:lstStyle>
          <a:p>
            <a:pPr lvl="0"/>
            <a:r>
              <a:rPr lang="en-US"/>
              <a:t>Edit Master text styles</a:t>
            </a:r>
          </a:p>
          <a:p>
            <a:pPr lvl="1"/>
            <a:r>
              <a:rPr lang="en-US"/>
              <a:t>Second level</a:t>
            </a:r>
          </a:p>
          <a:p>
            <a:pPr lvl="2"/>
            <a:r>
              <a:rPr lang="en-US"/>
              <a:t>Third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0" name="Picture Placeholder 2" descr="placeholder for picture">
            <a:extLst>
              <a:ext uri="{FF2B5EF4-FFF2-40B4-BE49-F238E27FC236}">
                <a16:creationId xmlns:a16="http://schemas.microsoft.com/office/drawing/2014/main" id="{04D8090E-F3F7-AD4D-9DE6-B2D94E4EE38B}"/>
              </a:ext>
            </a:extLst>
          </p:cNvPr>
          <p:cNvSpPr>
            <a:spLocks noGrp="1"/>
          </p:cNvSpPr>
          <p:nvPr>
            <p:ph type="pic" sz="quarter" idx="13"/>
          </p:nvPr>
        </p:nvSpPr>
        <p:spPr>
          <a:xfrm>
            <a:off x="2357589" y="1690688"/>
            <a:ext cx="1681012" cy="1655923"/>
          </a:xfrm>
          <a:prstGeom prst="ellipse">
            <a:avLst/>
          </a:prstGeom>
          <a:solidFill>
            <a:schemeClr val="tx2">
              <a:lumMod val="40000"/>
              <a:lumOff val="60000"/>
            </a:schemeClr>
          </a:solidFill>
        </p:spPr>
        <p:txBody>
          <a:bodyPr/>
          <a:lstStyle>
            <a:lvl1pPr marL="0" indent="0" algn="ctr">
              <a:buNone/>
              <a:defRPr sz="1867">
                <a:solidFill>
                  <a:schemeClr val="tx1"/>
                </a:solidFill>
              </a:defRPr>
            </a:lvl1pPr>
          </a:lstStyle>
          <a:p>
            <a:endParaRPr lang="en-US" dirty="0"/>
          </a:p>
        </p:txBody>
      </p:sp>
      <p:sp>
        <p:nvSpPr>
          <p:cNvPr id="11" name="Picture Placeholder 2" descr="placeholder for picture">
            <a:extLst>
              <a:ext uri="{FF2B5EF4-FFF2-40B4-BE49-F238E27FC236}">
                <a16:creationId xmlns:a16="http://schemas.microsoft.com/office/drawing/2014/main" id="{E1FD5D8C-1EFA-B54C-8A49-8D0CA136E03A}"/>
              </a:ext>
            </a:extLst>
          </p:cNvPr>
          <p:cNvSpPr>
            <a:spLocks noGrp="1"/>
          </p:cNvSpPr>
          <p:nvPr>
            <p:ph type="pic" sz="quarter" idx="14"/>
          </p:nvPr>
        </p:nvSpPr>
        <p:spPr>
          <a:xfrm>
            <a:off x="7542397" y="1690688"/>
            <a:ext cx="1681012" cy="1655923"/>
          </a:xfrm>
          <a:prstGeom prst="ellipse">
            <a:avLst/>
          </a:prstGeom>
          <a:solidFill>
            <a:schemeClr val="tx2">
              <a:lumMod val="40000"/>
              <a:lumOff val="60000"/>
            </a:schemeClr>
          </a:solidFill>
        </p:spPr>
        <p:txBody>
          <a:bodyPr/>
          <a:lstStyle>
            <a:lvl1pPr marL="0" indent="0" algn="ctr">
              <a:buNone/>
              <a:defRPr lang="en-US" sz="1867" kern="1200" dirty="0">
                <a:solidFill>
                  <a:schemeClr val="tx1"/>
                </a:solidFill>
                <a:latin typeface="+mn-lt"/>
                <a:ea typeface="+mn-ea"/>
                <a:cs typeface="+mn-cs"/>
              </a:defRPr>
            </a:lvl1pPr>
          </a:lstStyle>
          <a:p>
            <a:endParaRPr lang="en-US" dirty="0"/>
          </a:p>
        </p:txBody>
      </p:sp>
    </p:spTree>
    <p:extLst>
      <p:ext uri="{BB962C8B-B14F-4D97-AF65-F5344CB8AC3E}">
        <p14:creationId xmlns:p14="http://schemas.microsoft.com/office/powerpoint/2010/main" val="2891296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7" name="Date Placeholder 6">
            <a:extLst>
              <a:ext uri="{FF2B5EF4-FFF2-40B4-BE49-F238E27FC236}">
                <a16:creationId xmlns:a16="http://schemas.microsoft.com/office/drawing/2014/main" id="{76ADD679-68A7-A44E-B5D3-7C4E20DC1E7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96307B8E-7447-534B-8359-FD439709D0D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0462F6A-1CCE-5E41-97A1-999B0A7D54E9}"/>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368126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26181" y="365125"/>
            <a:ext cx="11024135" cy="1325563"/>
          </a:xfrm>
        </p:spPr>
        <p:txBody>
          <a:bodyPr/>
          <a:lstStyle>
            <a:lvl1pPr algn="ctr">
              <a:defRPr>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15338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2874" y="3033943"/>
            <a:ext cx="8979343" cy="2250988"/>
          </a:xfrm>
        </p:spPr>
        <p:txBody>
          <a:bodyPr/>
          <a:lstStyle/>
          <a:p>
            <a:r>
              <a:rPr lang="en-US"/>
              <a:t>Click to edit Master title style</a:t>
            </a:r>
          </a:p>
        </p:txBody>
      </p:sp>
      <p:sp>
        <p:nvSpPr>
          <p:cNvPr id="3" name="Date Placeholder 4">
            <a:extLst>
              <a:ext uri="{FF2B5EF4-FFF2-40B4-BE49-F238E27FC236}">
                <a16:creationId xmlns:a16="http://schemas.microsoft.com/office/drawing/2014/main" id="{F7CAB843-5FB3-6747-B37E-4AFB93B15B01}"/>
              </a:ext>
            </a:extLst>
          </p:cNvPr>
          <p:cNvSpPr>
            <a:spLocks noGrp="1"/>
          </p:cNvSpPr>
          <p:nvPr>
            <p:ph type="dt" sz="half" idx="10"/>
          </p:nvPr>
        </p:nvSpPr>
        <p:spPr>
          <a:xfrm>
            <a:off x="838200" y="6356351"/>
            <a:ext cx="2743200" cy="365125"/>
          </a:xfrm>
        </p:spPr>
        <p:txBody>
          <a:bodyPr/>
          <a:lstStyle/>
          <a:p>
            <a:endParaRPr lang="en-US" dirty="0"/>
          </a:p>
        </p:txBody>
      </p:sp>
      <p:sp>
        <p:nvSpPr>
          <p:cNvPr id="4" name="Footer Placeholder 5">
            <a:extLst>
              <a:ext uri="{FF2B5EF4-FFF2-40B4-BE49-F238E27FC236}">
                <a16:creationId xmlns:a16="http://schemas.microsoft.com/office/drawing/2014/main" id="{1ABE7D95-01CA-9F44-974B-9B3A8502056D}"/>
              </a:ext>
            </a:extLst>
          </p:cNvPr>
          <p:cNvSpPr>
            <a:spLocks noGrp="1"/>
          </p:cNvSpPr>
          <p:nvPr>
            <p:ph type="ftr" sz="quarter" idx="11"/>
          </p:nvPr>
        </p:nvSpPr>
        <p:spPr>
          <a:xfrm>
            <a:off x="4038600" y="6356351"/>
            <a:ext cx="4114800" cy="365125"/>
          </a:xfrm>
        </p:spPr>
        <p:txBody>
          <a:bodyPr/>
          <a:lstStyle/>
          <a:p>
            <a:endParaRPr lang="en-US" dirty="0"/>
          </a:p>
        </p:txBody>
      </p:sp>
      <p:sp>
        <p:nvSpPr>
          <p:cNvPr id="5" name="Slide Number Placeholder 6">
            <a:extLst>
              <a:ext uri="{FF2B5EF4-FFF2-40B4-BE49-F238E27FC236}">
                <a16:creationId xmlns:a16="http://schemas.microsoft.com/office/drawing/2014/main" id="{3DA78604-E4F7-5F45-A150-5D73A9F462E3}"/>
              </a:ext>
            </a:extLst>
          </p:cNvPr>
          <p:cNvSpPr>
            <a:spLocks noGrp="1"/>
          </p:cNvSpPr>
          <p:nvPr>
            <p:ph type="sldNum" sz="quarter" idx="12"/>
          </p:nvPr>
        </p:nvSpPr>
        <p:spPr>
          <a:xfrm>
            <a:off x="8610600" y="6356351"/>
            <a:ext cx="2743200" cy="365125"/>
          </a:xfrm>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8030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1.emf"/><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07819" y="2"/>
            <a:ext cx="12399819" cy="6857999"/>
          </a:xfrm>
          <a:prstGeom prst="rect">
            <a:avLst/>
          </a:prstGeom>
          <a:solidFill>
            <a:srgbClr val="00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8" name="Rectangle 7"/>
          <p:cNvSpPr/>
          <p:nvPr userDrawn="1"/>
        </p:nvSpPr>
        <p:spPr>
          <a:xfrm>
            <a:off x="-207819" y="5614267"/>
            <a:ext cx="12399819" cy="1243733"/>
          </a:xfrm>
          <a:prstGeom prst="rect">
            <a:avLst/>
          </a:prstGeom>
          <a:solidFill>
            <a:schemeClr val="accent1">
              <a:lumMod val="20000"/>
              <a:lumOff val="8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10" name="Title Placeholder 1"/>
          <p:cNvSpPr>
            <a:spLocks noGrp="1"/>
          </p:cNvSpPr>
          <p:nvPr>
            <p:ph type="title"/>
          </p:nvPr>
        </p:nvSpPr>
        <p:spPr>
          <a:xfrm>
            <a:off x="658143" y="2608827"/>
            <a:ext cx="8979343" cy="2250988"/>
          </a:xfrm>
          <a:prstGeom prst="rect">
            <a:avLst/>
          </a:prstGeom>
          <a:noFill/>
          <a:effectLst>
            <a:outerShdw blurRad="596900" dist="241300" dir="4140000" sx="94000" sy="94000" algn="ctr" rotWithShape="0">
              <a:srgbClr val="000000">
                <a:alpha val="43137"/>
              </a:srgbClr>
            </a:outerShdw>
            <a:reflection stA="45000" endPos="0" dist="50800" dir="5400000" sy="-100000" algn="bl" rotWithShape="0"/>
          </a:effectLst>
        </p:spPr>
        <p:txBody>
          <a:bodyPr vert="horz" lIns="91440" tIns="45720" rIns="91440" bIns="45720" rtlCol="0" anchor="ctr">
            <a:noAutofit/>
          </a:bodyPr>
          <a:lstStyle/>
          <a:p>
            <a:r>
              <a:rPr lang="en-US"/>
              <a:t>Click to edit Master title style</a:t>
            </a:r>
          </a:p>
        </p:txBody>
      </p:sp>
      <p:pic>
        <p:nvPicPr>
          <p:cNvPr id="6" name="Picture 5"/>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0096501" y="5962777"/>
            <a:ext cx="1841500" cy="640843"/>
          </a:xfrm>
          <a:prstGeom prst="rect">
            <a:avLst/>
          </a:prstGeom>
        </p:spPr>
      </p:pic>
      <p:sp>
        <p:nvSpPr>
          <p:cNvPr id="9" name="Date Placeholder 3">
            <a:extLst>
              <a:ext uri="{FF2B5EF4-FFF2-40B4-BE49-F238E27FC236}">
                <a16:creationId xmlns:a16="http://schemas.microsoft.com/office/drawing/2014/main" id="{CBC6E2F6-92F6-4242-8C9D-185218C9F62D}"/>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bg1"/>
                </a:solidFill>
                <a:latin typeface="Arial" panose="020B0604020202020204" pitchFamily="34" charset="0"/>
                <a:cs typeface="Arial" panose="020B0604020202020204" pitchFamily="34" charset="0"/>
              </a:defRPr>
            </a:lvl1pPr>
          </a:lstStyle>
          <a:p>
            <a:endParaRPr lang="en-US" dirty="0"/>
          </a:p>
        </p:txBody>
      </p:sp>
      <p:sp>
        <p:nvSpPr>
          <p:cNvPr id="11" name="Footer Placeholder 4">
            <a:extLst>
              <a:ext uri="{FF2B5EF4-FFF2-40B4-BE49-F238E27FC236}">
                <a16:creationId xmlns:a16="http://schemas.microsoft.com/office/drawing/2014/main" id="{E23D9722-47E0-A64F-8AF9-49F787ACB0C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bg1"/>
                </a:solidFill>
                <a:latin typeface="Arial" panose="020B0604020202020204" pitchFamily="34" charset="0"/>
                <a:cs typeface="Arial" panose="020B0604020202020204" pitchFamily="34" charset="0"/>
              </a:defRPr>
            </a:lvl1pPr>
          </a:lstStyle>
          <a:p>
            <a:endParaRPr lang="en-US" dirty="0"/>
          </a:p>
        </p:txBody>
      </p:sp>
      <p:sp>
        <p:nvSpPr>
          <p:cNvPr id="12" name="Slide Number Placeholder 5">
            <a:extLst>
              <a:ext uri="{FF2B5EF4-FFF2-40B4-BE49-F238E27FC236}">
                <a16:creationId xmlns:a16="http://schemas.microsoft.com/office/drawing/2014/main" id="{72CA5770-ED85-1646-B4EE-32B0EBF8F227}"/>
              </a:ext>
            </a:extLst>
          </p:cNvPr>
          <p:cNvSpPr>
            <a:spLocks noGrp="1"/>
          </p:cNvSpPr>
          <p:nvPr>
            <p:ph type="sldNum" sz="quarter" idx="4"/>
          </p:nvPr>
        </p:nvSpPr>
        <p:spPr>
          <a:xfrm>
            <a:off x="9637486" y="6356351"/>
            <a:ext cx="459015" cy="365125"/>
          </a:xfrm>
          <a:prstGeom prst="rect">
            <a:avLst/>
          </a:prstGeom>
        </p:spPr>
        <p:txBody>
          <a:bodyPr vert="horz" lIns="91440" tIns="45720" rIns="91440" bIns="45720" rtlCol="0" anchor="ctr"/>
          <a:lstStyle>
            <a:lvl1pPr algn="l">
              <a:defRPr sz="1200">
                <a:solidFill>
                  <a:schemeClr val="bg1"/>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63924722"/>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Lst>
  <p:hf hdr="0"/>
  <p:txStyles>
    <p:titleStyle>
      <a:lvl1pPr algn="l" defTabSz="914377" rtl="0" eaLnBrk="1" latinLnBrk="0" hangingPunct="1">
        <a:lnSpc>
          <a:spcPct val="90000"/>
        </a:lnSpc>
        <a:spcBef>
          <a:spcPct val="0"/>
        </a:spcBef>
        <a:buNone/>
        <a:defRPr sz="8800" b="0" i="0" kern="1200">
          <a:solidFill>
            <a:schemeClr val="bg1"/>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4C1ABF4-B026-6E4D-9D63-F6F6EAC36639}"/>
              </a:ext>
            </a:extLst>
          </p:cNvPr>
          <p:cNvSpPr/>
          <p:nvPr userDrawn="1"/>
        </p:nvSpPr>
        <p:spPr>
          <a:xfrm>
            <a:off x="-207819" y="1"/>
            <a:ext cx="12399819" cy="6982691"/>
          </a:xfrm>
          <a:prstGeom prst="rect">
            <a:avLst/>
          </a:prstGeom>
          <a:solidFill>
            <a:srgbClr val="00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8" name="Rectangle 7">
            <a:extLst>
              <a:ext uri="{FF2B5EF4-FFF2-40B4-BE49-F238E27FC236}">
                <a16:creationId xmlns:a16="http://schemas.microsoft.com/office/drawing/2014/main" id="{6C519481-0135-FA4C-B6D7-024C6F04F2BE}"/>
              </a:ext>
            </a:extLst>
          </p:cNvPr>
          <p:cNvSpPr/>
          <p:nvPr userDrawn="1"/>
        </p:nvSpPr>
        <p:spPr>
          <a:xfrm>
            <a:off x="-207819" y="5614268"/>
            <a:ext cx="12399819" cy="1368425"/>
          </a:xfrm>
          <a:prstGeom prst="rect">
            <a:avLst/>
          </a:prstGeom>
          <a:solidFill>
            <a:schemeClr val="accent1">
              <a:lumMod val="20000"/>
              <a:lumOff val="8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6"/>
            <a:ext cx="10515600" cy="340956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bg1"/>
                </a:solidFill>
                <a:latin typeface="Arial" panose="020B0604020202020204" pitchFamily="34" charset="0"/>
                <a:cs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bg1"/>
                </a:solidFill>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9637486" y="6356351"/>
            <a:ext cx="459015" cy="365125"/>
          </a:xfrm>
          <a:prstGeom prst="rect">
            <a:avLst/>
          </a:prstGeom>
        </p:spPr>
        <p:txBody>
          <a:bodyPr vert="horz" lIns="91440" tIns="45720" rIns="91440" bIns="45720" rtlCol="0" anchor="ctr"/>
          <a:lstStyle>
            <a:lvl1pPr algn="l">
              <a:defRPr sz="1200">
                <a:solidFill>
                  <a:schemeClr val="bg1"/>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pic>
        <p:nvPicPr>
          <p:cNvPr id="9" name="Picture 8" descr="Centers for Medicare &amp; Medicaid Services">
            <a:extLst>
              <a:ext uri="{FF2B5EF4-FFF2-40B4-BE49-F238E27FC236}">
                <a16:creationId xmlns:a16="http://schemas.microsoft.com/office/drawing/2014/main" id="{5BC368E9-7816-D44C-9671-092F8E3B9796}"/>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0096501" y="5962777"/>
            <a:ext cx="1841500" cy="640843"/>
          </a:xfrm>
          <a:prstGeom prst="rect">
            <a:avLst/>
          </a:prstGeom>
        </p:spPr>
      </p:pic>
    </p:spTree>
    <p:extLst>
      <p:ext uri="{BB962C8B-B14F-4D97-AF65-F5344CB8AC3E}">
        <p14:creationId xmlns:p14="http://schemas.microsoft.com/office/powerpoint/2010/main" val="4219174933"/>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Lst>
  <p:hf hdr="0"/>
  <p:txStyles>
    <p:titleStyle>
      <a:lvl1pPr algn="l" defTabSz="914377"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msgov.github.io/CMCS-DSG-DSS-Certification/ORR%20Sample%20Agenda.docx"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mailto:MES.Certification@cms.hhs.gov"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msgov.github.io/CMCS-DSG-DSS-Certification/CR%20Sample%20Agenda.docx"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medicaid.gov/medicaid/data-systems/certification/streamlined-modular-certification/index.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www.medicaid.gov/medicaid/data-and-systems/downloads/mes-testing-guidance-framework.pdf" TargetMode="External"/><Relationship Id="rId4" Type="http://schemas.openxmlformats.org/officeDocument/2006/relationships/hyperlink" Target="https://cmsgov.github.io/CMCS-DSG-DSS-Certification/"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F54E-5534-48C9-8813-F7FA7A9C6583}"/>
              </a:ext>
            </a:extLst>
          </p:cNvPr>
          <p:cNvSpPr>
            <a:spLocks noGrp="1"/>
          </p:cNvSpPr>
          <p:nvPr>
            <p:ph type="title"/>
          </p:nvPr>
        </p:nvSpPr>
        <p:spPr>
          <a:xfrm>
            <a:off x="832874" y="2083917"/>
            <a:ext cx="10840966" cy="2250988"/>
          </a:xfrm>
        </p:spPr>
        <p:txBody>
          <a:bodyPr>
            <a:noAutofit/>
          </a:bodyPr>
          <a:lstStyle/>
          <a:p>
            <a:r>
              <a:rPr lang="en-US" sz="4400" dirty="0"/>
              <a:t>Streamlined Modular Certification Kickoff</a:t>
            </a:r>
            <a:br>
              <a:rPr lang="en-US" sz="4400" dirty="0"/>
            </a:br>
            <a:r>
              <a:rPr lang="en-US" sz="4400" dirty="0"/>
              <a:t>[State] [System Name]</a:t>
            </a:r>
          </a:p>
        </p:txBody>
      </p:sp>
      <p:sp>
        <p:nvSpPr>
          <p:cNvPr id="9" name="Text Placeholder 8">
            <a:extLst>
              <a:ext uri="{FF2B5EF4-FFF2-40B4-BE49-F238E27FC236}">
                <a16:creationId xmlns:a16="http://schemas.microsoft.com/office/drawing/2014/main" id="{BF828824-FD88-ED40-7FB6-46841A773EE9}"/>
              </a:ext>
            </a:extLst>
          </p:cNvPr>
          <p:cNvSpPr>
            <a:spLocks noGrp="1"/>
          </p:cNvSpPr>
          <p:nvPr>
            <p:ph type="body" sz="quarter" idx="13"/>
          </p:nvPr>
        </p:nvSpPr>
        <p:spPr>
          <a:xfrm>
            <a:off x="832874" y="4334905"/>
            <a:ext cx="8979343" cy="1151660"/>
          </a:xfrm>
        </p:spPr>
        <p:txBody>
          <a:bodyPr/>
          <a:lstStyle/>
          <a:p>
            <a:r>
              <a:rPr lang="en-US" sz="2000" b="1" dirty="0">
                <a:latin typeface="Aril"/>
              </a:rPr>
              <a:t>Module Type:  </a:t>
            </a:r>
            <a:r>
              <a:rPr lang="en-US" sz="2000" dirty="0">
                <a:latin typeface="Aril"/>
              </a:rPr>
              <a:t>[Spell out the module type]</a:t>
            </a:r>
          </a:p>
          <a:p>
            <a:r>
              <a:rPr lang="en-US" sz="2000" b="1" dirty="0">
                <a:latin typeface="Aril"/>
              </a:rPr>
              <a:t>Certification Manager</a:t>
            </a:r>
            <a:r>
              <a:rPr lang="en-US" sz="2000" dirty="0">
                <a:latin typeface="Aril"/>
              </a:rPr>
              <a:t>: [CM Name]</a:t>
            </a:r>
          </a:p>
          <a:p>
            <a:endParaRPr lang="en-US" sz="2000" dirty="0"/>
          </a:p>
        </p:txBody>
      </p:sp>
    </p:spTree>
    <p:extLst>
      <p:ext uri="{BB962C8B-B14F-4D97-AF65-F5344CB8AC3E}">
        <p14:creationId xmlns:p14="http://schemas.microsoft.com/office/powerpoint/2010/main" val="268403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E9926E-AAA3-4CEF-989D-96F275E38812}"/>
              </a:ext>
            </a:extLst>
          </p:cNvPr>
          <p:cNvSpPr txBox="1">
            <a:spLocks noGrp="1"/>
          </p:cNvSpPr>
          <p:nvPr>
            <p:ph type="ctrTitle"/>
          </p:nvPr>
        </p:nvSpPr>
        <p:spPr>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indent="0" algn="ctr" defTabSz="914400" rtl="0" eaLnBrk="1" latinLnBrk="0" hangingPunct="1">
              <a:spcBef>
                <a:spcPts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750" b="0" dirty="0">
                <a:solidFill>
                  <a:srgbClr val="004986"/>
                </a:solidFill>
                <a:latin typeface="Arial" panose="020B0604020202020204" pitchFamily="34" charset="0"/>
                <a:cs typeface="Arial" panose="020B0604020202020204" pitchFamily="34" charset="0"/>
              </a:rPr>
              <a:t>Agenda</a:t>
            </a:r>
          </a:p>
        </p:txBody>
      </p:sp>
      <p:sp>
        <p:nvSpPr>
          <p:cNvPr id="2" name="Text Placeholder 1">
            <a:extLst>
              <a:ext uri="{FF2B5EF4-FFF2-40B4-BE49-F238E27FC236}">
                <a16:creationId xmlns:a16="http://schemas.microsoft.com/office/drawing/2014/main" id="{C19E4C32-6DB3-5C46-7C01-18D58F9B297F}"/>
              </a:ext>
            </a:extLst>
          </p:cNvPr>
          <p:cNvSpPr>
            <a:spLocks noGrp="1"/>
          </p:cNvSpPr>
          <p:nvPr>
            <p:ph type="body" sz="quarter" idx="10"/>
          </p:nvPr>
        </p:nvSpPr>
        <p:spPr>
          <a:xfrm>
            <a:off x="928255" y="1313847"/>
            <a:ext cx="9731394" cy="3922296"/>
          </a:xfrm>
        </p:spPr>
        <p:txBody>
          <a:bodyPr/>
          <a:lstStyle/>
          <a:p>
            <a:pPr>
              <a:spcBef>
                <a:spcPts val="600"/>
              </a:spcBef>
            </a:pPr>
            <a:r>
              <a:rPr lang="en-US" sz="2000" dirty="0"/>
              <a:t>Streamlined Modular Certification (SMC) Kickoff Purpose, Goals, and Timing</a:t>
            </a:r>
          </a:p>
          <a:p>
            <a:pPr>
              <a:spcBef>
                <a:spcPts val="600"/>
              </a:spcBef>
            </a:pPr>
            <a:r>
              <a:rPr lang="en-US" sz="2000" dirty="0"/>
              <a:t>State and System Profile Review</a:t>
            </a:r>
          </a:p>
          <a:p>
            <a:pPr>
              <a:spcBef>
                <a:spcPts val="600"/>
              </a:spcBef>
            </a:pPr>
            <a:r>
              <a:rPr lang="en-US" sz="2000" dirty="0"/>
              <a:t>What Is SMC?</a:t>
            </a:r>
          </a:p>
          <a:p>
            <a:pPr>
              <a:spcBef>
                <a:spcPts val="600"/>
              </a:spcBef>
            </a:pPr>
            <a:r>
              <a:rPr lang="en-US" sz="2000" dirty="0"/>
              <a:t>SMC Touchpoints</a:t>
            </a:r>
          </a:p>
          <a:p>
            <a:pPr>
              <a:spcBef>
                <a:spcPts val="600"/>
              </a:spcBef>
            </a:pPr>
            <a:r>
              <a:rPr lang="en-US" sz="2000" dirty="0"/>
              <a:t>SMC Milestones</a:t>
            </a:r>
          </a:p>
          <a:p>
            <a:pPr>
              <a:spcBef>
                <a:spcPts val="600"/>
              </a:spcBef>
            </a:pPr>
            <a:r>
              <a:rPr lang="en-US" sz="2000" dirty="0"/>
              <a:t>APD and SMC Intake Form Relationship</a:t>
            </a:r>
          </a:p>
          <a:p>
            <a:pPr>
              <a:spcBef>
                <a:spcPts val="600"/>
              </a:spcBef>
            </a:pPr>
            <a:r>
              <a:rPr lang="en-US" sz="2000" dirty="0"/>
              <a:t>SMC Elements</a:t>
            </a:r>
          </a:p>
          <a:p>
            <a:pPr>
              <a:spcBef>
                <a:spcPts val="600"/>
              </a:spcBef>
            </a:pPr>
            <a:r>
              <a:rPr lang="en-US" sz="2000" dirty="0"/>
              <a:t>What to Expect: Operational Readiness Review (ORR)</a:t>
            </a:r>
          </a:p>
          <a:p>
            <a:pPr>
              <a:spcBef>
                <a:spcPts val="600"/>
              </a:spcBef>
            </a:pPr>
            <a:r>
              <a:rPr lang="en-US" sz="2000" dirty="0"/>
              <a:t>What to Expect: Certification Review (CR)</a:t>
            </a:r>
          </a:p>
          <a:p>
            <a:pPr>
              <a:spcBef>
                <a:spcPts val="600"/>
              </a:spcBef>
            </a:pPr>
            <a:r>
              <a:rPr lang="en-US" sz="2000" dirty="0"/>
              <a:t>Additional Information</a:t>
            </a:r>
          </a:p>
          <a:p>
            <a:pPr>
              <a:spcBef>
                <a:spcPts val="600"/>
              </a:spcBef>
            </a:pPr>
            <a:r>
              <a:rPr lang="en-US" sz="2000" dirty="0"/>
              <a:t>Questions and Action Item Recap</a:t>
            </a:r>
          </a:p>
        </p:txBody>
      </p:sp>
      <p:sp>
        <p:nvSpPr>
          <p:cNvPr id="3" name="Slide Number Placeholder 2">
            <a:extLst>
              <a:ext uri="{FF2B5EF4-FFF2-40B4-BE49-F238E27FC236}">
                <a16:creationId xmlns:a16="http://schemas.microsoft.com/office/drawing/2014/main" id="{F84C1817-5162-4611-BD39-6EE325789770}"/>
              </a:ext>
            </a:extLst>
          </p:cNvPr>
          <p:cNvSpPr>
            <a:spLocks noGrp="1"/>
          </p:cNvSpPr>
          <p:nvPr>
            <p:ph type="sldNum" sz="quarter" idx="4"/>
          </p:nvPr>
        </p:nvSpPr>
        <p:spPr/>
        <p:txBody>
          <a:bodyPr/>
          <a:lstStyle/>
          <a:p>
            <a:fld id="{307C9BC6-3632-4035-A6F8-73DB694A0BF4}" type="slidenum">
              <a:rPr lang="en-US" smtClean="0"/>
              <a:t>2</a:t>
            </a:fld>
            <a:endParaRPr lang="en-US" dirty="0"/>
          </a:p>
        </p:txBody>
      </p:sp>
    </p:spTree>
    <p:custDataLst>
      <p:tags r:id="rId1"/>
    </p:custDataLst>
    <p:extLst>
      <p:ext uri="{BB962C8B-B14F-4D97-AF65-F5344CB8AC3E}">
        <p14:creationId xmlns:p14="http://schemas.microsoft.com/office/powerpoint/2010/main" val="2978069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6EA1A-C31E-1BCB-512F-FA444AE313A5}"/>
              </a:ext>
            </a:extLst>
          </p:cNvPr>
          <p:cNvSpPr>
            <a:spLocks noGrp="1"/>
          </p:cNvSpPr>
          <p:nvPr>
            <p:ph type="ctrTitle"/>
          </p:nvPr>
        </p:nvSpPr>
        <p:spPr/>
        <p:txBody>
          <a:bodyPr/>
          <a:lstStyle/>
          <a:p>
            <a:r>
              <a:rPr lang="en-US" sz="3750" dirty="0"/>
              <a:t>SMC Kickoff Purpose, Goals, and Timing</a:t>
            </a:r>
          </a:p>
        </p:txBody>
      </p:sp>
      <p:sp>
        <p:nvSpPr>
          <p:cNvPr id="5" name="Text Placeholder 4">
            <a:extLst>
              <a:ext uri="{FF2B5EF4-FFF2-40B4-BE49-F238E27FC236}">
                <a16:creationId xmlns:a16="http://schemas.microsoft.com/office/drawing/2014/main" id="{5295B96C-682C-9D4A-54EB-A9A97AF6993D}"/>
              </a:ext>
            </a:extLst>
          </p:cNvPr>
          <p:cNvSpPr>
            <a:spLocks noGrp="1"/>
          </p:cNvSpPr>
          <p:nvPr>
            <p:ph type="body" sz="quarter" idx="10"/>
          </p:nvPr>
        </p:nvSpPr>
        <p:spPr>
          <a:xfrm>
            <a:off x="928255" y="1313847"/>
            <a:ext cx="9718868" cy="3922296"/>
          </a:xfrm>
        </p:spPr>
        <p:txBody>
          <a:bodyPr lIns="91440" tIns="45720" rIns="91440" bIns="45720" anchor="t"/>
          <a:lstStyle/>
          <a:p>
            <a:pPr marL="0" indent="0">
              <a:lnSpc>
                <a:spcPct val="100000"/>
              </a:lnSpc>
              <a:buNone/>
            </a:pPr>
            <a:r>
              <a:rPr lang="en-US" sz="2400" dirty="0">
                <a:latin typeface="Arial"/>
                <a:cs typeface="Arial"/>
              </a:rPr>
              <a:t>Purpose</a:t>
            </a:r>
            <a:endParaRPr lang="en-US" sz="2400" dirty="0">
              <a:cs typeface="Arial"/>
            </a:endParaRPr>
          </a:p>
          <a:p>
            <a:pPr marL="685165" lvl="1" indent="-227965">
              <a:lnSpc>
                <a:spcPct val="100000"/>
              </a:lnSpc>
            </a:pPr>
            <a:r>
              <a:rPr lang="en-US" sz="2000" dirty="0">
                <a:latin typeface="Arial"/>
                <a:cs typeface="Arial"/>
              </a:rPr>
              <a:t>SMC process for Medicaid Enterprise Systems (MES).</a:t>
            </a:r>
          </a:p>
          <a:p>
            <a:pPr marL="0" indent="0">
              <a:buNone/>
            </a:pPr>
            <a:r>
              <a:rPr lang="en-US" sz="2400" dirty="0">
                <a:cs typeface="Arial"/>
              </a:rPr>
              <a:t>Goals</a:t>
            </a:r>
          </a:p>
          <a:p>
            <a:pPr marL="685165" lvl="1" indent="-227965"/>
            <a:r>
              <a:rPr lang="en-US" sz="2000" dirty="0">
                <a:latin typeface="Arial"/>
                <a:cs typeface="Arial"/>
              </a:rPr>
              <a:t>Offer the State team an opportunity to ask questions about the SMC process, outcomes, Conditions for Enhanced Funding (CEF), and metrics.</a:t>
            </a:r>
            <a:endParaRPr lang="en-US" sz="2000" dirty="0"/>
          </a:p>
          <a:p>
            <a:pPr marL="685165" lvl="1" indent="-227965"/>
            <a:r>
              <a:rPr lang="en-US" sz="2000" dirty="0">
                <a:latin typeface="Arial"/>
                <a:cs typeface="Arial"/>
              </a:rPr>
              <a:t>Ensure alignment on process expectations.</a:t>
            </a:r>
          </a:p>
          <a:p>
            <a:pPr marL="685165" lvl="1" indent="-227965"/>
            <a:r>
              <a:rPr lang="en-US" sz="2000" dirty="0">
                <a:latin typeface="Arial"/>
                <a:cs typeface="Arial"/>
              </a:rPr>
              <a:t>Gather core information necessary for certification. </a:t>
            </a:r>
          </a:p>
          <a:p>
            <a:pPr marL="0" indent="0">
              <a:buNone/>
            </a:pPr>
            <a:r>
              <a:rPr lang="en-US" sz="2400" dirty="0">
                <a:latin typeface="Arial"/>
                <a:cs typeface="Arial"/>
              </a:rPr>
              <a:t>Timing</a:t>
            </a:r>
            <a:endParaRPr lang="en-US" sz="2400" dirty="0">
              <a:cs typeface="Arial"/>
            </a:endParaRPr>
          </a:p>
          <a:p>
            <a:pPr marL="685165" lvl="1" indent="-227965"/>
            <a:r>
              <a:rPr lang="en-US" sz="2000" dirty="0">
                <a:latin typeface="Arial"/>
                <a:cs typeface="Arial"/>
              </a:rPr>
              <a:t>Conduct the SMC kickoff at the project’s start because certification applies throughout the entire project lifecycle.</a:t>
            </a:r>
            <a:endParaRPr lang="en-US" sz="2000" dirty="0">
              <a:cs typeface="Arial"/>
            </a:endParaRPr>
          </a:p>
          <a:p>
            <a:pPr marL="227965" indent="-227965"/>
            <a:endParaRPr lang="en-US" sz="2400" dirty="0">
              <a:latin typeface="Arial"/>
              <a:cs typeface="Arial"/>
            </a:endParaRPr>
          </a:p>
        </p:txBody>
      </p:sp>
      <p:sp>
        <p:nvSpPr>
          <p:cNvPr id="3" name="Slide Number Placeholder 2">
            <a:extLst>
              <a:ext uri="{FF2B5EF4-FFF2-40B4-BE49-F238E27FC236}">
                <a16:creationId xmlns:a16="http://schemas.microsoft.com/office/drawing/2014/main" id="{5720FB0C-F1C2-A0F6-F1F4-DE4A787A8181}"/>
              </a:ext>
            </a:extLst>
          </p:cNvPr>
          <p:cNvSpPr>
            <a:spLocks noGrp="1"/>
          </p:cNvSpPr>
          <p:nvPr>
            <p:ph type="sldNum" sz="quarter" idx="4"/>
          </p:nvPr>
        </p:nvSpPr>
        <p:spPr/>
        <p:txBody>
          <a:bodyPr/>
          <a:lstStyle/>
          <a:p>
            <a:fld id="{307C9BC6-3632-4035-A6F8-73DB694A0BF4}" type="slidenum">
              <a:rPr lang="en-US" smtClean="0"/>
              <a:t>3</a:t>
            </a:fld>
            <a:endParaRPr lang="en-US" dirty="0"/>
          </a:p>
        </p:txBody>
      </p:sp>
    </p:spTree>
    <p:extLst>
      <p:ext uri="{BB962C8B-B14F-4D97-AF65-F5344CB8AC3E}">
        <p14:creationId xmlns:p14="http://schemas.microsoft.com/office/powerpoint/2010/main" val="882191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2940D-EC43-BCF7-A8FF-5D5E355E103A}"/>
              </a:ext>
            </a:extLst>
          </p:cNvPr>
          <p:cNvSpPr>
            <a:spLocks noGrp="1"/>
          </p:cNvSpPr>
          <p:nvPr>
            <p:ph type="ctrTitle"/>
          </p:nvPr>
        </p:nvSpPr>
        <p:spPr/>
        <p:txBody>
          <a:bodyPr>
            <a:normAutofit/>
          </a:bodyPr>
          <a:lstStyle/>
          <a:p>
            <a:r>
              <a:rPr lang="en-US" sz="3750" dirty="0">
                <a:solidFill>
                  <a:srgbClr val="004986"/>
                </a:solidFill>
              </a:rPr>
              <a:t>State and System Profile</a:t>
            </a:r>
          </a:p>
        </p:txBody>
      </p:sp>
      <p:sp>
        <p:nvSpPr>
          <p:cNvPr id="3" name="Slide Number Placeholder 2">
            <a:extLst>
              <a:ext uri="{FF2B5EF4-FFF2-40B4-BE49-F238E27FC236}">
                <a16:creationId xmlns:a16="http://schemas.microsoft.com/office/drawing/2014/main" id="{D1EA27D0-EB7D-288E-9A5A-5E6374BA02AF}"/>
              </a:ext>
            </a:extLst>
          </p:cNvPr>
          <p:cNvSpPr>
            <a:spLocks noGrp="1"/>
          </p:cNvSpPr>
          <p:nvPr>
            <p:ph type="sldNum" sz="quarter" idx="4"/>
          </p:nvPr>
        </p:nvSpPr>
        <p:spPr/>
        <p:txBody>
          <a:bodyPr/>
          <a:lstStyle/>
          <a:p>
            <a:fld id="{295008BC-DA31-4D19-837B-EFA4386B05F5}" type="slidenum">
              <a:rPr lang="en-US" smtClean="0"/>
              <a:t>4</a:t>
            </a:fld>
            <a:endParaRPr lang="en-US" dirty="0"/>
          </a:p>
        </p:txBody>
      </p:sp>
      <p:graphicFrame>
        <p:nvGraphicFramePr>
          <p:cNvPr id="4" name="Table 4" descr="Table 1: Profile of State &amp; System Information&#10;">
            <a:extLst>
              <a:ext uri="{FF2B5EF4-FFF2-40B4-BE49-F238E27FC236}">
                <a16:creationId xmlns:a16="http://schemas.microsoft.com/office/drawing/2014/main" id="{2D643851-B102-8E29-CF96-07E4E6312093}"/>
              </a:ext>
            </a:extLst>
          </p:cNvPr>
          <p:cNvGraphicFramePr>
            <a:graphicFrameLocks noGrp="1"/>
          </p:cNvGraphicFramePr>
          <p:nvPr>
            <p:extLst>
              <p:ext uri="{D42A27DB-BD31-4B8C-83A1-F6EECF244321}">
                <p14:modId xmlns:p14="http://schemas.microsoft.com/office/powerpoint/2010/main" val="509817132"/>
              </p:ext>
            </p:extLst>
          </p:nvPr>
        </p:nvGraphicFramePr>
        <p:xfrm>
          <a:off x="1333831" y="1850394"/>
          <a:ext cx="9524337" cy="3244516"/>
        </p:xfrm>
        <a:graphic>
          <a:graphicData uri="http://schemas.openxmlformats.org/drawingml/2006/table">
            <a:tbl>
              <a:tblPr firstRow="1" bandRow="1">
                <a:tableStyleId>{22838BEF-8BB2-4498-84A7-C5851F593DF1}</a:tableStyleId>
              </a:tblPr>
              <a:tblGrid>
                <a:gridCol w="3371129">
                  <a:extLst>
                    <a:ext uri="{9D8B030D-6E8A-4147-A177-3AD203B41FA5}">
                      <a16:colId xmlns:a16="http://schemas.microsoft.com/office/drawing/2014/main" val="3034424372"/>
                    </a:ext>
                  </a:extLst>
                </a:gridCol>
                <a:gridCol w="6153208">
                  <a:extLst>
                    <a:ext uri="{9D8B030D-6E8A-4147-A177-3AD203B41FA5}">
                      <a16:colId xmlns:a16="http://schemas.microsoft.com/office/drawing/2014/main" val="2371714435"/>
                    </a:ext>
                  </a:extLst>
                </a:gridCol>
              </a:tblGrid>
              <a:tr h="334211">
                <a:tc>
                  <a:txBody>
                    <a:bodyPr/>
                    <a:lstStyle/>
                    <a:p>
                      <a:pPr algn="ctr"/>
                      <a:r>
                        <a:rPr lang="en-US" dirty="0">
                          <a:latin typeface="Arial" panose="020B0604020202020204" pitchFamily="34" charset="0"/>
                          <a:cs typeface="Arial" panose="020B0604020202020204" pitchFamily="34" charset="0"/>
                        </a:rPr>
                        <a:t>Information Type</a:t>
                      </a:r>
                    </a:p>
                  </a:txBody>
                  <a:tcPr/>
                </a:tc>
                <a:tc>
                  <a:txBody>
                    <a:bodyPr/>
                    <a:lstStyle/>
                    <a:p>
                      <a:pPr algn="ctr"/>
                      <a:r>
                        <a:rPr lang="en-US" b="1" dirty="0">
                          <a:latin typeface="Arial" panose="020B0604020202020204" pitchFamily="34" charset="0"/>
                          <a:cs typeface="Arial" panose="020B0604020202020204" pitchFamily="34" charset="0"/>
                        </a:rPr>
                        <a:t>State Response</a:t>
                      </a:r>
                    </a:p>
                  </a:txBody>
                  <a:tcPr/>
                </a:tc>
                <a:extLst>
                  <a:ext uri="{0D108BD9-81ED-4DB2-BD59-A6C34878D82A}">
                    <a16:rowId xmlns:a16="http://schemas.microsoft.com/office/drawing/2014/main" val="1405604812"/>
                  </a:ext>
                </a:extLst>
              </a:tr>
              <a:tr h="334211">
                <a:tc>
                  <a:txBody>
                    <a:bodyPr/>
                    <a:lstStyle/>
                    <a:p>
                      <a:r>
                        <a:rPr lang="en-US" b="0" dirty="0">
                          <a:latin typeface="Arial" panose="020B0604020202020204" pitchFamily="34" charset="0"/>
                          <a:cs typeface="Arial" panose="020B0604020202020204" pitchFamily="34" charset="0"/>
                        </a:rPr>
                        <a:t>Module Type:</a:t>
                      </a:r>
                    </a:p>
                  </a:txBody>
                  <a:tcPr/>
                </a:tc>
                <a:tc>
                  <a:txBody>
                    <a:bodyPr/>
                    <a:lstStyle/>
                    <a:p>
                      <a:r>
                        <a:rPr lang="en-US" b="0" dirty="0">
                          <a:highlight>
                            <a:srgbClr val="FFFF00"/>
                          </a:highlight>
                          <a:latin typeface="Arial" panose="020B0604020202020204" pitchFamily="34" charset="0"/>
                          <a:cs typeface="Arial" panose="020B0604020202020204" pitchFamily="34" charset="0"/>
                        </a:rPr>
                        <a:t>[Specify the type of module]</a:t>
                      </a:r>
                    </a:p>
                  </a:txBody>
                  <a:tcPr/>
                </a:tc>
                <a:extLst>
                  <a:ext uri="{0D108BD9-81ED-4DB2-BD59-A6C34878D82A}">
                    <a16:rowId xmlns:a16="http://schemas.microsoft.com/office/drawing/2014/main" val="1386375652"/>
                  </a:ext>
                </a:extLst>
              </a:tr>
              <a:tr h="370840">
                <a:tc>
                  <a:txBody>
                    <a:bodyPr/>
                    <a:lstStyle/>
                    <a:p>
                      <a:r>
                        <a:rPr lang="en-US" b="0" dirty="0">
                          <a:latin typeface="Arial" panose="020B0604020202020204" pitchFamily="34" charset="0"/>
                          <a:cs typeface="Arial" panose="020B0604020202020204" pitchFamily="34" charset="0"/>
                        </a:rPr>
                        <a:t>System Name and Abbreviation:</a:t>
                      </a:r>
                    </a:p>
                  </a:txBody>
                  <a:tcPr/>
                </a:tc>
                <a:tc>
                  <a:txBody>
                    <a:bodyPr/>
                    <a:lstStyle/>
                    <a:p>
                      <a:r>
                        <a:rPr lang="en-US" dirty="0">
                          <a:highlight>
                            <a:srgbClr val="FFFF00"/>
                          </a:highlight>
                          <a:latin typeface="Arial" panose="020B0604020202020204" pitchFamily="34" charset="0"/>
                          <a:cs typeface="Arial" panose="020B0604020202020204" pitchFamily="34" charset="0"/>
                        </a:rPr>
                        <a:t>[State's system name and abbreviation]</a:t>
                      </a:r>
                    </a:p>
                  </a:txBody>
                  <a:tcPr/>
                </a:tc>
                <a:extLst>
                  <a:ext uri="{0D108BD9-81ED-4DB2-BD59-A6C34878D82A}">
                    <a16:rowId xmlns:a16="http://schemas.microsoft.com/office/drawing/2014/main" val="1851426502"/>
                  </a:ext>
                </a:extLst>
              </a:tr>
              <a:tr h="370840">
                <a:tc>
                  <a:txBody>
                    <a:bodyPr/>
                    <a:lstStyle/>
                    <a:p>
                      <a:r>
                        <a:rPr lang="en-US" b="0" dirty="0">
                          <a:latin typeface="Arial" panose="020B0604020202020204" pitchFamily="34" charset="0"/>
                          <a:cs typeface="Arial" panose="020B0604020202020204" pitchFamily="34" charset="0"/>
                        </a:rPr>
                        <a:t>State Point of Contact:</a:t>
                      </a:r>
                    </a:p>
                  </a:txBody>
                  <a:tcPr/>
                </a:tc>
                <a:tc>
                  <a:txBody>
                    <a:bodyPr/>
                    <a:lstStyle/>
                    <a:p>
                      <a:r>
                        <a:rPr lang="en-US" sz="1800" b="0" i="0" kern="1200" dirty="0">
                          <a:solidFill>
                            <a:schemeClr val="dk1"/>
                          </a:solidFill>
                          <a:effectLst/>
                          <a:highlight>
                            <a:srgbClr val="FFFF00"/>
                          </a:highlight>
                          <a:latin typeface="Arial" panose="020B0604020202020204" pitchFamily="34" charset="0"/>
                          <a:ea typeface="+mn-ea"/>
                          <a:cs typeface="Arial" panose="020B0604020202020204" pitchFamily="34" charset="0"/>
                        </a:rPr>
                        <a:t>[Name and contact information]</a:t>
                      </a:r>
                      <a:endParaRPr lang="en-US" dirty="0">
                        <a:highlight>
                          <a:srgbClr val="FFFF00"/>
                        </a:highligh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40902227"/>
                  </a:ext>
                </a:extLst>
              </a:tr>
              <a:tr h="389556">
                <a:tc>
                  <a:txBody>
                    <a:bodyPr/>
                    <a:lstStyle/>
                    <a:p>
                      <a:r>
                        <a:rPr lang="en-US" b="0" dirty="0">
                          <a:latin typeface="Arial" panose="020B0604020202020204" pitchFamily="34" charset="0"/>
                          <a:cs typeface="Arial" panose="020B0604020202020204" pitchFamily="34" charset="0"/>
                        </a:rPr>
                        <a:t>State Medicaid Director:</a:t>
                      </a:r>
                    </a:p>
                  </a:txBody>
                  <a:tcPr/>
                </a:tc>
                <a:tc>
                  <a:txBody>
                    <a:bodyPr/>
                    <a:lstStyle/>
                    <a:p>
                      <a:r>
                        <a:rPr lang="en-US" sz="1800" b="0" i="0" kern="1200" dirty="0">
                          <a:solidFill>
                            <a:schemeClr val="dk1"/>
                          </a:solidFill>
                          <a:effectLst/>
                          <a:highlight>
                            <a:srgbClr val="FFFF00"/>
                          </a:highlight>
                          <a:latin typeface="Arial" panose="020B0604020202020204" pitchFamily="34" charset="0"/>
                          <a:ea typeface="+mn-ea"/>
                          <a:cs typeface="Arial" panose="020B0604020202020204" pitchFamily="34" charset="0"/>
                        </a:rPr>
                        <a:t>[Name and contact information]</a:t>
                      </a:r>
                      <a:endParaRPr lang="en-US" dirty="0">
                        <a:highlight>
                          <a:srgbClr val="FFFF00"/>
                        </a:highligh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76826340"/>
                  </a:ext>
                </a:extLst>
              </a:tr>
              <a:tr h="370840">
                <a:tc>
                  <a:txBody>
                    <a:bodyPr/>
                    <a:lstStyle/>
                    <a:p>
                      <a:r>
                        <a:rPr lang="en-US" b="0" dirty="0">
                          <a:latin typeface="Arial" panose="020B0604020202020204" pitchFamily="34" charset="0"/>
                          <a:cs typeface="Arial" panose="020B0604020202020204" pitchFamily="34" charset="0"/>
                        </a:rPr>
                        <a:t>UAT Completion Date:</a:t>
                      </a:r>
                    </a:p>
                  </a:txBody>
                  <a:tcPr/>
                </a:tc>
                <a:tc>
                  <a:txBody>
                    <a:bodyPr/>
                    <a:lstStyle/>
                    <a:p>
                      <a:r>
                        <a:rPr lang="en-US" sz="1800" b="0" i="0" kern="1200" dirty="0">
                          <a:solidFill>
                            <a:schemeClr val="dk1"/>
                          </a:solidFill>
                          <a:effectLst/>
                          <a:highlight>
                            <a:srgbClr val="FFFF00"/>
                          </a:highlight>
                          <a:latin typeface="Arial" panose="020B0604020202020204" pitchFamily="34" charset="0"/>
                          <a:ea typeface="+mn-ea"/>
                          <a:cs typeface="Arial" panose="020B0604020202020204" pitchFamily="34" charset="0"/>
                        </a:rPr>
                        <a:t>[Date of User Acceptance Testing completion]</a:t>
                      </a:r>
                      <a:endParaRPr lang="en-US" dirty="0">
                        <a:highlight>
                          <a:srgbClr val="FFFF00"/>
                        </a:highligh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619468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Go-live Date:</a:t>
                      </a:r>
                    </a:p>
                  </a:txBody>
                  <a:tcPr/>
                </a:tc>
                <a:tc>
                  <a:txBody>
                    <a:bodyPr/>
                    <a:lstStyle/>
                    <a:p>
                      <a:r>
                        <a:rPr lang="en-US" sz="1800" b="0" i="0" kern="1200" dirty="0">
                          <a:solidFill>
                            <a:schemeClr val="dk1"/>
                          </a:solidFill>
                          <a:effectLst/>
                          <a:highlight>
                            <a:srgbClr val="FFFF00"/>
                          </a:highlight>
                          <a:latin typeface="Arial" panose="020B0604020202020204" pitchFamily="34" charset="0"/>
                          <a:ea typeface="+mn-ea"/>
                          <a:cs typeface="Arial" panose="020B0604020202020204" pitchFamily="34" charset="0"/>
                        </a:rPr>
                        <a:t>[Scheduled go-live date]</a:t>
                      </a:r>
                      <a:endParaRPr lang="en-US" dirty="0">
                        <a:highlight>
                          <a:srgbClr val="FFFF00"/>
                        </a:highligh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77810165"/>
                  </a:ext>
                </a:extLst>
              </a:tr>
              <a:tr h="370840">
                <a:tc>
                  <a:txBody>
                    <a:bodyPr/>
                    <a:lstStyle/>
                    <a:p>
                      <a:r>
                        <a:rPr lang="en-US" b="0" dirty="0">
                          <a:latin typeface="Arial" panose="020B0604020202020204" pitchFamily="34" charset="0"/>
                          <a:cs typeface="Arial" panose="020B0604020202020204" pitchFamily="34" charset="0"/>
                        </a:rPr>
                        <a:t>Vendors:</a:t>
                      </a:r>
                    </a:p>
                  </a:txBody>
                  <a:tcPr/>
                </a:tc>
                <a:tc>
                  <a:txBody>
                    <a:bodyPr/>
                    <a:lstStyle/>
                    <a:p>
                      <a:r>
                        <a:rPr lang="en-US" sz="1800" b="0" i="0" kern="1200" dirty="0">
                          <a:solidFill>
                            <a:schemeClr val="dk1"/>
                          </a:solidFill>
                          <a:effectLst/>
                          <a:highlight>
                            <a:srgbClr val="FFFF00"/>
                          </a:highlight>
                          <a:latin typeface="Arial" panose="020B0604020202020204" pitchFamily="34" charset="0"/>
                          <a:ea typeface="+mn-ea"/>
                          <a:cs typeface="Arial" panose="020B0604020202020204" pitchFamily="34" charset="0"/>
                        </a:rPr>
                        <a:t>[List all vendors and sub-contractors involved]</a:t>
                      </a:r>
                      <a:endParaRPr lang="en-US" dirty="0">
                        <a:highlight>
                          <a:srgbClr val="FFFF00"/>
                        </a:highligh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28675877"/>
                  </a:ext>
                </a:extLst>
              </a:tr>
            </a:tbl>
          </a:graphicData>
        </a:graphic>
      </p:graphicFrame>
      <p:sp>
        <p:nvSpPr>
          <p:cNvPr id="5" name="TextBox 4">
            <a:extLst>
              <a:ext uri="{FF2B5EF4-FFF2-40B4-BE49-F238E27FC236}">
                <a16:creationId xmlns:a16="http://schemas.microsoft.com/office/drawing/2014/main" id="{90FC2FAC-3FC1-5D4D-D8F8-E2A91CC7B2D8}"/>
              </a:ext>
            </a:extLst>
          </p:cNvPr>
          <p:cNvSpPr txBox="1"/>
          <p:nvPr/>
        </p:nvSpPr>
        <p:spPr>
          <a:xfrm>
            <a:off x="1277655" y="1453019"/>
            <a:ext cx="7014575" cy="369332"/>
          </a:xfrm>
          <a:prstGeom prst="rect">
            <a:avLst/>
          </a:prstGeom>
          <a:noFill/>
        </p:spPr>
        <p:txBody>
          <a:bodyPr wrap="square" rtlCol="0">
            <a:spAutoFit/>
          </a:bodyPr>
          <a:lstStyle/>
          <a:p>
            <a:r>
              <a:rPr lang="en-US" b="1" dirty="0"/>
              <a:t>Table 1: Profile of State &amp; System Information</a:t>
            </a:r>
          </a:p>
        </p:txBody>
      </p:sp>
    </p:spTree>
    <p:extLst>
      <p:ext uri="{BB962C8B-B14F-4D97-AF65-F5344CB8AC3E}">
        <p14:creationId xmlns:p14="http://schemas.microsoft.com/office/powerpoint/2010/main" val="234994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1CFB9-8A48-954C-2475-F571CEA2A41E}"/>
              </a:ext>
            </a:extLst>
          </p:cNvPr>
          <p:cNvSpPr>
            <a:spLocks noGrp="1"/>
          </p:cNvSpPr>
          <p:nvPr>
            <p:ph type="ctrTitle"/>
          </p:nvPr>
        </p:nvSpPr>
        <p:spPr/>
        <p:txBody>
          <a:bodyPr/>
          <a:lstStyle/>
          <a:p>
            <a:r>
              <a:rPr lang="en-US" sz="3750" dirty="0"/>
              <a:t>What Is SMC?</a:t>
            </a:r>
          </a:p>
        </p:txBody>
      </p:sp>
      <p:sp>
        <p:nvSpPr>
          <p:cNvPr id="4" name="Content Placeholder 3">
            <a:extLst>
              <a:ext uri="{FF2B5EF4-FFF2-40B4-BE49-F238E27FC236}">
                <a16:creationId xmlns:a16="http://schemas.microsoft.com/office/drawing/2014/main" id="{773D9878-4C6E-A2C1-BE55-61FDC6FDDF29}"/>
              </a:ext>
            </a:extLst>
          </p:cNvPr>
          <p:cNvSpPr>
            <a:spLocks noGrp="1"/>
          </p:cNvSpPr>
          <p:nvPr>
            <p:ph type="body" sz="quarter" idx="10"/>
          </p:nvPr>
        </p:nvSpPr>
        <p:spPr>
          <a:xfrm>
            <a:off x="928255" y="1313846"/>
            <a:ext cx="9718868" cy="4142073"/>
          </a:xfrm>
        </p:spPr>
        <p:txBody>
          <a:bodyPr lIns="91440" tIns="45720" rIns="91440" bIns="45720" anchor="t"/>
          <a:lstStyle/>
          <a:p>
            <a:pPr marL="227965" indent="-227965">
              <a:lnSpc>
                <a:spcPct val="100000"/>
              </a:lnSpc>
            </a:pPr>
            <a:r>
              <a:rPr lang="en-US" sz="2400" dirty="0"/>
              <a:t>SMC is the required procedure for States to achieve certification for specific modules in their MES.</a:t>
            </a:r>
            <a:endParaRPr lang="en-US" dirty="0"/>
          </a:p>
          <a:p>
            <a:pPr marL="227965" indent="-227965">
              <a:lnSpc>
                <a:spcPct val="100000"/>
              </a:lnSpc>
            </a:pPr>
            <a:r>
              <a:rPr lang="en-US" sz="2400" dirty="0"/>
              <a:t>Under 42 CFR </a:t>
            </a:r>
            <a:r>
              <a:rPr lang="en-US" sz="2400" dirty="0">
                <a:latin typeface="Calibri" panose="020F0502020204030204" pitchFamily="34" charset="0"/>
                <a:ea typeface="Calibri" panose="020F0502020204030204" pitchFamily="34" charset="0"/>
                <a:cs typeface="Calibri" panose="020F0502020204030204" pitchFamily="34" charset="0"/>
              </a:rPr>
              <a:t>§</a:t>
            </a:r>
            <a:r>
              <a:rPr lang="en-US" sz="2400" dirty="0"/>
              <a:t>433.116, SMC is the mechanism for States to gain approval for enhanced Federal Financial Participation (FFP), which enables a 75% funding rate for certified systems once CMS conditions are met.​</a:t>
            </a:r>
          </a:p>
          <a:p>
            <a:pPr marL="227965" indent="-227965">
              <a:lnSpc>
                <a:spcPct val="100000"/>
              </a:lnSpc>
            </a:pPr>
            <a:r>
              <a:rPr lang="en-US" sz="2400" dirty="0"/>
              <a:t>SMC ensures States are compliant </a:t>
            </a:r>
            <a:r>
              <a:rPr lang="en-US" sz="2400" dirty="0">
                <a:latin typeface="Arial"/>
                <a:cs typeface="Arial"/>
              </a:rPr>
              <a:t>with key statutory and regulatory requirements.</a:t>
            </a:r>
          </a:p>
          <a:p>
            <a:pPr marL="0" indent="0">
              <a:lnSpc>
                <a:spcPct val="100000"/>
              </a:lnSpc>
              <a:buNone/>
            </a:pPr>
            <a:endParaRPr lang="en-US" sz="2400" dirty="0"/>
          </a:p>
        </p:txBody>
      </p:sp>
      <p:sp>
        <p:nvSpPr>
          <p:cNvPr id="3" name="Slide Number Placeholder 2">
            <a:extLst>
              <a:ext uri="{FF2B5EF4-FFF2-40B4-BE49-F238E27FC236}">
                <a16:creationId xmlns:a16="http://schemas.microsoft.com/office/drawing/2014/main" id="{AD3D9C2D-BF68-96C1-ABF2-864A15A98E0E}"/>
              </a:ext>
            </a:extLst>
          </p:cNvPr>
          <p:cNvSpPr>
            <a:spLocks noGrp="1"/>
          </p:cNvSpPr>
          <p:nvPr>
            <p:ph type="sldNum" sz="quarter" idx="4"/>
          </p:nvPr>
        </p:nvSpPr>
        <p:spPr/>
        <p:txBody>
          <a:bodyPr/>
          <a:lstStyle/>
          <a:p>
            <a:fld id="{295008BC-DA31-4D19-837B-EFA4386B05F5}" type="slidenum">
              <a:rPr lang="en-US" smtClean="0"/>
              <a:t>5</a:t>
            </a:fld>
            <a:endParaRPr lang="en-US" dirty="0"/>
          </a:p>
        </p:txBody>
      </p:sp>
    </p:spTree>
    <p:extLst>
      <p:ext uri="{BB962C8B-B14F-4D97-AF65-F5344CB8AC3E}">
        <p14:creationId xmlns:p14="http://schemas.microsoft.com/office/powerpoint/2010/main" val="3918338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393EF-9A9A-232D-5181-337586F64707}"/>
              </a:ext>
            </a:extLst>
          </p:cNvPr>
          <p:cNvSpPr>
            <a:spLocks noGrp="1"/>
          </p:cNvSpPr>
          <p:nvPr>
            <p:ph type="ctrTitle"/>
          </p:nvPr>
        </p:nvSpPr>
        <p:spPr>
          <a:xfrm>
            <a:off x="493486" y="111394"/>
            <a:ext cx="9144000" cy="745048"/>
          </a:xfrm>
        </p:spPr>
        <p:txBody>
          <a:bodyPr>
            <a:normAutofit/>
          </a:bodyPr>
          <a:lstStyle/>
          <a:p>
            <a:pPr algn="l"/>
            <a:r>
              <a:rPr lang="en-US" sz="3750" dirty="0"/>
              <a:t>SMC Touchpoints </a:t>
            </a:r>
          </a:p>
        </p:txBody>
      </p:sp>
      <p:sp>
        <p:nvSpPr>
          <p:cNvPr id="6" name="TextBox 5">
            <a:extLst>
              <a:ext uri="{FF2B5EF4-FFF2-40B4-BE49-F238E27FC236}">
                <a16:creationId xmlns:a16="http://schemas.microsoft.com/office/drawing/2014/main" id="{8BDCFF71-A5CE-F9D0-E740-DED289B7F4DA}"/>
              </a:ext>
            </a:extLst>
          </p:cNvPr>
          <p:cNvSpPr txBox="1"/>
          <p:nvPr/>
        </p:nvSpPr>
        <p:spPr>
          <a:xfrm>
            <a:off x="6096000" y="222308"/>
            <a:ext cx="5990477" cy="523220"/>
          </a:xfrm>
          <a:prstGeom prst="rect">
            <a:avLst/>
          </a:prstGeom>
          <a:solidFill>
            <a:schemeClr val="accent1">
              <a:lumMod val="20000"/>
              <a:lumOff val="80000"/>
            </a:schemeClr>
          </a:solidFill>
        </p:spPr>
        <p:txBody>
          <a:bodyPr wrap="square" rtlCol="0">
            <a:spAutoFit/>
          </a:bodyPr>
          <a:lstStyle/>
          <a:p>
            <a:r>
              <a:rPr lang="en-US" sz="1400" b="1" dirty="0">
                <a:latin typeface="Arial" panose="020B0604020202020204" pitchFamily="34" charset="0"/>
                <a:cs typeface="Arial" panose="020B0604020202020204" pitchFamily="34" charset="0"/>
              </a:rPr>
              <a:t>These are the three IT lifecycle phases (DDI to operations). The unshaded boxes are the SMC touchpoints.</a:t>
            </a:r>
          </a:p>
        </p:txBody>
      </p:sp>
      <p:sp>
        <p:nvSpPr>
          <p:cNvPr id="3" name="Slide Number Placeholder 2">
            <a:extLst>
              <a:ext uri="{FF2B5EF4-FFF2-40B4-BE49-F238E27FC236}">
                <a16:creationId xmlns:a16="http://schemas.microsoft.com/office/drawing/2014/main" id="{E47FEA17-8D5B-D606-C8E0-8D9466DE47C4}"/>
              </a:ext>
            </a:extLst>
          </p:cNvPr>
          <p:cNvSpPr>
            <a:spLocks noGrp="1"/>
          </p:cNvSpPr>
          <p:nvPr>
            <p:ph type="sldNum" sz="quarter" idx="4"/>
          </p:nvPr>
        </p:nvSpPr>
        <p:spPr/>
        <p:txBody>
          <a:bodyPr/>
          <a:lstStyle/>
          <a:p>
            <a:fld id="{307C9BC6-3632-4035-A6F8-73DB694A0BF4}" type="slidenum">
              <a:rPr lang="en-US" smtClean="0"/>
              <a:t>6</a:t>
            </a:fld>
            <a:endParaRPr lang="en-US" dirty="0"/>
          </a:p>
        </p:txBody>
      </p:sp>
      <p:pic>
        <p:nvPicPr>
          <p:cNvPr id="5" name="Picture 4" descr="Engagement during each phase of the IT investment lifecycle will include Planning, Development, and Production. More explanation in the notes section.">
            <a:extLst>
              <a:ext uri="{FF2B5EF4-FFF2-40B4-BE49-F238E27FC236}">
                <a16:creationId xmlns:a16="http://schemas.microsoft.com/office/drawing/2014/main" id="{10BC1A68-6A64-92E3-EEA0-7728F341429A}"/>
              </a:ext>
            </a:extLst>
          </p:cNvPr>
          <p:cNvPicPr>
            <a:picLocks noChangeAspect="1"/>
          </p:cNvPicPr>
          <p:nvPr/>
        </p:nvPicPr>
        <p:blipFill>
          <a:blip r:embed="rId3"/>
          <a:stretch>
            <a:fillRect/>
          </a:stretch>
        </p:blipFill>
        <p:spPr>
          <a:xfrm>
            <a:off x="183003" y="908152"/>
            <a:ext cx="11903474" cy="5813324"/>
          </a:xfrm>
          <a:prstGeom prst="rect">
            <a:avLst/>
          </a:prstGeom>
        </p:spPr>
      </p:pic>
    </p:spTree>
    <p:extLst>
      <p:ext uri="{BB962C8B-B14F-4D97-AF65-F5344CB8AC3E}">
        <p14:creationId xmlns:p14="http://schemas.microsoft.com/office/powerpoint/2010/main" val="3074605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CB3E-A4DC-DC4A-707C-37D2DB77D83B}"/>
              </a:ext>
            </a:extLst>
          </p:cNvPr>
          <p:cNvSpPr>
            <a:spLocks noGrp="1"/>
          </p:cNvSpPr>
          <p:nvPr>
            <p:ph type="ctrTitle"/>
          </p:nvPr>
        </p:nvSpPr>
        <p:spPr/>
        <p:txBody>
          <a:bodyPr/>
          <a:lstStyle/>
          <a:p>
            <a:r>
              <a:rPr lang="en-US" sz="3750" dirty="0"/>
              <a:t>SMC Milestones</a:t>
            </a:r>
          </a:p>
        </p:txBody>
      </p:sp>
      <p:sp>
        <p:nvSpPr>
          <p:cNvPr id="3" name="Slide Number Placeholder 2">
            <a:extLst>
              <a:ext uri="{FF2B5EF4-FFF2-40B4-BE49-F238E27FC236}">
                <a16:creationId xmlns:a16="http://schemas.microsoft.com/office/drawing/2014/main" id="{C73F5939-364A-41C0-7F82-92EE66AC4937}"/>
              </a:ext>
            </a:extLst>
          </p:cNvPr>
          <p:cNvSpPr>
            <a:spLocks noGrp="1"/>
          </p:cNvSpPr>
          <p:nvPr>
            <p:ph type="sldNum" sz="quarter" idx="4"/>
          </p:nvPr>
        </p:nvSpPr>
        <p:spPr/>
        <p:txBody>
          <a:bodyPr/>
          <a:lstStyle/>
          <a:p>
            <a:fld id="{295008BC-DA31-4D19-837B-EFA4386B05F5}" type="slidenum">
              <a:rPr lang="en-US" smtClean="0"/>
              <a:t>7</a:t>
            </a:fld>
            <a:endParaRPr lang="en-US" dirty="0"/>
          </a:p>
        </p:txBody>
      </p:sp>
      <p:grpSp>
        <p:nvGrpSpPr>
          <p:cNvPr id="13" name="Group 12">
            <a:extLst>
              <a:ext uri="{FF2B5EF4-FFF2-40B4-BE49-F238E27FC236}">
                <a16:creationId xmlns:a16="http://schemas.microsoft.com/office/drawing/2014/main" id="{8789BE3B-58E4-B578-4D45-B72F18852F40}"/>
              </a:ext>
              <a:ext uri="{C183D7F6-B498-43B3-948B-1728B52AA6E4}">
                <adec:decorative xmlns:adec="http://schemas.microsoft.com/office/drawing/2017/decorative" val="1"/>
              </a:ext>
            </a:extLst>
          </p:cNvPr>
          <p:cNvGrpSpPr/>
          <p:nvPr/>
        </p:nvGrpSpPr>
        <p:grpSpPr>
          <a:xfrm>
            <a:off x="2136386" y="2759144"/>
            <a:ext cx="8126014" cy="3962331"/>
            <a:chOff x="2136386" y="2759144"/>
            <a:chExt cx="8126014" cy="3962331"/>
          </a:xfrm>
        </p:grpSpPr>
        <p:sp>
          <p:nvSpPr>
            <p:cNvPr id="14" name="Freeform: Shape 13">
              <a:extLst>
                <a:ext uri="{FF2B5EF4-FFF2-40B4-BE49-F238E27FC236}">
                  <a16:creationId xmlns:a16="http://schemas.microsoft.com/office/drawing/2014/main" id="{AD1A9626-B699-5E18-14BB-9CCF83C4DE1F}"/>
                </a:ext>
              </a:extLst>
            </p:cNvPr>
            <p:cNvSpPr/>
            <p:nvPr/>
          </p:nvSpPr>
          <p:spPr>
            <a:xfrm rot="21600000">
              <a:off x="2136386" y="2759144"/>
              <a:ext cx="2579687" cy="3962331"/>
            </a:xfrm>
            <a:custGeom>
              <a:avLst/>
              <a:gdLst>
                <a:gd name="csX0" fmla="*/ 0 w 10000"/>
                <a:gd name="csY0" fmla="*/ 0 h 10000"/>
                <a:gd name="csX1" fmla="*/ 10000 w 10000"/>
                <a:gd name="csY1" fmla="*/ 0 h 10000"/>
                <a:gd name="csX2" fmla="*/ 8000 w 10000"/>
                <a:gd name="csY2" fmla="*/ 10000 h 10000"/>
                <a:gd name="csX3" fmla="*/ 2000 w 10000"/>
                <a:gd name="csY3" fmla="*/ 10000 h 10000"/>
                <a:gd name="csX4" fmla="*/ 0 w 10000"/>
                <a:gd name="csY4" fmla="*/ 0 h 10000"/>
              </a:gdLst>
              <a:ahLst/>
              <a:cxnLst>
                <a:cxn ang="0">
                  <a:pos x="csX0" y="csY0"/>
                </a:cxn>
                <a:cxn ang="0">
                  <a:pos x="csX1" y="csY1"/>
                </a:cxn>
                <a:cxn ang="0">
                  <a:pos x="csX2" y="csY2"/>
                </a:cxn>
                <a:cxn ang="0">
                  <a:pos x="csX3" y="csY3"/>
                </a:cxn>
                <a:cxn ang="0">
                  <a:pos x="csX4" y="cs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412750" tIns="792466" rIns="412750" bIns="792466"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sp>
          <p:nvSpPr>
            <p:cNvPr id="16" name="Freeform: Shape 15">
              <a:extLst>
                <a:ext uri="{FF2B5EF4-FFF2-40B4-BE49-F238E27FC236}">
                  <a16:creationId xmlns:a16="http://schemas.microsoft.com/office/drawing/2014/main" id="{73A76A36-D12F-5EE9-E5D3-849D6413A479}"/>
                </a:ext>
              </a:extLst>
            </p:cNvPr>
            <p:cNvSpPr/>
            <p:nvPr/>
          </p:nvSpPr>
          <p:spPr>
            <a:xfrm rot="21600000">
              <a:off x="4909549" y="2759144"/>
              <a:ext cx="2579687" cy="3962331"/>
            </a:xfrm>
            <a:custGeom>
              <a:avLst/>
              <a:gdLst>
                <a:gd name="csX0" fmla="*/ 0 w 10000"/>
                <a:gd name="csY0" fmla="*/ 0 h 10000"/>
                <a:gd name="csX1" fmla="*/ 10000 w 10000"/>
                <a:gd name="csY1" fmla="*/ 0 h 10000"/>
                <a:gd name="csX2" fmla="*/ 8000 w 10000"/>
                <a:gd name="csY2" fmla="*/ 10000 h 10000"/>
                <a:gd name="csX3" fmla="*/ 2000 w 10000"/>
                <a:gd name="csY3" fmla="*/ 10000 h 10000"/>
                <a:gd name="csX4" fmla="*/ 0 w 10000"/>
                <a:gd name="csY4" fmla="*/ 0 h 10000"/>
              </a:gdLst>
              <a:ahLst/>
              <a:cxnLst>
                <a:cxn ang="0">
                  <a:pos x="csX0" y="csY0"/>
                </a:cxn>
                <a:cxn ang="0">
                  <a:pos x="csX1" y="csY1"/>
                </a:cxn>
                <a:cxn ang="0">
                  <a:pos x="csX2" y="csY2"/>
                </a:cxn>
                <a:cxn ang="0">
                  <a:pos x="csX3" y="csY3"/>
                </a:cxn>
                <a:cxn ang="0">
                  <a:pos x="csX4" y="cs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412750" tIns="792466" rIns="412750" bIns="792466"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sp>
          <p:nvSpPr>
            <p:cNvPr id="18" name="Freeform: Shape 17">
              <a:extLst>
                <a:ext uri="{FF2B5EF4-FFF2-40B4-BE49-F238E27FC236}">
                  <a16:creationId xmlns:a16="http://schemas.microsoft.com/office/drawing/2014/main" id="{1C516C93-579F-1C77-5DA8-43CD56A8E539}"/>
                </a:ext>
              </a:extLst>
            </p:cNvPr>
            <p:cNvSpPr/>
            <p:nvPr/>
          </p:nvSpPr>
          <p:spPr>
            <a:xfrm rot="21600000">
              <a:off x="7682713" y="2759144"/>
              <a:ext cx="2579687" cy="3962331"/>
            </a:xfrm>
            <a:custGeom>
              <a:avLst/>
              <a:gdLst>
                <a:gd name="csX0" fmla="*/ 0 w 10000"/>
                <a:gd name="csY0" fmla="*/ 0 h 10000"/>
                <a:gd name="csX1" fmla="*/ 10000 w 10000"/>
                <a:gd name="csY1" fmla="*/ 0 h 10000"/>
                <a:gd name="csX2" fmla="*/ 8000 w 10000"/>
                <a:gd name="csY2" fmla="*/ 10000 h 10000"/>
                <a:gd name="csX3" fmla="*/ 2000 w 10000"/>
                <a:gd name="csY3" fmla="*/ 10000 h 10000"/>
                <a:gd name="csX4" fmla="*/ 0 w 10000"/>
                <a:gd name="csY4" fmla="*/ 0 h 10000"/>
              </a:gdLst>
              <a:ahLst/>
              <a:cxnLst>
                <a:cxn ang="0">
                  <a:pos x="csX0" y="csY0"/>
                </a:cxn>
                <a:cxn ang="0">
                  <a:pos x="csX1" y="csY1"/>
                </a:cxn>
                <a:cxn ang="0">
                  <a:pos x="csX2" y="csY2"/>
                </a:cxn>
                <a:cxn ang="0">
                  <a:pos x="csX3" y="csY3"/>
                </a:cxn>
                <a:cxn ang="0">
                  <a:pos x="csX4" y="csY4"/>
                </a:cxn>
              </a:cxnLst>
              <a:rect l="l" t="t" r="r" b="b"/>
              <a:pathLst>
                <a:path w="10000" h="10000">
                  <a:moveTo>
                    <a:pt x="0" y="10000"/>
                  </a:moveTo>
                  <a:lnTo>
                    <a:pt x="0" y="0"/>
                  </a:lnTo>
                  <a:lnTo>
                    <a:pt x="10000" y="2000"/>
                  </a:lnTo>
                  <a:lnTo>
                    <a:pt x="10000" y="8000"/>
                  </a:lnTo>
                  <a:lnTo>
                    <a:pt x="0" y="1000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412750" tIns="792466" rIns="412750" bIns="792466"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grpSp>
      <p:grpSp>
        <p:nvGrpSpPr>
          <p:cNvPr id="5" name="Group 4">
            <a:extLst>
              <a:ext uri="{FF2B5EF4-FFF2-40B4-BE49-F238E27FC236}">
                <a16:creationId xmlns:a16="http://schemas.microsoft.com/office/drawing/2014/main" id="{EA8FE398-C90B-5DB5-4713-69D076248B53}"/>
              </a:ext>
              <a:ext uri="{C183D7F6-B498-43B3-948B-1728B52AA6E4}">
                <adec:decorative xmlns:adec="http://schemas.microsoft.com/office/drawing/2017/decorative" val="1"/>
              </a:ext>
            </a:extLst>
          </p:cNvPr>
          <p:cNvGrpSpPr/>
          <p:nvPr/>
        </p:nvGrpSpPr>
        <p:grpSpPr>
          <a:xfrm>
            <a:off x="2302510" y="1087729"/>
            <a:ext cx="7674608" cy="2494803"/>
            <a:chOff x="2302510" y="1087729"/>
            <a:chExt cx="7674608" cy="2494803"/>
          </a:xfrm>
        </p:grpSpPr>
        <p:sp>
          <p:nvSpPr>
            <p:cNvPr id="6" name="Oval 5">
              <a:extLst>
                <a:ext uri="{FF2B5EF4-FFF2-40B4-BE49-F238E27FC236}">
                  <a16:creationId xmlns:a16="http://schemas.microsoft.com/office/drawing/2014/main" id="{4993479A-9E9F-5DBB-0FFA-32B89E08D6DA}"/>
                </a:ext>
              </a:extLst>
            </p:cNvPr>
            <p:cNvSpPr/>
            <p:nvPr/>
          </p:nvSpPr>
          <p:spPr>
            <a:xfrm>
              <a:off x="7490067" y="1095020"/>
              <a:ext cx="2487051" cy="2487512"/>
            </a:xfrm>
            <a:prstGeom prst="ellipse">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E806D2CE-4852-5279-78C6-4E463E0428A3}"/>
                </a:ext>
              </a:extLst>
            </p:cNvPr>
            <p:cNvSpPr/>
            <p:nvPr/>
          </p:nvSpPr>
          <p:spPr>
            <a:xfrm>
              <a:off x="7545099" y="1125377"/>
              <a:ext cx="2321896" cy="2321648"/>
            </a:xfrm>
            <a:custGeom>
              <a:avLst/>
              <a:gdLst>
                <a:gd name="csX0" fmla="*/ 0 w 2321896"/>
                <a:gd name="csY0" fmla="*/ 1160824 h 2321648"/>
                <a:gd name="csX1" fmla="*/ 1160948 w 2321896"/>
                <a:gd name="csY1" fmla="*/ 0 h 2321648"/>
                <a:gd name="csX2" fmla="*/ 2321896 w 2321896"/>
                <a:gd name="csY2" fmla="*/ 1160824 h 2321648"/>
                <a:gd name="csX3" fmla="*/ 1160948 w 2321896"/>
                <a:gd name="csY3" fmla="*/ 2321648 h 2321648"/>
                <a:gd name="csX4" fmla="*/ 0 w 2321896"/>
                <a:gd name="csY4" fmla="*/ 1160824 h 2321648"/>
              </a:gdLst>
              <a:ahLst/>
              <a:cxnLst>
                <a:cxn ang="0">
                  <a:pos x="csX0" y="csY0"/>
                </a:cxn>
                <a:cxn ang="0">
                  <a:pos x="csX1" y="csY1"/>
                </a:cxn>
                <a:cxn ang="0">
                  <a:pos x="csX2" y="csY2"/>
                </a:cxn>
                <a:cxn ang="0">
                  <a:pos x="csX3" y="csY3"/>
                </a:cxn>
                <a:cxn ang="0">
                  <a:pos x="csX4" y="csY4"/>
                </a:cxn>
              </a:cxnLst>
              <a:rect l="l" t="t" r="r" b="b"/>
              <a:pathLst>
                <a:path w="2321896" h="2321648">
                  <a:moveTo>
                    <a:pt x="0" y="1160824"/>
                  </a:moveTo>
                  <a:cubicBezTo>
                    <a:pt x="0" y="519719"/>
                    <a:pt x="519774" y="0"/>
                    <a:pt x="1160948" y="0"/>
                  </a:cubicBezTo>
                  <a:cubicBezTo>
                    <a:pt x="1802122" y="0"/>
                    <a:pt x="2321896" y="519719"/>
                    <a:pt x="2321896" y="1160824"/>
                  </a:cubicBezTo>
                  <a:cubicBezTo>
                    <a:pt x="2321896" y="1801929"/>
                    <a:pt x="1802122" y="2321648"/>
                    <a:pt x="1160948" y="2321648"/>
                  </a:cubicBezTo>
                  <a:cubicBezTo>
                    <a:pt x="519774" y="2321648"/>
                    <a:pt x="0" y="1801929"/>
                    <a:pt x="0" y="1160824"/>
                  </a:cubicBezTo>
                  <a:close/>
                </a:path>
              </a:pathLst>
            </a:custGeom>
            <a:scene3d>
              <a:camera prst="orthographicFront"/>
              <a:lightRig rig="flat" dir="t"/>
            </a:scene3d>
            <a:sp3d z="190500" extrusionH="12700" prstMaterial="plastic">
              <a:bevelT w="50800" h="50800"/>
            </a:sp3d>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4481" tIns="414276" rIns="414481" bIns="414277"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sp>
          <p:nvSpPr>
            <p:cNvPr id="8" name="Teardrop 7">
              <a:extLst>
                <a:ext uri="{FF2B5EF4-FFF2-40B4-BE49-F238E27FC236}">
                  <a16:creationId xmlns:a16="http://schemas.microsoft.com/office/drawing/2014/main" id="{5D67C171-2EBA-3150-05ED-8CEB1A4FBD7E}"/>
                </a:ext>
              </a:extLst>
            </p:cNvPr>
            <p:cNvSpPr/>
            <p:nvPr/>
          </p:nvSpPr>
          <p:spPr>
            <a:xfrm rot="2700000">
              <a:off x="4872949" y="1087729"/>
              <a:ext cx="2481061" cy="2481061"/>
            </a:xfrm>
            <a:prstGeom prst="teardrop">
              <a:avLst>
                <a:gd name="adj" fmla="val 100000"/>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1F080586-6690-896F-9C73-42C0AB1D3DEC}"/>
                </a:ext>
              </a:extLst>
            </p:cNvPr>
            <p:cNvSpPr/>
            <p:nvPr/>
          </p:nvSpPr>
          <p:spPr>
            <a:xfrm>
              <a:off x="4952532" y="1167654"/>
              <a:ext cx="2321896" cy="2321648"/>
            </a:xfrm>
            <a:custGeom>
              <a:avLst/>
              <a:gdLst>
                <a:gd name="csX0" fmla="*/ 0 w 2321896"/>
                <a:gd name="csY0" fmla="*/ 1160824 h 2321648"/>
                <a:gd name="csX1" fmla="*/ 1160948 w 2321896"/>
                <a:gd name="csY1" fmla="*/ 0 h 2321648"/>
                <a:gd name="csX2" fmla="*/ 2321896 w 2321896"/>
                <a:gd name="csY2" fmla="*/ 1160824 h 2321648"/>
                <a:gd name="csX3" fmla="*/ 1160948 w 2321896"/>
                <a:gd name="csY3" fmla="*/ 2321648 h 2321648"/>
                <a:gd name="csX4" fmla="*/ 0 w 2321896"/>
                <a:gd name="csY4" fmla="*/ 1160824 h 2321648"/>
              </a:gdLst>
              <a:ahLst/>
              <a:cxnLst>
                <a:cxn ang="0">
                  <a:pos x="csX0" y="csY0"/>
                </a:cxn>
                <a:cxn ang="0">
                  <a:pos x="csX1" y="csY1"/>
                </a:cxn>
                <a:cxn ang="0">
                  <a:pos x="csX2" y="csY2"/>
                </a:cxn>
                <a:cxn ang="0">
                  <a:pos x="csX3" y="csY3"/>
                </a:cxn>
                <a:cxn ang="0">
                  <a:pos x="csX4" y="csY4"/>
                </a:cxn>
              </a:cxnLst>
              <a:rect l="l" t="t" r="r" b="b"/>
              <a:pathLst>
                <a:path w="2321896" h="2321648">
                  <a:moveTo>
                    <a:pt x="0" y="1160824"/>
                  </a:moveTo>
                  <a:cubicBezTo>
                    <a:pt x="0" y="519719"/>
                    <a:pt x="519774" y="0"/>
                    <a:pt x="1160948" y="0"/>
                  </a:cubicBezTo>
                  <a:cubicBezTo>
                    <a:pt x="1802122" y="0"/>
                    <a:pt x="2321896" y="519719"/>
                    <a:pt x="2321896" y="1160824"/>
                  </a:cubicBezTo>
                  <a:cubicBezTo>
                    <a:pt x="2321896" y="1801929"/>
                    <a:pt x="1802122" y="2321648"/>
                    <a:pt x="1160948" y="2321648"/>
                  </a:cubicBezTo>
                  <a:cubicBezTo>
                    <a:pt x="519774" y="2321648"/>
                    <a:pt x="0" y="1801929"/>
                    <a:pt x="0" y="1160824"/>
                  </a:cubicBezTo>
                  <a:close/>
                </a:path>
              </a:pathLst>
            </a:custGeom>
            <a:scene3d>
              <a:camera prst="orthographicFront"/>
              <a:lightRig rig="flat" dir="t"/>
            </a:scene3d>
            <a:sp3d z="190500" extrusionH="12700" prstMaterial="plastic">
              <a:bevelT w="50800" h="50800"/>
            </a:sp3d>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4480" tIns="414276" rIns="414482" bIns="414277"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sp>
          <p:nvSpPr>
            <p:cNvPr id="11" name="Teardrop 10">
              <a:extLst>
                <a:ext uri="{FF2B5EF4-FFF2-40B4-BE49-F238E27FC236}">
                  <a16:creationId xmlns:a16="http://schemas.microsoft.com/office/drawing/2014/main" id="{D7E09E4D-8CC1-FF66-BCB8-5D5C72E5F4DF}"/>
                </a:ext>
              </a:extLst>
            </p:cNvPr>
            <p:cNvSpPr/>
            <p:nvPr/>
          </p:nvSpPr>
          <p:spPr>
            <a:xfrm rot="2700000">
              <a:off x="2302510" y="1087729"/>
              <a:ext cx="2481061" cy="2481061"/>
            </a:xfrm>
            <a:prstGeom prst="teardrop">
              <a:avLst>
                <a:gd name="adj" fmla="val 100000"/>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A5EEC11-3699-A1DF-23C9-26D6005FE335}"/>
                </a:ext>
              </a:extLst>
            </p:cNvPr>
            <p:cNvSpPr/>
            <p:nvPr/>
          </p:nvSpPr>
          <p:spPr>
            <a:xfrm>
              <a:off x="2382092" y="1167654"/>
              <a:ext cx="2321896" cy="2321648"/>
            </a:xfrm>
            <a:custGeom>
              <a:avLst/>
              <a:gdLst>
                <a:gd name="csX0" fmla="*/ 0 w 2321896"/>
                <a:gd name="csY0" fmla="*/ 1160824 h 2321648"/>
                <a:gd name="csX1" fmla="*/ 1160948 w 2321896"/>
                <a:gd name="csY1" fmla="*/ 0 h 2321648"/>
                <a:gd name="csX2" fmla="*/ 2321896 w 2321896"/>
                <a:gd name="csY2" fmla="*/ 1160824 h 2321648"/>
                <a:gd name="csX3" fmla="*/ 1160948 w 2321896"/>
                <a:gd name="csY3" fmla="*/ 2321648 h 2321648"/>
                <a:gd name="csX4" fmla="*/ 0 w 2321896"/>
                <a:gd name="csY4" fmla="*/ 1160824 h 2321648"/>
              </a:gdLst>
              <a:ahLst/>
              <a:cxnLst>
                <a:cxn ang="0">
                  <a:pos x="csX0" y="csY0"/>
                </a:cxn>
                <a:cxn ang="0">
                  <a:pos x="csX1" y="csY1"/>
                </a:cxn>
                <a:cxn ang="0">
                  <a:pos x="csX2" y="csY2"/>
                </a:cxn>
                <a:cxn ang="0">
                  <a:pos x="csX3" y="csY3"/>
                </a:cxn>
                <a:cxn ang="0">
                  <a:pos x="csX4" y="csY4"/>
                </a:cxn>
              </a:cxnLst>
              <a:rect l="l" t="t" r="r" b="b"/>
              <a:pathLst>
                <a:path w="2321896" h="2321648">
                  <a:moveTo>
                    <a:pt x="0" y="1160824"/>
                  </a:moveTo>
                  <a:cubicBezTo>
                    <a:pt x="0" y="519719"/>
                    <a:pt x="519774" y="0"/>
                    <a:pt x="1160948" y="0"/>
                  </a:cubicBezTo>
                  <a:cubicBezTo>
                    <a:pt x="1802122" y="0"/>
                    <a:pt x="2321896" y="519719"/>
                    <a:pt x="2321896" y="1160824"/>
                  </a:cubicBezTo>
                  <a:cubicBezTo>
                    <a:pt x="2321896" y="1801929"/>
                    <a:pt x="1802122" y="2321648"/>
                    <a:pt x="1160948" y="2321648"/>
                  </a:cubicBezTo>
                  <a:cubicBezTo>
                    <a:pt x="519774" y="2321648"/>
                    <a:pt x="0" y="1801929"/>
                    <a:pt x="0" y="1160824"/>
                  </a:cubicBezTo>
                  <a:close/>
                </a:path>
              </a:pathLst>
            </a:custGeom>
            <a:scene3d>
              <a:camera prst="orthographicFront"/>
              <a:lightRig rig="flat" dir="t"/>
            </a:scene3d>
            <a:sp3d z="190500" extrusionH="12700" prstMaterial="plastic">
              <a:bevelT w="50800" h="50800"/>
            </a:sp3d>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4481" tIns="414276" rIns="414481" bIns="414277" numCol="1" spcCol="1270" anchor="ctr" anchorCtr="0">
              <a:noAutofit/>
            </a:bodyPr>
            <a:lstStyle/>
            <a:p>
              <a:pPr marL="0" lvl="0" indent="0" algn="ctr" defTabSz="2889250">
                <a:lnSpc>
                  <a:spcPct val="90000"/>
                </a:lnSpc>
                <a:spcBef>
                  <a:spcPct val="0"/>
                </a:spcBef>
                <a:spcAft>
                  <a:spcPct val="35000"/>
                </a:spcAft>
                <a:buNone/>
              </a:pPr>
              <a:endParaRPr lang="en-US" sz="6500" kern="1200" dirty="0"/>
            </a:p>
          </p:txBody>
        </p:sp>
      </p:grpSp>
      <p:pic>
        <p:nvPicPr>
          <p:cNvPr id="10" name="Graphic 9">
            <a:extLst>
              <a:ext uri="{FF2B5EF4-FFF2-40B4-BE49-F238E27FC236}">
                <a16:creationId xmlns:a16="http://schemas.microsoft.com/office/drawing/2014/main" id="{E2BCD6D8-03E4-15CC-8E1F-C17AC252EF1E}"/>
              </a:ext>
              <a:ext uri="{C183D7F6-B498-43B3-948B-1728B52AA6E4}">
                <adec:decorative xmlns:adec="http://schemas.microsoft.com/office/drawing/2017/decorative" val="1"/>
              </a:ext>
            </a:extLst>
          </p:cNvPr>
          <p:cNvPicPr>
            <a:picLocks noChangeAspect="1"/>
          </p:cNvPicPr>
          <p:nvPr/>
        </p:nvPicPr>
        <p:blipFill rotWithShape="1">
          <a:blip>
            <a:extLst>
              <a:ext uri="{96DAC541-7B7A-43D3-8B79-37D633B846F1}">
                <asvg:svgBlip xmlns:asvg="http://schemas.microsoft.com/office/drawing/2016/SVG/main" r:embed="rId3"/>
              </a:ext>
            </a:extLst>
          </a:blip>
          <a:srcRect l="13683" t="16466" r="15267" b="12178"/>
          <a:stretch/>
        </p:blipFill>
        <p:spPr>
          <a:xfrm>
            <a:off x="7299181" y="1125377"/>
            <a:ext cx="2693206" cy="2630900"/>
          </a:xfrm>
          <a:prstGeom prst="rect">
            <a:avLst/>
          </a:prstGeom>
        </p:spPr>
      </p:pic>
      <p:sp>
        <p:nvSpPr>
          <p:cNvPr id="19" name="TextBox 18">
            <a:extLst>
              <a:ext uri="{FF2B5EF4-FFF2-40B4-BE49-F238E27FC236}">
                <a16:creationId xmlns:a16="http://schemas.microsoft.com/office/drawing/2014/main" id="{744DADC2-8B88-E362-CB59-A4BC1A21E68C}"/>
              </a:ext>
            </a:extLst>
          </p:cNvPr>
          <p:cNvSpPr txBox="1"/>
          <p:nvPr/>
        </p:nvSpPr>
        <p:spPr>
          <a:xfrm>
            <a:off x="2199613" y="1561972"/>
            <a:ext cx="2685183" cy="1569660"/>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Operational</a:t>
            </a:r>
          </a:p>
          <a:p>
            <a:pPr algn="ctr"/>
            <a:r>
              <a:rPr lang="en-US" sz="2400" dirty="0">
                <a:latin typeface="Arial" panose="020B0604020202020204" pitchFamily="34" charset="0"/>
                <a:cs typeface="Arial" panose="020B0604020202020204" pitchFamily="34" charset="0"/>
              </a:rPr>
              <a:t>Readiness</a:t>
            </a:r>
          </a:p>
          <a:p>
            <a:pPr algn="ctr"/>
            <a:r>
              <a:rPr lang="en-US" sz="2400" dirty="0">
                <a:latin typeface="Arial" panose="020B0604020202020204" pitchFamily="34" charset="0"/>
                <a:cs typeface="Arial" panose="020B0604020202020204" pitchFamily="34" charset="0"/>
              </a:rPr>
              <a:t>Review</a:t>
            </a:r>
          </a:p>
          <a:p>
            <a:pPr algn="ctr"/>
            <a:r>
              <a:rPr lang="en-US" sz="2400" dirty="0">
                <a:latin typeface="Arial" panose="020B0604020202020204" pitchFamily="34" charset="0"/>
                <a:cs typeface="Arial" panose="020B0604020202020204" pitchFamily="34" charset="0"/>
              </a:rPr>
              <a:t>(ORR)</a:t>
            </a:r>
          </a:p>
        </p:txBody>
      </p:sp>
      <p:sp>
        <p:nvSpPr>
          <p:cNvPr id="20" name="TextBox 19">
            <a:extLst>
              <a:ext uri="{FF2B5EF4-FFF2-40B4-BE49-F238E27FC236}">
                <a16:creationId xmlns:a16="http://schemas.microsoft.com/office/drawing/2014/main" id="{E1893C01-8361-23F5-2891-29DDE1FF4DD7}"/>
              </a:ext>
            </a:extLst>
          </p:cNvPr>
          <p:cNvSpPr txBox="1"/>
          <p:nvPr/>
        </p:nvSpPr>
        <p:spPr>
          <a:xfrm>
            <a:off x="5091714" y="1746638"/>
            <a:ext cx="2013990" cy="1200329"/>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Certification</a:t>
            </a:r>
          </a:p>
          <a:p>
            <a:pPr algn="ctr"/>
            <a:r>
              <a:rPr lang="en-US" sz="2400" dirty="0">
                <a:latin typeface="Arial" panose="020B0604020202020204" pitchFamily="34" charset="0"/>
                <a:cs typeface="Arial" panose="020B0604020202020204" pitchFamily="34" charset="0"/>
              </a:rPr>
              <a:t>Review </a:t>
            </a:r>
          </a:p>
          <a:p>
            <a:pPr algn="ctr"/>
            <a:r>
              <a:rPr lang="en-US" sz="2400" dirty="0">
                <a:latin typeface="Arial" panose="020B0604020202020204" pitchFamily="34" charset="0"/>
                <a:cs typeface="Arial" panose="020B0604020202020204" pitchFamily="34" charset="0"/>
              </a:rPr>
              <a:t>(CR)</a:t>
            </a:r>
          </a:p>
        </p:txBody>
      </p:sp>
      <p:sp>
        <p:nvSpPr>
          <p:cNvPr id="21" name="TextBox 20">
            <a:extLst>
              <a:ext uri="{FF2B5EF4-FFF2-40B4-BE49-F238E27FC236}">
                <a16:creationId xmlns:a16="http://schemas.microsoft.com/office/drawing/2014/main" id="{0C006C95-BA65-25D8-0206-F3DEB1F02799}"/>
              </a:ext>
            </a:extLst>
          </p:cNvPr>
          <p:cNvSpPr txBox="1"/>
          <p:nvPr/>
        </p:nvSpPr>
        <p:spPr>
          <a:xfrm>
            <a:off x="7429550" y="1733404"/>
            <a:ext cx="2685183" cy="1200329"/>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Ongoing Operational Reporting</a:t>
            </a:r>
          </a:p>
        </p:txBody>
      </p:sp>
      <p:sp>
        <p:nvSpPr>
          <p:cNvPr id="23" name="TextBox 22">
            <a:extLst>
              <a:ext uri="{FF2B5EF4-FFF2-40B4-BE49-F238E27FC236}">
                <a16:creationId xmlns:a16="http://schemas.microsoft.com/office/drawing/2014/main" id="{CE4BC252-2617-4333-0A76-AB3073527200}"/>
              </a:ext>
            </a:extLst>
          </p:cNvPr>
          <p:cNvSpPr txBox="1"/>
          <p:nvPr/>
        </p:nvSpPr>
        <p:spPr>
          <a:xfrm>
            <a:off x="2291938" y="3489302"/>
            <a:ext cx="2321896" cy="2723823"/>
          </a:xfrm>
          <a:prstGeom prst="rect">
            <a:avLst/>
          </a:prstGeom>
          <a:noFill/>
        </p:spPr>
        <p:txBody>
          <a:bodyPr wrap="square" rtlCol="0">
            <a:spAutoFit/>
          </a:bodyPr>
          <a:lstStyle/>
          <a:p>
            <a:pPr algn="ctr"/>
            <a:r>
              <a:rPr lang="en-US" sz="1900" dirty="0">
                <a:solidFill>
                  <a:schemeClr val="bg1"/>
                </a:solidFill>
                <a:latin typeface="Arial" panose="020B0604020202020204" pitchFamily="34" charset="0"/>
                <a:cs typeface="Arial" panose="020B0604020202020204" pitchFamily="34" charset="0"/>
              </a:rPr>
              <a:t>At the end of the Development Phase and after all testing is complete, States undergo an ORR before releasing their systems into production. </a:t>
            </a:r>
            <a:endParaRPr lang="en-US" sz="1900" dirty="0">
              <a:solidFill>
                <a:schemeClr val="bg1"/>
              </a:solidFill>
            </a:endParaRPr>
          </a:p>
        </p:txBody>
      </p:sp>
      <p:sp>
        <p:nvSpPr>
          <p:cNvPr id="24" name="TextBox 23">
            <a:extLst>
              <a:ext uri="{FF2B5EF4-FFF2-40B4-BE49-F238E27FC236}">
                <a16:creationId xmlns:a16="http://schemas.microsoft.com/office/drawing/2014/main" id="{8F73FE39-AC9B-6A17-D264-9B5827526D0C}"/>
              </a:ext>
            </a:extLst>
          </p:cNvPr>
          <p:cNvSpPr txBox="1"/>
          <p:nvPr/>
        </p:nvSpPr>
        <p:spPr>
          <a:xfrm>
            <a:off x="4928781" y="3604961"/>
            <a:ext cx="2435801" cy="2585323"/>
          </a:xfrm>
          <a:prstGeom prst="rect">
            <a:avLst/>
          </a:prstGeom>
          <a:noFill/>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A CR can be conducted once a system has been in production for at least six months, and the State must report on approved metrics retroactive to the State's go-live date.</a:t>
            </a:r>
          </a:p>
        </p:txBody>
      </p:sp>
      <p:sp>
        <p:nvSpPr>
          <p:cNvPr id="25" name="TextBox 24">
            <a:extLst>
              <a:ext uri="{FF2B5EF4-FFF2-40B4-BE49-F238E27FC236}">
                <a16:creationId xmlns:a16="http://schemas.microsoft.com/office/drawing/2014/main" id="{80A4AB92-1441-B97A-3140-92E702FF7566}"/>
              </a:ext>
            </a:extLst>
          </p:cNvPr>
          <p:cNvSpPr txBox="1"/>
          <p:nvPr/>
        </p:nvSpPr>
        <p:spPr>
          <a:xfrm>
            <a:off x="7778258" y="3655376"/>
            <a:ext cx="2414325" cy="2308324"/>
          </a:xfrm>
          <a:prstGeom prst="rect">
            <a:avLst/>
          </a:prstGeom>
          <a:noFill/>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Once a system is certified, a State must continue to submit metric data in the CMS State Specific Metrics folder and with OAPD submissions.</a:t>
            </a:r>
          </a:p>
        </p:txBody>
      </p:sp>
    </p:spTree>
    <p:extLst>
      <p:ext uri="{BB962C8B-B14F-4D97-AF65-F5344CB8AC3E}">
        <p14:creationId xmlns:p14="http://schemas.microsoft.com/office/powerpoint/2010/main" val="2153258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586478" y="1683756"/>
            <a:ext cx="3115265" cy="239635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marL="0" marR="0" lvl="0" indent="0" algn="r" defTabSz="914400" fontAlgn="auto">
              <a:spcAft>
                <a:spcPts val="0"/>
              </a:spcAft>
              <a:buClrTx/>
              <a:buSzTx/>
              <a:tabLst/>
              <a:defRPr/>
            </a:pPr>
            <a:r>
              <a:rPr lang="en-US" sz="4000" kern="1200" dirty="0">
                <a:solidFill>
                  <a:srgbClr val="FFFFFF"/>
                </a:solidFill>
                <a:latin typeface="+mj-lt"/>
                <a:ea typeface="+mj-ea"/>
                <a:cs typeface="+mj-cs"/>
              </a:rPr>
              <a:t>APD and SMC Intake Form Relationship</a:t>
            </a:r>
          </a:p>
        </p:txBody>
      </p:sp>
      <p:sp>
        <p:nvSpPr>
          <p:cNvPr id="3" name="Slide Number Placeholder 2">
            <a:extLst>
              <a:ext uri="{FF2B5EF4-FFF2-40B4-BE49-F238E27FC236}">
                <a16:creationId xmlns:a16="http://schemas.microsoft.com/office/drawing/2014/main" id="{1CE374F1-6ACB-47F0-A40C-0416A081BD4D}"/>
              </a:ext>
              <a:ext uri="{C183D7F6-B498-43B3-948B-1728B52AA6E4}">
                <adec:decorative xmlns:adec="http://schemas.microsoft.com/office/drawing/2017/decorative" val="1"/>
              </a:ext>
            </a:extLst>
          </p:cNvPr>
          <p:cNvSpPr>
            <a:spLocks noGrp="1"/>
          </p:cNvSpPr>
          <p:nvPr>
            <p:ph type="sldNum" sz="quarter" idx="4"/>
          </p:nvPr>
        </p:nvSpPr>
        <p:spPr>
          <a:xfrm>
            <a:off x="11704320" y="6455664"/>
            <a:ext cx="448056" cy="365125"/>
          </a:xfrm>
        </p:spPr>
        <p:txBody>
          <a:bodyPr vert="horz" lIns="91440" tIns="45720" rIns="91440" bIns="45720" rtlCol="0" anchor="ctr">
            <a:normAutofit/>
          </a:bodyPr>
          <a:lstStyle/>
          <a:p>
            <a:pPr algn="r">
              <a:spcAft>
                <a:spcPts val="600"/>
              </a:spcAft>
            </a:pPr>
            <a:fld id="{295008BC-DA31-4D19-837B-EFA4386B05F5}" type="slidenum">
              <a:rPr lang="en-US" sz="1100">
                <a:solidFill>
                  <a:schemeClr val="tx1">
                    <a:lumMod val="50000"/>
                    <a:lumOff val="50000"/>
                  </a:schemeClr>
                </a:solidFill>
                <a:latin typeface="+mn-lt"/>
                <a:cs typeface="+mn-cs"/>
              </a:rPr>
              <a:pPr algn="r">
                <a:spcAft>
                  <a:spcPts val="600"/>
                </a:spcAft>
              </a:pPr>
              <a:t>8</a:t>
            </a:fld>
            <a:endParaRPr lang="en-US" sz="1100" dirty="0">
              <a:solidFill>
                <a:schemeClr val="tx1">
                  <a:lumMod val="50000"/>
                  <a:lumOff val="50000"/>
                </a:schemeClr>
              </a:solidFill>
              <a:latin typeface="+mn-lt"/>
              <a:cs typeface="+mn-cs"/>
            </a:endParaRPr>
          </a:p>
        </p:txBody>
      </p:sp>
      <p:sp>
        <p:nvSpPr>
          <p:cNvPr id="5" name="Freeform: Shape 4" descr="APD (Advanced Planning Document)&#10;SMC Intake Form&#10;CEFs and outcomes&#10;Process&#10;">
            <a:extLst>
              <a:ext uri="{FF2B5EF4-FFF2-40B4-BE49-F238E27FC236}">
                <a16:creationId xmlns:a16="http://schemas.microsoft.com/office/drawing/2014/main" id="{44D56C1F-3D3D-94E7-CC5C-9695C5B75E21}"/>
              </a:ext>
            </a:extLst>
          </p:cNvPr>
          <p:cNvSpPr/>
          <p:nvPr/>
        </p:nvSpPr>
        <p:spPr>
          <a:xfrm>
            <a:off x="4905052" y="1004919"/>
            <a:ext cx="7060525" cy="1209600"/>
          </a:xfrm>
          <a:custGeom>
            <a:avLst/>
            <a:gdLst>
              <a:gd name="csX0" fmla="*/ 0 w 6666833"/>
              <a:gd name="csY0" fmla="*/ 0 h 1209600"/>
              <a:gd name="csX1" fmla="*/ 6666833 w 6666833"/>
              <a:gd name="csY1" fmla="*/ 0 h 1209600"/>
              <a:gd name="csX2" fmla="*/ 6666833 w 6666833"/>
              <a:gd name="csY2" fmla="*/ 1209600 h 1209600"/>
              <a:gd name="csX3" fmla="*/ 0 w 6666833"/>
              <a:gd name="csY3" fmla="*/ 1209600 h 1209600"/>
              <a:gd name="csX4" fmla="*/ 0 w 6666833"/>
              <a:gd name="csY4" fmla="*/ 0 h 1209600"/>
            </a:gdLst>
            <a:ahLst/>
            <a:cxnLst>
              <a:cxn ang="0">
                <a:pos x="csX0" y="csY0"/>
              </a:cxn>
              <a:cxn ang="0">
                <a:pos x="csX1" y="csY1"/>
              </a:cxn>
              <a:cxn ang="0">
                <a:pos x="csX2" y="csY2"/>
              </a:cxn>
              <a:cxn ang="0">
                <a:pos x="csX3" y="csY3"/>
              </a:cxn>
              <a:cxn ang="0">
                <a:pos x="csX4" y="csY4"/>
              </a:cxn>
            </a:cxnLst>
            <a:rect l="l" t="t" r="r" b="b"/>
            <a:pathLst>
              <a:path w="6666833" h="1209600">
                <a:moveTo>
                  <a:pt x="0" y="0"/>
                </a:moveTo>
                <a:lnTo>
                  <a:pt x="6666833" y="0"/>
                </a:lnTo>
                <a:lnTo>
                  <a:pt x="6666833" y="1209600"/>
                </a:lnTo>
                <a:lnTo>
                  <a:pt x="0" y="1209600"/>
                </a:lnTo>
                <a:lnTo>
                  <a:pt x="0" y="0"/>
                </a:lnTo>
                <a:close/>
              </a:path>
            </a:pathLst>
          </a:custGeom>
        </p:spPr>
        <p:style>
          <a:lnRef idx="1">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kern="1200" dirty="0"/>
              <a:t>Starting point for certification </a:t>
            </a:r>
          </a:p>
          <a:p>
            <a:pPr marL="171450" lvl="1" indent="-171450" algn="l" defTabSz="711200">
              <a:lnSpc>
                <a:spcPct val="90000"/>
              </a:lnSpc>
              <a:spcBef>
                <a:spcPct val="0"/>
              </a:spcBef>
              <a:spcAft>
                <a:spcPct val="15000"/>
              </a:spcAft>
              <a:buChar char="•"/>
            </a:pPr>
            <a:r>
              <a:rPr lang="en-US" kern="1200" dirty="0"/>
              <a:t>Includes CMS-required and State-specific outcomes</a:t>
            </a:r>
          </a:p>
          <a:p>
            <a:pPr marL="171450" lvl="1" indent="-171450" algn="l" defTabSz="711200">
              <a:lnSpc>
                <a:spcPct val="90000"/>
              </a:lnSpc>
              <a:spcBef>
                <a:spcPct val="0"/>
              </a:spcBef>
              <a:spcAft>
                <a:spcPct val="15000"/>
              </a:spcAft>
              <a:buChar char="•"/>
            </a:pPr>
            <a:r>
              <a:rPr lang="en-US" kern="1200" dirty="0"/>
              <a:t>Defines metrics</a:t>
            </a:r>
          </a:p>
        </p:txBody>
      </p:sp>
      <p:sp>
        <p:nvSpPr>
          <p:cNvPr id="7" name="Freeform: Shape 6" descr="APD (Advanced Planning Document):&#10;">
            <a:extLst>
              <a:ext uri="{FF2B5EF4-FFF2-40B4-BE49-F238E27FC236}">
                <a16:creationId xmlns:a16="http://schemas.microsoft.com/office/drawing/2014/main" id="{B07CB18F-FF0B-744E-22E1-58E13F8027D9}"/>
              </a:ext>
              <a:ext uri="{C183D7F6-B498-43B3-948B-1728B52AA6E4}">
                <adec:decorative xmlns:adec="http://schemas.microsoft.com/office/drawing/2017/decorative" val="0"/>
              </a:ext>
            </a:extLst>
          </p:cNvPr>
          <p:cNvSpPr/>
          <p:nvPr/>
        </p:nvSpPr>
        <p:spPr>
          <a:xfrm>
            <a:off x="5258078" y="768759"/>
            <a:ext cx="4942367" cy="472320"/>
          </a:xfrm>
          <a:custGeom>
            <a:avLst/>
            <a:gdLst>
              <a:gd name="csX0" fmla="*/ 0 w 4666783"/>
              <a:gd name="csY0" fmla="*/ 78722 h 472320"/>
              <a:gd name="csX1" fmla="*/ 78722 w 4666783"/>
              <a:gd name="csY1" fmla="*/ 0 h 472320"/>
              <a:gd name="csX2" fmla="*/ 4588061 w 4666783"/>
              <a:gd name="csY2" fmla="*/ 0 h 472320"/>
              <a:gd name="csX3" fmla="*/ 4666783 w 4666783"/>
              <a:gd name="csY3" fmla="*/ 78722 h 472320"/>
              <a:gd name="csX4" fmla="*/ 4666783 w 4666783"/>
              <a:gd name="csY4" fmla="*/ 393598 h 472320"/>
              <a:gd name="csX5" fmla="*/ 4588061 w 4666783"/>
              <a:gd name="csY5" fmla="*/ 472320 h 472320"/>
              <a:gd name="csX6" fmla="*/ 78722 w 4666783"/>
              <a:gd name="csY6" fmla="*/ 472320 h 472320"/>
              <a:gd name="csX7" fmla="*/ 0 w 4666783"/>
              <a:gd name="csY7" fmla="*/ 393598 h 472320"/>
              <a:gd name="csX8" fmla="*/ 0 w 4666783"/>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66783" h="472320">
                <a:moveTo>
                  <a:pt x="0" y="78722"/>
                </a:moveTo>
                <a:cubicBezTo>
                  <a:pt x="0" y="35245"/>
                  <a:pt x="35245" y="0"/>
                  <a:pt x="78722" y="0"/>
                </a:cubicBezTo>
                <a:lnTo>
                  <a:pt x="4588061" y="0"/>
                </a:lnTo>
                <a:cubicBezTo>
                  <a:pt x="4631538" y="0"/>
                  <a:pt x="4666783" y="35245"/>
                  <a:pt x="4666783" y="78722"/>
                </a:cubicBezTo>
                <a:lnTo>
                  <a:pt x="4666783" y="393598"/>
                </a:lnTo>
                <a:cubicBezTo>
                  <a:pt x="4666783" y="437075"/>
                  <a:pt x="4631538" y="472320"/>
                  <a:pt x="4588061" y="472320"/>
                </a:cubicBezTo>
                <a:lnTo>
                  <a:pt x="78722" y="472320"/>
                </a:lnTo>
                <a:cubicBezTo>
                  <a:pt x="35245" y="472320"/>
                  <a:pt x="0" y="437075"/>
                  <a:pt x="0" y="393598"/>
                </a:cubicBezTo>
                <a:lnTo>
                  <a:pt x="0" y="78722"/>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99450" tIns="23057" rIns="199450" bIns="23057" numCol="1" spcCol="1270" anchor="ctr" anchorCtr="0">
            <a:noAutofit/>
          </a:bodyPr>
          <a:lstStyle/>
          <a:p>
            <a:pPr marL="0" lvl="0" indent="0" algn="l" defTabSz="711200">
              <a:lnSpc>
                <a:spcPct val="90000"/>
              </a:lnSpc>
              <a:spcBef>
                <a:spcPct val="0"/>
              </a:spcBef>
              <a:spcAft>
                <a:spcPct val="35000"/>
              </a:spcAft>
              <a:buNone/>
            </a:pPr>
            <a:r>
              <a:rPr lang="en-US" b="0" i="0" kern="1200" dirty="0"/>
              <a:t>APD (Advanced Planning Document):</a:t>
            </a:r>
            <a:endParaRPr lang="en-US" kern="1200" dirty="0"/>
          </a:p>
        </p:txBody>
      </p:sp>
      <p:sp>
        <p:nvSpPr>
          <p:cNvPr id="9" name="Freeform: Shape 8" descr="APD (Advanced Planning Document)&#10;SMC Intake Form&#10;CEFs and outcomes&#10;Process&#10;">
            <a:extLst>
              <a:ext uri="{FF2B5EF4-FFF2-40B4-BE49-F238E27FC236}">
                <a16:creationId xmlns:a16="http://schemas.microsoft.com/office/drawing/2014/main" id="{7E380086-453E-4ECE-09F3-404A7621E3D6}"/>
              </a:ext>
            </a:extLst>
          </p:cNvPr>
          <p:cNvSpPr/>
          <p:nvPr/>
        </p:nvSpPr>
        <p:spPr>
          <a:xfrm>
            <a:off x="4905052" y="2537079"/>
            <a:ext cx="7060525" cy="1461600"/>
          </a:xfrm>
          <a:custGeom>
            <a:avLst/>
            <a:gdLst>
              <a:gd name="csX0" fmla="*/ 0 w 6666833"/>
              <a:gd name="csY0" fmla="*/ 0 h 1461600"/>
              <a:gd name="csX1" fmla="*/ 6666833 w 6666833"/>
              <a:gd name="csY1" fmla="*/ 0 h 1461600"/>
              <a:gd name="csX2" fmla="*/ 6666833 w 6666833"/>
              <a:gd name="csY2" fmla="*/ 1461600 h 1461600"/>
              <a:gd name="csX3" fmla="*/ 0 w 6666833"/>
              <a:gd name="csY3" fmla="*/ 1461600 h 1461600"/>
              <a:gd name="csX4" fmla="*/ 0 w 6666833"/>
              <a:gd name="csY4" fmla="*/ 0 h 1461600"/>
            </a:gdLst>
            <a:ahLst/>
            <a:cxnLst>
              <a:cxn ang="0">
                <a:pos x="csX0" y="csY0"/>
              </a:cxn>
              <a:cxn ang="0">
                <a:pos x="csX1" y="csY1"/>
              </a:cxn>
              <a:cxn ang="0">
                <a:pos x="csX2" y="csY2"/>
              </a:cxn>
              <a:cxn ang="0">
                <a:pos x="csX3" y="csY3"/>
              </a:cxn>
              <a:cxn ang="0">
                <a:pos x="csX4" y="csY4"/>
              </a:cxn>
            </a:cxnLst>
            <a:rect l="l" t="t" r="r" b="b"/>
            <a:pathLst>
              <a:path w="6666833" h="1461600">
                <a:moveTo>
                  <a:pt x="0" y="0"/>
                </a:moveTo>
                <a:lnTo>
                  <a:pt x="6666833" y="0"/>
                </a:lnTo>
                <a:lnTo>
                  <a:pt x="6666833" y="1461600"/>
                </a:lnTo>
                <a:lnTo>
                  <a:pt x="0" y="1461600"/>
                </a:lnTo>
                <a:lnTo>
                  <a:pt x="0" y="0"/>
                </a:lnTo>
                <a:close/>
              </a:path>
            </a:pathLst>
          </a:custGeom>
        </p:spPr>
        <p:style>
          <a:lnRef idx="1">
            <a:schemeClr val="accent5">
              <a:hueOff val="-3379271"/>
              <a:satOff val="-8710"/>
              <a:lumOff val="-588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kern="1200" dirty="0"/>
              <a:t>Drafted using the approved APD</a:t>
            </a:r>
          </a:p>
          <a:p>
            <a:pPr marL="171450" lvl="1" indent="-171450" algn="l" defTabSz="711200">
              <a:lnSpc>
                <a:spcPct val="90000"/>
              </a:lnSpc>
              <a:spcBef>
                <a:spcPct val="0"/>
              </a:spcBef>
              <a:spcAft>
                <a:spcPct val="15000"/>
              </a:spcAft>
              <a:buChar char="•"/>
            </a:pPr>
            <a:r>
              <a:rPr lang="en-US" kern="1200" dirty="0"/>
              <a:t>Includes explanations for non-applicable CEFs and outcomes</a:t>
            </a:r>
          </a:p>
          <a:p>
            <a:pPr marL="171450" lvl="1" indent="-171450" algn="l" defTabSz="711200">
              <a:lnSpc>
                <a:spcPct val="90000"/>
              </a:lnSpc>
              <a:spcBef>
                <a:spcPct val="0"/>
              </a:spcBef>
              <a:spcAft>
                <a:spcPct val="15000"/>
              </a:spcAft>
              <a:buChar char="•"/>
            </a:pPr>
            <a:r>
              <a:rPr lang="en-US" kern="1200" dirty="0"/>
              <a:t>Proposes evidence for applicable CEFs and outcomes</a:t>
            </a:r>
          </a:p>
          <a:p>
            <a:pPr marL="171450" lvl="1" indent="-171450" algn="l" defTabSz="711200">
              <a:lnSpc>
                <a:spcPct val="90000"/>
              </a:lnSpc>
              <a:spcBef>
                <a:spcPct val="0"/>
              </a:spcBef>
              <a:spcAft>
                <a:spcPct val="15000"/>
              </a:spcAft>
              <a:buChar char="•"/>
            </a:pPr>
            <a:r>
              <a:rPr lang="en-US" kern="1200" dirty="0"/>
              <a:t>Lists approved metrics matching the APD</a:t>
            </a:r>
          </a:p>
        </p:txBody>
      </p:sp>
      <p:sp>
        <p:nvSpPr>
          <p:cNvPr id="11" name="Freeform: Shape 10" descr="SMC Intake Form:&#10;">
            <a:extLst>
              <a:ext uri="{FF2B5EF4-FFF2-40B4-BE49-F238E27FC236}">
                <a16:creationId xmlns:a16="http://schemas.microsoft.com/office/drawing/2014/main" id="{4CD0E82C-D143-B4EE-0886-514ED6AC44F0}"/>
              </a:ext>
              <a:ext uri="{C183D7F6-B498-43B3-948B-1728B52AA6E4}">
                <adec:decorative xmlns:adec="http://schemas.microsoft.com/office/drawing/2017/decorative" val="0"/>
              </a:ext>
            </a:extLst>
          </p:cNvPr>
          <p:cNvSpPr/>
          <p:nvPr/>
        </p:nvSpPr>
        <p:spPr>
          <a:xfrm>
            <a:off x="5258078" y="2300919"/>
            <a:ext cx="4942367" cy="472320"/>
          </a:xfrm>
          <a:custGeom>
            <a:avLst/>
            <a:gdLst>
              <a:gd name="csX0" fmla="*/ 0 w 4666783"/>
              <a:gd name="csY0" fmla="*/ 78722 h 472320"/>
              <a:gd name="csX1" fmla="*/ 78722 w 4666783"/>
              <a:gd name="csY1" fmla="*/ 0 h 472320"/>
              <a:gd name="csX2" fmla="*/ 4588061 w 4666783"/>
              <a:gd name="csY2" fmla="*/ 0 h 472320"/>
              <a:gd name="csX3" fmla="*/ 4666783 w 4666783"/>
              <a:gd name="csY3" fmla="*/ 78722 h 472320"/>
              <a:gd name="csX4" fmla="*/ 4666783 w 4666783"/>
              <a:gd name="csY4" fmla="*/ 393598 h 472320"/>
              <a:gd name="csX5" fmla="*/ 4588061 w 4666783"/>
              <a:gd name="csY5" fmla="*/ 472320 h 472320"/>
              <a:gd name="csX6" fmla="*/ 78722 w 4666783"/>
              <a:gd name="csY6" fmla="*/ 472320 h 472320"/>
              <a:gd name="csX7" fmla="*/ 0 w 4666783"/>
              <a:gd name="csY7" fmla="*/ 393598 h 472320"/>
              <a:gd name="csX8" fmla="*/ 0 w 4666783"/>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66783" h="472320">
                <a:moveTo>
                  <a:pt x="0" y="78722"/>
                </a:moveTo>
                <a:cubicBezTo>
                  <a:pt x="0" y="35245"/>
                  <a:pt x="35245" y="0"/>
                  <a:pt x="78722" y="0"/>
                </a:cubicBezTo>
                <a:lnTo>
                  <a:pt x="4588061" y="0"/>
                </a:lnTo>
                <a:cubicBezTo>
                  <a:pt x="4631538" y="0"/>
                  <a:pt x="4666783" y="35245"/>
                  <a:pt x="4666783" y="78722"/>
                </a:cubicBezTo>
                <a:lnTo>
                  <a:pt x="4666783" y="393598"/>
                </a:lnTo>
                <a:cubicBezTo>
                  <a:pt x="4666783" y="437075"/>
                  <a:pt x="4631538" y="472320"/>
                  <a:pt x="4588061" y="472320"/>
                </a:cubicBezTo>
                <a:lnTo>
                  <a:pt x="78722" y="472320"/>
                </a:lnTo>
                <a:cubicBezTo>
                  <a:pt x="35245" y="472320"/>
                  <a:pt x="0" y="437075"/>
                  <a:pt x="0" y="393598"/>
                </a:cubicBezTo>
                <a:lnTo>
                  <a:pt x="0" y="78722"/>
                </a:lnTo>
                <a:close/>
              </a:path>
            </a:pathLst>
          </a:custGeom>
        </p:spPr>
        <p:style>
          <a:lnRef idx="0">
            <a:schemeClr val="lt1">
              <a:hueOff val="0"/>
              <a:satOff val="0"/>
              <a:lumOff val="0"/>
              <a:alphaOff val="0"/>
            </a:schemeClr>
          </a:lnRef>
          <a:fillRef idx="3">
            <a:schemeClr val="accent5">
              <a:hueOff val="-3379271"/>
              <a:satOff val="-8710"/>
              <a:lumOff val="-5883"/>
              <a:alphaOff val="0"/>
            </a:schemeClr>
          </a:fillRef>
          <a:effectRef idx="2">
            <a:schemeClr val="accent5">
              <a:hueOff val="-3379271"/>
              <a:satOff val="-8710"/>
              <a:lumOff val="-5883"/>
              <a:alphaOff val="0"/>
            </a:schemeClr>
          </a:effectRef>
          <a:fontRef idx="minor">
            <a:schemeClr val="lt1"/>
          </a:fontRef>
        </p:style>
        <p:txBody>
          <a:bodyPr spcFirstLastPara="0" vert="horz" wrap="square" lIns="199450" tIns="23057" rIns="199450" bIns="23057" numCol="1" spcCol="1270" anchor="ctr" anchorCtr="0">
            <a:noAutofit/>
          </a:bodyPr>
          <a:lstStyle/>
          <a:p>
            <a:pPr marL="0" lvl="0" indent="0" algn="l" defTabSz="711200">
              <a:lnSpc>
                <a:spcPct val="90000"/>
              </a:lnSpc>
              <a:spcBef>
                <a:spcPct val="0"/>
              </a:spcBef>
              <a:spcAft>
                <a:spcPct val="35000"/>
              </a:spcAft>
              <a:buNone/>
            </a:pPr>
            <a:r>
              <a:rPr lang="en-US" b="0" i="0" kern="1200" dirty="0"/>
              <a:t>SMC Intake Form:</a:t>
            </a:r>
            <a:endParaRPr lang="en-US" kern="1200" dirty="0"/>
          </a:p>
        </p:txBody>
      </p:sp>
      <p:sp>
        <p:nvSpPr>
          <p:cNvPr id="12" name="Freeform: Shape 11" descr="APD (Advanced Planning Document)&#10;SMC Intake Form&#10;CEFs and outcomes&#10;Process&#10;">
            <a:extLst>
              <a:ext uri="{FF2B5EF4-FFF2-40B4-BE49-F238E27FC236}">
                <a16:creationId xmlns:a16="http://schemas.microsoft.com/office/drawing/2014/main" id="{0140C498-DB17-134D-29DE-7DE25B62819F}"/>
              </a:ext>
            </a:extLst>
          </p:cNvPr>
          <p:cNvSpPr/>
          <p:nvPr/>
        </p:nvSpPr>
        <p:spPr>
          <a:xfrm>
            <a:off x="4905052" y="4321240"/>
            <a:ext cx="7060525" cy="1864800"/>
          </a:xfrm>
          <a:custGeom>
            <a:avLst/>
            <a:gdLst>
              <a:gd name="csX0" fmla="*/ 0 w 6666833"/>
              <a:gd name="csY0" fmla="*/ 0 h 1864800"/>
              <a:gd name="csX1" fmla="*/ 6666833 w 6666833"/>
              <a:gd name="csY1" fmla="*/ 0 h 1864800"/>
              <a:gd name="csX2" fmla="*/ 6666833 w 6666833"/>
              <a:gd name="csY2" fmla="*/ 1864800 h 1864800"/>
              <a:gd name="csX3" fmla="*/ 0 w 6666833"/>
              <a:gd name="csY3" fmla="*/ 1864800 h 1864800"/>
              <a:gd name="csX4" fmla="*/ 0 w 6666833"/>
              <a:gd name="csY4" fmla="*/ 0 h 1864800"/>
            </a:gdLst>
            <a:ahLst/>
            <a:cxnLst>
              <a:cxn ang="0">
                <a:pos x="csX0" y="csY0"/>
              </a:cxn>
              <a:cxn ang="0">
                <a:pos x="csX1" y="csY1"/>
              </a:cxn>
              <a:cxn ang="0">
                <a:pos x="csX2" y="csY2"/>
              </a:cxn>
              <a:cxn ang="0">
                <a:pos x="csX3" y="csY3"/>
              </a:cxn>
              <a:cxn ang="0">
                <a:pos x="csX4" y="csY4"/>
              </a:cxn>
            </a:cxnLst>
            <a:rect l="l" t="t" r="r" b="b"/>
            <a:pathLst>
              <a:path w="6666833" h="1864800">
                <a:moveTo>
                  <a:pt x="0" y="0"/>
                </a:moveTo>
                <a:lnTo>
                  <a:pt x="6666833" y="0"/>
                </a:lnTo>
                <a:lnTo>
                  <a:pt x="6666833" y="1864800"/>
                </a:lnTo>
                <a:lnTo>
                  <a:pt x="0" y="1864800"/>
                </a:lnTo>
                <a:lnTo>
                  <a:pt x="0" y="0"/>
                </a:lnTo>
                <a:close/>
              </a:path>
            </a:pathLst>
          </a:custGeom>
        </p:spPr>
        <p:style>
          <a:lnRef idx="1">
            <a:schemeClr val="accent5">
              <a:hueOff val="-6758543"/>
              <a:satOff val="-17419"/>
              <a:lumOff val="-1176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kern="1200" dirty="0"/>
              <a:t>APD approved and SMC Intake Form drafted</a:t>
            </a:r>
          </a:p>
          <a:p>
            <a:pPr marL="171450" lvl="1" indent="-171450" algn="l" defTabSz="711200">
              <a:lnSpc>
                <a:spcPct val="90000"/>
              </a:lnSpc>
              <a:spcBef>
                <a:spcPct val="0"/>
              </a:spcBef>
              <a:spcAft>
                <a:spcPct val="15000"/>
              </a:spcAft>
              <a:buChar char="•"/>
            </a:pPr>
            <a:r>
              <a:rPr lang="en-US" kern="1200" dirty="0"/>
              <a:t>Use and update the SMC Intake Form throughout the certification process</a:t>
            </a:r>
          </a:p>
          <a:p>
            <a:pPr marL="171450" lvl="1" indent="-171450" algn="l" defTabSz="711200">
              <a:lnSpc>
                <a:spcPct val="90000"/>
              </a:lnSpc>
              <a:spcBef>
                <a:spcPct val="0"/>
              </a:spcBef>
              <a:spcAft>
                <a:spcPct val="15000"/>
              </a:spcAft>
              <a:buChar char="•"/>
            </a:pPr>
            <a:r>
              <a:rPr lang="en-US" kern="1200" dirty="0"/>
              <a:t>For SMC agile or phased implementation, the State must map phases to outcomes to assist the CMS Certification Team in determining, systems demonstrations, ORR and CR dates</a:t>
            </a:r>
          </a:p>
        </p:txBody>
      </p:sp>
      <p:sp>
        <p:nvSpPr>
          <p:cNvPr id="13" name="Freeform: Shape 12" descr="Process: &#10;">
            <a:extLst>
              <a:ext uri="{FF2B5EF4-FFF2-40B4-BE49-F238E27FC236}">
                <a16:creationId xmlns:a16="http://schemas.microsoft.com/office/drawing/2014/main" id="{42053C75-285E-12FE-0713-85BBE5081E8B}"/>
              </a:ext>
              <a:ext uri="{C183D7F6-B498-43B3-948B-1728B52AA6E4}">
                <adec:decorative xmlns:adec="http://schemas.microsoft.com/office/drawing/2017/decorative" val="0"/>
              </a:ext>
            </a:extLst>
          </p:cNvPr>
          <p:cNvSpPr/>
          <p:nvPr/>
        </p:nvSpPr>
        <p:spPr>
          <a:xfrm>
            <a:off x="5258078" y="4085079"/>
            <a:ext cx="4942367" cy="472320"/>
          </a:xfrm>
          <a:custGeom>
            <a:avLst/>
            <a:gdLst>
              <a:gd name="csX0" fmla="*/ 0 w 4666783"/>
              <a:gd name="csY0" fmla="*/ 78722 h 472320"/>
              <a:gd name="csX1" fmla="*/ 78722 w 4666783"/>
              <a:gd name="csY1" fmla="*/ 0 h 472320"/>
              <a:gd name="csX2" fmla="*/ 4588061 w 4666783"/>
              <a:gd name="csY2" fmla="*/ 0 h 472320"/>
              <a:gd name="csX3" fmla="*/ 4666783 w 4666783"/>
              <a:gd name="csY3" fmla="*/ 78722 h 472320"/>
              <a:gd name="csX4" fmla="*/ 4666783 w 4666783"/>
              <a:gd name="csY4" fmla="*/ 393598 h 472320"/>
              <a:gd name="csX5" fmla="*/ 4588061 w 4666783"/>
              <a:gd name="csY5" fmla="*/ 472320 h 472320"/>
              <a:gd name="csX6" fmla="*/ 78722 w 4666783"/>
              <a:gd name="csY6" fmla="*/ 472320 h 472320"/>
              <a:gd name="csX7" fmla="*/ 0 w 4666783"/>
              <a:gd name="csY7" fmla="*/ 393598 h 472320"/>
              <a:gd name="csX8" fmla="*/ 0 w 4666783"/>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66783" h="472320">
                <a:moveTo>
                  <a:pt x="0" y="78722"/>
                </a:moveTo>
                <a:cubicBezTo>
                  <a:pt x="0" y="35245"/>
                  <a:pt x="35245" y="0"/>
                  <a:pt x="78722" y="0"/>
                </a:cubicBezTo>
                <a:lnTo>
                  <a:pt x="4588061" y="0"/>
                </a:lnTo>
                <a:cubicBezTo>
                  <a:pt x="4631538" y="0"/>
                  <a:pt x="4666783" y="35245"/>
                  <a:pt x="4666783" y="78722"/>
                </a:cubicBezTo>
                <a:lnTo>
                  <a:pt x="4666783" y="393598"/>
                </a:lnTo>
                <a:cubicBezTo>
                  <a:pt x="4666783" y="437075"/>
                  <a:pt x="4631538" y="472320"/>
                  <a:pt x="4588061" y="472320"/>
                </a:cubicBezTo>
                <a:lnTo>
                  <a:pt x="78722" y="472320"/>
                </a:lnTo>
                <a:cubicBezTo>
                  <a:pt x="35245" y="472320"/>
                  <a:pt x="0" y="437075"/>
                  <a:pt x="0" y="393598"/>
                </a:cubicBezTo>
                <a:lnTo>
                  <a:pt x="0" y="78722"/>
                </a:lnTo>
                <a:close/>
              </a:path>
            </a:pathLst>
          </a:custGeom>
        </p:spPr>
        <p:style>
          <a:lnRef idx="0">
            <a:schemeClr val="lt1">
              <a:hueOff val="0"/>
              <a:satOff val="0"/>
              <a:lumOff val="0"/>
              <a:alphaOff val="0"/>
            </a:schemeClr>
          </a:lnRef>
          <a:fillRef idx="3">
            <a:schemeClr val="accent5">
              <a:hueOff val="-6758543"/>
              <a:satOff val="-17419"/>
              <a:lumOff val="-11765"/>
              <a:alphaOff val="0"/>
            </a:schemeClr>
          </a:fillRef>
          <a:effectRef idx="2">
            <a:schemeClr val="accent5">
              <a:hueOff val="-6758543"/>
              <a:satOff val="-17419"/>
              <a:lumOff val="-11765"/>
              <a:alphaOff val="0"/>
            </a:schemeClr>
          </a:effectRef>
          <a:fontRef idx="minor">
            <a:schemeClr val="lt1"/>
          </a:fontRef>
        </p:style>
        <p:txBody>
          <a:bodyPr spcFirstLastPara="0" vert="horz" wrap="square" lIns="199450" tIns="23057" rIns="199450" bIns="23057" numCol="1" spcCol="1270" anchor="ctr" anchorCtr="0">
            <a:noAutofit/>
          </a:bodyPr>
          <a:lstStyle/>
          <a:p>
            <a:pPr marL="0" lvl="0" indent="0" algn="l" defTabSz="711200">
              <a:lnSpc>
                <a:spcPct val="90000"/>
              </a:lnSpc>
              <a:spcBef>
                <a:spcPct val="0"/>
              </a:spcBef>
              <a:spcAft>
                <a:spcPct val="35000"/>
              </a:spcAft>
              <a:buNone/>
            </a:pPr>
            <a:r>
              <a:rPr lang="en-US" b="0" i="0" kern="1200" dirty="0"/>
              <a:t>Process: </a:t>
            </a:r>
            <a:endParaRPr lang="en-US" kern="1200" dirty="0"/>
          </a:p>
        </p:txBody>
      </p:sp>
      <p:sp>
        <p:nvSpPr>
          <p:cNvPr id="2" name="Arrow: Curved Right 1">
            <a:extLst>
              <a:ext uri="{FF2B5EF4-FFF2-40B4-BE49-F238E27FC236}">
                <a16:creationId xmlns:a16="http://schemas.microsoft.com/office/drawing/2014/main" id="{A92E8892-C8C4-DB34-438E-81587D355B1D}"/>
              </a:ext>
              <a:ext uri="{C183D7F6-B498-43B3-948B-1728B52AA6E4}">
                <adec:decorative xmlns:adec="http://schemas.microsoft.com/office/drawing/2017/decorative" val="1"/>
              </a:ext>
            </a:extLst>
          </p:cNvPr>
          <p:cNvSpPr/>
          <p:nvPr/>
        </p:nvSpPr>
        <p:spPr>
          <a:xfrm>
            <a:off x="4389119" y="2072640"/>
            <a:ext cx="515932" cy="589280"/>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6" name="Picture 5">
            <a:extLst>
              <a:ext uri="{FF2B5EF4-FFF2-40B4-BE49-F238E27FC236}">
                <a16:creationId xmlns:a16="http://schemas.microsoft.com/office/drawing/2014/main" id="{D0C8622F-01FF-2671-C245-64A8E99A0C5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89119" y="3845480"/>
            <a:ext cx="536494" cy="609653"/>
          </a:xfrm>
          <a:prstGeom prst="rect">
            <a:avLst/>
          </a:prstGeom>
        </p:spPr>
      </p:pic>
    </p:spTree>
    <p:extLst>
      <p:ext uri="{BB962C8B-B14F-4D97-AF65-F5344CB8AC3E}">
        <p14:creationId xmlns:p14="http://schemas.microsoft.com/office/powerpoint/2010/main" val="2520979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SMC Elements</a:t>
            </a:r>
          </a:p>
        </p:txBody>
      </p:sp>
      <p:sp>
        <p:nvSpPr>
          <p:cNvPr id="4" name="Text Placeholder 3">
            <a:extLst>
              <a:ext uri="{FF2B5EF4-FFF2-40B4-BE49-F238E27FC236}">
                <a16:creationId xmlns:a16="http://schemas.microsoft.com/office/drawing/2014/main" id="{CB8A1119-711F-85FB-3D86-DB8DCDF2D97D}"/>
              </a:ext>
            </a:extLst>
          </p:cNvPr>
          <p:cNvSpPr>
            <a:spLocks noGrp="1"/>
          </p:cNvSpPr>
          <p:nvPr>
            <p:ph type="body" sz="quarter" idx="10"/>
          </p:nvPr>
        </p:nvSpPr>
        <p:spPr>
          <a:xfrm>
            <a:off x="928255" y="1524901"/>
            <a:ext cx="10318866" cy="422109"/>
          </a:xfrm>
        </p:spPr>
        <p:txBody>
          <a:bodyPr lIns="91440" tIns="45720" rIns="91440" bIns="45720" anchor="t"/>
          <a:lstStyle/>
          <a:p>
            <a:pPr marL="0" indent="0">
              <a:buNone/>
            </a:pPr>
            <a:r>
              <a:rPr lang="en-US" sz="2400" dirty="0">
                <a:latin typeface="Arial"/>
                <a:cs typeface="Arial"/>
              </a:rPr>
              <a:t>The SMC process consists of the following elements:</a:t>
            </a:r>
          </a:p>
          <a:p>
            <a:pPr marL="227965" indent="-227965"/>
            <a:endParaRPr lang="en-US" sz="2400" dirty="0"/>
          </a:p>
        </p:txBody>
      </p:sp>
      <p:grpSp>
        <p:nvGrpSpPr>
          <p:cNvPr id="5" name="Group 4" descr="SMC elements include:&#10;Conditions for Enhanced Funding&#10;CMS-Required Outcomes&#10;State-Specific Outcomes&#10;Metrics">
            <a:extLst>
              <a:ext uri="{FF2B5EF4-FFF2-40B4-BE49-F238E27FC236}">
                <a16:creationId xmlns:a16="http://schemas.microsoft.com/office/drawing/2014/main" id="{F45DC30C-D6CA-04B4-92E9-5CA280FBE960}"/>
              </a:ext>
            </a:extLst>
          </p:cNvPr>
          <p:cNvGrpSpPr/>
          <p:nvPr/>
        </p:nvGrpSpPr>
        <p:grpSpPr>
          <a:xfrm>
            <a:off x="1511300" y="2469496"/>
            <a:ext cx="9372600" cy="2372018"/>
            <a:chOff x="1511300" y="2469496"/>
            <a:chExt cx="9372600" cy="2372018"/>
          </a:xfrm>
        </p:grpSpPr>
        <p:sp>
          <p:nvSpPr>
            <p:cNvPr id="6" name="Freeform: Shape 5">
              <a:extLst>
                <a:ext uri="{FF2B5EF4-FFF2-40B4-BE49-F238E27FC236}">
                  <a16:creationId xmlns:a16="http://schemas.microsoft.com/office/drawing/2014/main" id="{8A7608F1-8C28-DCE0-4835-765164D49CE1}"/>
                </a:ext>
              </a:extLst>
            </p:cNvPr>
            <p:cNvSpPr/>
            <p:nvPr/>
          </p:nvSpPr>
          <p:spPr>
            <a:xfrm>
              <a:off x="1511300" y="2469496"/>
              <a:ext cx="2343150" cy="2343150"/>
            </a:xfrm>
            <a:custGeom>
              <a:avLst/>
              <a:gdLst>
                <a:gd name="csX0" fmla="*/ 0 w 2343150"/>
                <a:gd name="csY0" fmla="*/ 1171575 h 2343150"/>
                <a:gd name="csX1" fmla="*/ 1171575 w 2343150"/>
                <a:gd name="csY1" fmla="*/ 0 h 2343150"/>
                <a:gd name="csX2" fmla="*/ 2343150 w 2343150"/>
                <a:gd name="csY2" fmla="*/ 1171575 h 2343150"/>
                <a:gd name="csX3" fmla="*/ 1171575 w 2343150"/>
                <a:gd name="csY3" fmla="*/ 2343150 h 2343150"/>
                <a:gd name="csX4" fmla="*/ 0 w 2343150"/>
                <a:gd name="csY4" fmla="*/ 1171575 h 2343150"/>
              </a:gdLst>
              <a:ahLst/>
              <a:cxnLst>
                <a:cxn ang="0">
                  <a:pos x="csX0" y="csY0"/>
                </a:cxn>
                <a:cxn ang="0">
                  <a:pos x="csX1" y="csY1"/>
                </a:cxn>
                <a:cxn ang="0">
                  <a:pos x="csX2" y="csY2"/>
                </a:cxn>
                <a:cxn ang="0">
                  <a:pos x="csX3" y="csY3"/>
                </a:cxn>
                <a:cxn ang="0">
                  <a:pos x="csX4" y="csY4"/>
                </a:cxn>
              </a:cxnLst>
              <a:rect l="l" t="t" r="r" b="b"/>
              <a:pathLst>
                <a:path w="2343150" h="2343150">
                  <a:moveTo>
                    <a:pt x="0" y="1171575"/>
                  </a:moveTo>
                  <a:cubicBezTo>
                    <a:pt x="0" y="524532"/>
                    <a:pt x="524532" y="0"/>
                    <a:pt x="1171575" y="0"/>
                  </a:cubicBezTo>
                  <a:cubicBezTo>
                    <a:pt x="1818618" y="0"/>
                    <a:pt x="2343150" y="524532"/>
                    <a:pt x="2343150" y="1171575"/>
                  </a:cubicBezTo>
                  <a:cubicBezTo>
                    <a:pt x="2343150" y="1818618"/>
                    <a:pt x="1818618" y="2343150"/>
                    <a:pt x="1171575" y="2343150"/>
                  </a:cubicBezTo>
                  <a:cubicBezTo>
                    <a:pt x="524532" y="2343150"/>
                    <a:pt x="0" y="1818618"/>
                    <a:pt x="0" y="11715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343146" tIns="343146" rIns="343146" bIns="343146" numCol="1" spcCol="1270" anchor="ctr" anchorCtr="0">
              <a:noAutofit/>
            </a:bodyPr>
            <a:lstStyle/>
            <a:p>
              <a:pPr marL="0" lvl="0" indent="0" algn="ctr" defTabSz="1289050">
                <a:lnSpc>
                  <a:spcPct val="90000"/>
                </a:lnSpc>
                <a:spcBef>
                  <a:spcPct val="0"/>
                </a:spcBef>
                <a:spcAft>
                  <a:spcPct val="35000"/>
                </a:spcAft>
                <a:buNone/>
              </a:pPr>
              <a:r>
                <a:rPr lang="en-US" sz="2900" kern="1200" dirty="0"/>
                <a:t>Conditions for Enhanced Funding</a:t>
              </a:r>
            </a:p>
          </p:txBody>
        </p:sp>
        <p:sp>
          <p:nvSpPr>
            <p:cNvPr id="7" name="Freeform: Shape 6">
              <a:extLst>
                <a:ext uri="{FF2B5EF4-FFF2-40B4-BE49-F238E27FC236}">
                  <a16:creationId xmlns:a16="http://schemas.microsoft.com/office/drawing/2014/main" id="{4B6686A9-BFDC-7F72-4B09-A0D4EFA122DB}"/>
                </a:ext>
              </a:extLst>
            </p:cNvPr>
            <p:cNvSpPr/>
            <p:nvPr/>
          </p:nvSpPr>
          <p:spPr>
            <a:xfrm>
              <a:off x="3854450" y="2469496"/>
              <a:ext cx="2343150" cy="2343150"/>
            </a:xfrm>
            <a:custGeom>
              <a:avLst/>
              <a:gdLst>
                <a:gd name="csX0" fmla="*/ 0 w 2343150"/>
                <a:gd name="csY0" fmla="*/ 1171575 h 2343150"/>
                <a:gd name="csX1" fmla="*/ 1171575 w 2343150"/>
                <a:gd name="csY1" fmla="*/ 0 h 2343150"/>
                <a:gd name="csX2" fmla="*/ 2343150 w 2343150"/>
                <a:gd name="csY2" fmla="*/ 1171575 h 2343150"/>
                <a:gd name="csX3" fmla="*/ 1171575 w 2343150"/>
                <a:gd name="csY3" fmla="*/ 2343150 h 2343150"/>
                <a:gd name="csX4" fmla="*/ 0 w 2343150"/>
                <a:gd name="csY4" fmla="*/ 1171575 h 2343150"/>
              </a:gdLst>
              <a:ahLst/>
              <a:cxnLst>
                <a:cxn ang="0">
                  <a:pos x="csX0" y="csY0"/>
                </a:cxn>
                <a:cxn ang="0">
                  <a:pos x="csX1" y="csY1"/>
                </a:cxn>
                <a:cxn ang="0">
                  <a:pos x="csX2" y="csY2"/>
                </a:cxn>
                <a:cxn ang="0">
                  <a:pos x="csX3" y="csY3"/>
                </a:cxn>
                <a:cxn ang="0">
                  <a:pos x="csX4" y="csY4"/>
                </a:cxn>
              </a:cxnLst>
              <a:rect l="l" t="t" r="r" b="b"/>
              <a:pathLst>
                <a:path w="2343150" h="2343150">
                  <a:moveTo>
                    <a:pt x="0" y="1171575"/>
                  </a:moveTo>
                  <a:cubicBezTo>
                    <a:pt x="0" y="524532"/>
                    <a:pt x="524532" y="0"/>
                    <a:pt x="1171575" y="0"/>
                  </a:cubicBezTo>
                  <a:cubicBezTo>
                    <a:pt x="1818618" y="0"/>
                    <a:pt x="2343150" y="524532"/>
                    <a:pt x="2343150" y="1171575"/>
                  </a:cubicBezTo>
                  <a:cubicBezTo>
                    <a:pt x="2343150" y="1818618"/>
                    <a:pt x="1818618" y="2343150"/>
                    <a:pt x="1171575" y="2343150"/>
                  </a:cubicBezTo>
                  <a:cubicBezTo>
                    <a:pt x="524532" y="2343150"/>
                    <a:pt x="0" y="1818618"/>
                    <a:pt x="0" y="11715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343146" tIns="343146" rIns="343146" bIns="343146" numCol="1" spcCol="1270" anchor="ctr" anchorCtr="0">
              <a:noAutofit/>
            </a:bodyPr>
            <a:lstStyle/>
            <a:p>
              <a:pPr marL="0" lvl="0" indent="0" algn="ctr" defTabSz="1289050">
                <a:lnSpc>
                  <a:spcPct val="90000"/>
                </a:lnSpc>
                <a:spcBef>
                  <a:spcPct val="0"/>
                </a:spcBef>
                <a:spcAft>
                  <a:spcPct val="35000"/>
                </a:spcAft>
                <a:buNone/>
              </a:pPr>
              <a:r>
                <a:rPr lang="en-US" sz="2900" kern="1200" dirty="0"/>
                <a:t>CMS-Required Outcomes</a:t>
              </a:r>
            </a:p>
          </p:txBody>
        </p:sp>
        <p:sp>
          <p:nvSpPr>
            <p:cNvPr id="9" name="Freeform: Shape 8">
              <a:extLst>
                <a:ext uri="{FF2B5EF4-FFF2-40B4-BE49-F238E27FC236}">
                  <a16:creationId xmlns:a16="http://schemas.microsoft.com/office/drawing/2014/main" id="{2E643DA1-B84C-C794-91A6-0CCFF68E5B9F}"/>
                </a:ext>
              </a:extLst>
            </p:cNvPr>
            <p:cNvSpPr/>
            <p:nvPr/>
          </p:nvSpPr>
          <p:spPr>
            <a:xfrm>
              <a:off x="6197600" y="2469496"/>
              <a:ext cx="2343150" cy="2343150"/>
            </a:xfrm>
            <a:custGeom>
              <a:avLst/>
              <a:gdLst>
                <a:gd name="csX0" fmla="*/ 0 w 2343150"/>
                <a:gd name="csY0" fmla="*/ 1171575 h 2343150"/>
                <a:gd name="csX1" fmla="*/ 1171575 w 2343150"/>
                <a:gd name="csY1" fmla="*/ 0 h 2343150"/>
                <a:gd name="csX2" fmla="*/ 2343150 w 2343150"/>
                <a:gd name="csY2" fmla="*/ 1171575 h 2343150"/>
                <a:gd name="csX3" fmla="*/ 1171575 w 2343150"/>
                <a:gd name="csY3" fmla="*/ 2343150 h 2343150"/>
                <a:gd name="csX4" fmla="*/ 0 w 2343150"/>
                <a:gd name="csY4" fmla="*/ 1171575 h 2343150"/>
              </a:gdLst>
              <a:ahLst/>
              <a:cxnLst>
                <a:cxn ang="0">
                  <a:pos x="csX0" y="csY0"/>
                </a:cxn>
                <a:cxn ang="0">
                  <a:pos x="csX1" y="csY1"/>
                </a:cxn>
                <a:cxn ang="0">
                  <a:pos x="csX2" y="csY2"/>
                </a:cxn>
                <a:cxn ang="0">
                  <a:pos x="csX3" y="csY3"/>
                </a:cxn>
                <a:cxn ang="0">
                  <a:pos x="csX4" y="csY4"/>
                </a:cxn>
              </a:cxnLst>
              <a:rect l="l" t="t" r="r" b="b"/>
              <a:pathLst>
                <a:path w="2343150" h="2343150">
                  <a:moveTo>
                    <a:pt x="0" y="1171575"/>
                  </a:moveTo>
                  <a:cubicBezTo>
                    <a:pt x="0" y="524532"/>
                    <a:pt x="524532" y="0"/>
                    <a:pt x="1171575" y="0"/>
                  </a:cubicBezTo>
                  <a:cubicBezTo>
                    <a:pt x="1818618" y="0"/>
                    <a:pt x="2343150" y="524532"/>
                    <a:pt x="2343150" y="1171575"/>
                  </a:cubicBezTo>
                  <a:cubicBezTo>
                    <a:pt x="2343150" y="1818618"/>
                    <a:pt x="1818618" y="2343150"/>
                    <a:pt x="1171575" y="2343150"/>
                  </a:cubicBezTo>
                  <a:cubicBezTo>
                    <a:pt x="524532" y="2343150"/>
                    <a:pt x="0" y="1818618"/>
                    <a:pt x="0" y="11715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343146" tIns="343146" rIns="343146" bIns="343146" numCol="1" spcCol="1270" anchor="ctr" anchorCtr="0">
              <a:noAutofit/>
            </a:bodyPr>
            <a:lstStyle/>
            <a:p>
              <a:pPr marL="0" lvl="0" indent="0" algn="ctr" defTabSz="1289050">
                <a:lnSpc>
                  <a:spcPct val="90000"/>
                </a:lnSpc>
                <a:spcBef>
                  <a:spcPct val="0"/>
                </a:spcBef>
                <a:spcAft>
                  <a:spcPct val="35000"/>
                </a:spcAft>
                <a:buNone/>
              </a:pPr>
              <a:r>
                <a:rPr lang="en-US" sz="2900" kern="1200" dirty="0"/>
                <a:t>State-Specific Outcomes</a:t>
              </a:r>
            </a:p>
          </p:txBody>
        </p:sp>
        <p:sp>
          <p:nvSpPr>
            <p:cNvPr id="10" name="Freeform: Shape 9">
              <a:extLst>
                <a:ext uri="{FF2B5EF4-FFF2-40B4-BE49-F238E27FC236}">
                  <a16:creationId xmlns:a16="http://schemas.microsoft.com/office/drawing/2014/main" id="{F974B5AC-4030-27AA-A247-B23CD6A080D3}"/>
                </a:ext>
              </a:extLst>
            </p:cNvPr>
            <p:cNvSpPr/>
            <p:nvPr/>
          </p:nvSpPr>
          <p:spPr>
            <a:xfrm>
              <a:off x="8540750" y="2498364"/>
              <a:ext cx="2343150" cy="2343150"/>
            </a:xfrm>
            <a:custGeom>
              <a:avLst/>
              <a:gdLst>
                <a:gd name="csX0" fmla="*/ 0 w 2343150"/>
                <a:gd name="csY0" fmla="*/ 1171575 h 2343150"/>
                <a:gd name="csX1" fmla="*/ 1171575 w 2343150"/>
                <a:gd name="csY1" fmla="*/ 0 h 2343150"/>
                <a:gd name="csX2" fmla="*/ 2343150 w 2343150"/>
                <a:gd name="csY2" fmla="*/ 1171575 h 2343150"/>
                <a:gd name="csX3" fmla="*/ 1171575 w 2343150"/>
                <a:gd name="csY3" fmla="*/ 2343150 h 2343150"/>
                <a:gd name="csX4" fmla="*/ 0 w 2343150"/>
                <a:gd name="csY4" fmla="*/ 1171575 h 2343150"/>
              </a:gdLst>
              <a:ahLst/>
              <a:cxnLst>
                <a:cxn ang="0">
                  <a:pos x="csX0" y="csY0"/>
                </a:cxn>
                <a:cxn ang="0">
                  <a:pos x="csX1" y="csY1"/>
                </a:cxn>
                <a:cxn ang="0">
                  <a:pos x="csX2" y="csY2"/>
                </a:cxn>
                <a:cxn ang="0">
                  <a:pos x="csX3" y="csY3"/>
                </a:cxn>
                <a:cxn ang="0">
                  <a:pos x="csX4" y="csY4"/>
                </a:cxn>
              </a:cxnLst>
              <a:rect l="l" t="t" r="r" b="b"/>
              <a:pathLst>
                <a:path w="2343150" h="2343150">
                  <a:moveTo>
                    <a:pt x="0" y="1171575"/>
                  </a:moveTo>
                  <a:cubicBezTo>
                    <a:pt x="0" y="524532"/>
                    <a:pt x="524532" y="0"/>
                    <a:pt x="1171575" y="0"/>
                  </a:cubicBezTo>
                  <a:cubicBezTo>
                    <a:pt x="1818618" y="0"/>
                    <a:pt x="2343150" y="524532"/>
                    <a:pt x="2343150" y="1171575"/>
                  </a:cubicBezTo>
                  <a:cubicBezTo>
                    <a:pt x="2343150" y="1818618"/>
                    <a:pt x="1818618" y="2343150"/>
                    <a:pt x="1171575" y="2343150"/>
                  </a:cubicBezTo>
                  <a:cubicBezTo>
                    <a:pt x="524532" y="2343150"/>
                    <a:pt x="0" y="1818618"/>
                    <a:pt x="0" y="117157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343146" tIns="343146" rIns="343146" bIns="343146" numCol="1" spcCol="1270" anchor="ctr" anchorCtr="0">
              <a:noAutofit/>
            </a:bodyPr>
            <a:lstStyle/>
            <a:p>
              <a:pPr marL="0" lvl="0" indent="0" algn="ctr" defTabSz="1289050">
                <a:lnSpc>
                  <a:spcPct val="90000"/>
                </a:lnSpc>
                <a:spcBef>
                  <a:spcPct val="0"/>
                </a:spcBef>
                <a:spcAft>
                  <a:spcPct val="35000"/>
                </a:spcAft>
                <a:buNone/>
              </a:pPr>
              <a:r>
                <a:rPr lang="en-US" sz="2900" kern="1200" dirty="0"/>
                <a:t>Metrics</a:t>
              </a:r>
            </a:p>
          </p:txBody>
        </p:sp>
      </p:gr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9</a:t>
            </a:fld>
            <a:endParaRPr lang="en-US" dirty="0"/>
          </a:p>
        </p:txBody>
      </p:sp>
    </p:spTree>
    <p:extLst>
      <p:ext uri="{BB962C8B-B14F-4D97-AF65-F5344CB8AC3E}">
        <p14:creationId xmlns:p14="http://schemas.microsoft.com/office/powerpoint/2010/main" val="3673406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Conditions for Enhanced Funding (CEF)</a:t>
            </a:r>
            <a:endParaRPr lang="en-US" sz="3750" strike="sngStrike" dirty="0">
              <a:solidFill>
                <a:srgbClr val="FF0000"/>
              </a:solidFill>
            </a:endParaRPr>
          </a:p>
        </p:txBody>
      </p:sp>
      <p:sp>
        <p:nvSpPr>
          <p:cNvPr id="2" name="Text Placeholder 1">
            <a:extLst>
              <a:ext uri="{FF2B5EF4-FFF2-40B4-BE49-F238E27FC236}">
                <a16:creationId xmlns:a16="http://schemas.microsoft.com/office/drawing/2014/main" id="{9033AECB-7663-C2C7-6443-1AC367EE73B4}"/>
              </a:ext>
            </a:extLst>
          </p:cNvPr>
          <p:cNvSpPr>
            <a:spLocks noGrp="1"/>
          </p:cNvSpPr>
          <p:nvPr>
            <p:ph type="body" sz="quarter" idx="10"/>
          </p:nvPr>
        </p:nvSpPr>
        <p:spPr>
          <a:xfrm>
            <a:off x="928254" y="1313847"/>
            <a:ext cx="9785053" cy="4027080"/>
          </a:xfrm>
        </p:spPr>
        <p:txBody>
          <a:bodyPr/>
          <a:lstStyle/>
          <a:p>
            <a:pPr marL="285750" indent="-285750">
              <a:buFont typeface="Arial" panose="020B0604020202020204" pitchFamily="34" charset="0"/>
              <a:buChar char="•"/>
            </a:pPr>
            <a:r>
              <a:rPr lang="en-US" sz="2000" dirty="0"/>
              <a:t>Identify Applicable CEF:</a:t>
            </a:r>
          </a:p>
          <a:p>
            <a:pPr marL="742950" lvl="1" indent="-285750">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Determine which CEF apply to the system.</a:t>
            </a:r>
          </a:p>
          <a:p>
            <a:pPr marL="742950" lvl="1" indent="-285750">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Provide detailed explanations for non-applicable CEF in ORR and CR columns in the SMC Intake Form.</a:t>
            </a:r>
          </a:p>
          <a:p>
            <a:pPr marL="285750" indent="-285750">
              <a:lnSpc>
                <a:spcPct val="100000"/>
              </a:lnSpc>
              <a:buFont typeface="Arial" panose="020B0604020202020204" pitchFamily="34" charset="0"/>
              <a:buChar char="•"/>
            </a:pPr>
            <a:r>
              <a:rPr lang="en-US" sz="2000" dirty="0"/>
              <a:t>Attest to Compliance:</a:t>
            </a:r>
          </a:p>
          <a:p>
            <a:pPr marL="742950" lvl="1" indent="-285750">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State must attest that the system complies with all applicable CEF as per </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42 CFR §433.112.</a:t>
            </a:r>
          </a:p>
          <a:p>
            <a:pPr marL="742950" lvl="1" indent="-285750">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Ensure ongoing compliance with Medicaid program standards, laws, and regulations.</a:t>
            </a:r>
          </a:p>
          <a:p>
            <a:pPr marL="285750" indent="-285750">
              <a:buFont typeface="Arial" panose="020B0604020202020204" pitchFamily="34" charset="0"/>
              <a:buChar char="•"/>
            </a:pPr>
            <a:r>
              <a:rPr lang="en-US" sz="2000" dirty="0"/>
              <a:t>Provide Evidence and Documentation:</a:t>
            </a:r>
          </a:p>
          <a:p>
            <a:pPr marL="742950" lvl="1" indent="-285750">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CEFs do not require live demonstrations </a:t>
            </a:r>
          </a:p>
          <a:p>
            <a:pPr marL="742950" lvl="1" indent="-285750">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Reference the MES Certification Repository for CEF examples, required evidence, and corresponding metric.</a:t>
            </a:r>
          </a:p>
        </p:txBody>
      </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10</a:t>
            </a:fld>
            <a:endParaRPr lang="en-US" dirty="0"/>
          </a:p>
        </p:txBody>
      </p:sp>
    </p:spTree>
    <p:extLst>
      <p:ext uri="{BB962C8B-B14F-4D97-AF65-F5344CB8AC3E}">
        <p14:creationId xmlns:p14="http://schemas.microsoft.com/office/powerpoint/2010/main" val="1950162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60D9C0-9AA9-5EED-73E2-C2548ABEADD3}"/>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CMS-Required Outcomes </a:t>
            </a:r>
          </a:p>
        </p:txBody>
      </p:sp>
      <p:sp>
        <p:nvSpPr>
          <p:cNvPr id="2" name="Text Placeholder 1">
            <a:extLst>
              <a:ext uri="{FF2B5EF4-FFF2-40B4-BE49-F238E27FC236}">
                <a16:creationId xmlns:a16="http://schemas.microsoft.com/office/drawing/2014/main" id="{CAC8D364-EAF7-A9FB-40BC-50B9712020E3}"/>
              </a:ext>
            </a:extLst>
          </p:cNvPr>
          <p:cNvSpPr>
            <a:spLocks noGrp="1"/>
          </p:cNvSpPr>
          <p:nvPr>
            <p:ph type="body" sz="quarter" idx="10"/>
          </p:nvPr>
        </p:nvSpPr>
        <p:spPr>
          <a:xfrm>
            <a:off x="928254" y="1313847"/>
            <a:ext cx="10771055" cy="3922296"/>
          </a:xfrm>
        </p:spPr>
        <p:txBody>
          <a:bodyPr/>
          <a:lstStyle/>
          <a:p>
            <a:pPr>
              <a:lnSpc>
                <a:spcPct val="100000"/>
              </a:lnSpc>
            </a:pPr>
            <a:r>
              <a:rPr lang="en-US" sz="2400" dirty="0">
                <a:latin typeface="Arial" panose="020B0604020202020204" pitchFamily="34" charset="0"/>
                <a:cs typeface="Arial" panose="020B0604020202020204" pitchFamily="34" charset="0"/>
              </a:rPr>
              <a:t>Based on statutory or regulatory requirements</a:t>
            </a:r>
          </a:p>
          <a:p>
            <a:pPr>
              <a:lnSpc>
                <a:spcPct val="100000"/>
              </a:lnSpc>
            </a:pPr>
            <a:r>
              <a:rPr lang="en-US" sz="2400" dirty="0">
                <a:latin typeface="Arial" panose="020B0604020202020204" pitchFamily="34" charset="0"/>
                <a:cs typeface="Arial" panose="020B0604020202020204" pitchFamily="34" charset="0"/>
              </a:rPr>
              <a:t>Ensure efficient, economical, and effective Medicaid program administration</a:t>
            </a:r>
          </a:p>
          <a:p>
            <a:pPr>
              <a:lnSpc>
                <a:spcPct val="100000"/>
              </a:lnSpc>
            </a:pPr>
            <a:r>
              <a:rPr lang="en-US" sz="2400" dirty="0">
                <a:latin typeface="Arial" panose="020B0604020202020204" pitchFamily="34" charset="0"/>
                <a:cs typeface="Arial" panose="020B0604020202020204" pitchFamily="34" charset="0"/>
              </a:rPr>
              <a:t>Should be treated as requirements</a:t>
            </a:r>
          </a:p>
          <a:p>
            <a:pPr>
              <a:lnSpc>
                <a:spcPct val="100000"/>
              </a:lnSpc>
            </a:pPr>
            <a:r>
              <a:rPr lang="en-US" sz="2400" dirty="0"/>
              <a:t>SMC Intake Form:</a:t>
            </a:r>
          </a:p>
          <a:p>
            <a:pPr lvl="1">
              <a:lnSpc>
                <a:spcPct val="100000"/>
              </a:lnSpc>
              <a:buFont typeface="Calibri" panose="020F0502020204030204" pitchFamily="34" charset="0"/>
              <a:buChar char="–"/>
            </a:pPr>
            <a:r>
              <a:rPr lang="en-US" sz="2000" dirty="0">
                <a:latin typeface="Arial" panose="020B0604020202020204" pitchFamily="34" charset="0"/>
                <a:cs typeface="Arial" panose="020B0604020202020204" pitchFamily="34" charset="0"/>
              </a:rPr>
              <a:t>List all CMS-required outcomes for the specific module type(s) in the SMC Intake Form.</a:t>
            </a:r>
          </a:p>
          <a:p>
            <a:pPr lvl="1">
              <a:lnSpc>
                <a:spcPct val="100000"/>
              </a:lnSpc>
              <a:buFont typeface="Calibri" panose="020F0502020204030204" pitchFamily="34" charset="0"/>
              <a:buChar char="–"/>
            </a:pPr>
            <a:r>
              <a:rPr lang="en-US" sz="2000" dirty="0">
                <a:latin typeface="Arial" panose="020B0604020202020204" pitchFamily="34" charset="0"/>
                <a:cs typeface="Arial" panose="020B0604020202020204" pitchFamily="34" charset="0"/>
              </a:rPr>
              <a:t>Provide explanations for non-applicable outcomes in ORR and CR columns.</a:t>
            </a:r>
          </a:p>
          <a:p>
            <a:pPr lvl="1">
              <a:lnSpc>
                <a:spcPct val="100000"/>
              </a:lnSpc>
              <a:buFont typeface="Calibri" panose="020F0502020204030204" pitchFamily="34" charset="0"/>
              <a:buChar char="–"/>
            </a:pPr>
            <a:r>
              <a:rPr lang="en-US" sz="2000" dirty="0">
                <a:latin typeface="Arial" panose="020B0604020202020204" pitchFamily="34" charset="0"/>
                <a:cs typeface="Arial" panose="020B0604020202020204" pitchFamily="34" charset="0"/>
              </a:rPr>
              <a:t>Refer to the MES Certification Repository for a complete list of CMS-required outcomes.</a:t>
            </a:r>
          </a:p>
        </p:txBody>
      </p:sp>
      <p:sp>
        <p:nvSpPr>
          <p:cNvPr id="3" name="Slide Number Placeholder 2">
            <a:extLst>
              <a:ext uri="{FF2B5EF4-FFF2-40B4-BE49-F238E27FC236}">
                <a16:creationId xmlns:a16="http://schemas.microsoft.com/office/drawing/2014/main" id="{B92F907D-309A-80F8-EFA6-B41617855691}"/>
              </a:ext>
            </a:extLst>
          </p:cNvPr>
          <p:cNvSpPr>
            <a:spLocks noGrp="1"/>
          </p:cNvSpPr>
          <p:nvPr>
            <p:ph type="sldNum" sz="quarter" idx="4"/>
          </p:nvPr>
        </p:nvSpPr>
        <p:spPr/>
        <p:txBody>
          <a:bodyPr/>
          <a:lstStyle/>
          <a:p>
            <a:fld id="{295008BC-DA31-4D19-837B-EFA4386B05F5}" type="slidenum">
              <a:rPr lang="en-US" smtClean="0"/>
              <a:t>11</a:t>
            </a:fld>
            <a:endParaRPr lang="en-US" dirty="0"/>
          </a:p>
        </p:txBody>
      </p:sp>
    </p:spTree>
    <p:extLst>
      <p:ext uri="{BB962C8B-B14F-4D97-AF65-F5344CB8AC3E}">
        <p14:creationId xmlns:p14="http://schemas.microsoft.com/office/powerpoint/2010/main" val="3157500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State-Specific Outcomes </a:t>
            </a:r>
          </a:p>
        </p:txBody>
      </p:sp>
      <p:sp>
        <p:nvSpPr>
          <p:cNvPr id="2" name="Text Placeholder 1">
            <a:extLst>
              <a:ext uri="{FF2B5EF4-FFF2-40B4-BE49-F238E27FC236}">
                <a16:creationId xmlns:a16="http://schemas.microsoft.com/office/drawing/2014/main" id="{4148A767-3D95-1195-A316-6253BA860382}"/>
              </a:ext>
            </a:extLst>
          </p:cNvPr>
          <p:cNvSpPr>
            <a:spLocks noGrp="1"/>
          </p:cNvSpPr>
          <p:nvPr>
            <p:ph type="body" sz="quarter" idx="10"/>
          </p:nvPr>
        </p:nvSpPr>
        <p:spPr>
          <a:xfrm>
            <a:off x="928255" y="1313847"/>
            <a:ext cx="9743920" cy="3922296"/>
          </a:xfrm>
        </p:spPr>
        <p:txBody>
          <a:bodyPr lIns="91440" tIns="45720" rIns="91440" bIns="45720" anchor="t"/>
          <a:lstStyle/>
          <a:p>
            <a:pPr marL="0" indent="0">
              <a:lnSpc>
                <a:spcPct val="100000"/>
              </a:lnSpc>
              <a:buNone/>
            </a:pPr>
            <a:r>
              <a:rPr lang="en-US" sz="2400" dirty="0">
                <a:latin typeface="Arial"/>
                <a:cs typeface="Arial"/>
              </a:rPr>
              <a:t>Beyond CMS requirements, State-Specific outcomes:</a:t>
            </a:r>
            <a:endParaRPr lang="en-US" sz="2400" dirty="0">
              <a:cs typeface="Arial"/>
            </a:endParaRPr>
          </a:p>
          <a:p>
            <a:pPr marL="685154" lvl="1" indent="-227965">
              <a:lnSpc>
                <a:spcPct val="100000"/>
              </a:lnSpc>
            </a:pPr>
            <a:r>
              <a:rPr lang="en-US" sz="2000" dirty="0">
                <a:latin typeface="Arial"/>
                <a:cs typeface="Arial"/>
              </a:rPr>
              <a:t>Address improvements not covered by CMS-required outcomes</a:t>
            </a:r>
            <a:endParaRPr lang="en-US" dirty="0">
              <a:latin typeface="Arial"/>
              <a:cs typeface="Arial"/>
            </a:endParaRPr>
          </a:p>
          <a:p>
            <a:pPr marL="685154" lvl="1" indent="-227965">
              <a:lnSpc>
                <a:spcPct val="100000"/>
              </a:lnSpc>
            </a:pPr>
            <a:r>
              <a:rPr lang="en-US" sz="2000" dirty="0">
                <a:latin typeface="Arial"/>
                <a:cs typeface="Arial"/>
              </a:rPr>
              <a:t>Reflect unique State circumstances</a:t>
            </a:r>
          </a:p>
          <a:p>
            <a:pPr marL="685154" lvl="1" indent="-227965">
              <a:lnSpc>
                <a:spcPct val="100000"/>
              </a:lnSpc>
            </a:pPr>
            <a:r>
              <a:rPr lang="en-US" sz="2000" dirty="0">
                <a:latin typeface="Arial"/>
                <a:cs typeface="Arial"/>
              </a:rPr>
              <a:t>Specific to the State’s IT investment</a:t>
            </a:r>
          </a:p>
          <a:p>
            <a:pPr marL="685154" lvl="1" indent="-227965">
              <a:lnSpc>
                <a:spcPct val="100000"/>
              </a:lnSpc>
            </a:pPr>
            <a:r>
              <a:rPr lang="en-US" sz="2000" dirty="0">
                <a:latin typeface="Arial"/>
                <a:cs typeface="Arial"/>
              </a:rPr>
              <a:t>Demonstrate progress toward State goals and show benefit to the Medicaid program</a:t>
            </a:r>
          </a:p>
          <a:p>
            <a:pPr marL="227965" indent="-227965">
              <a:lnSpc>
                <a:spcPct val="100000"/>
              </a:lnSpc>
            </a:pPr>
            <a:endParaRPr lang="en-US" dirty="0"/>
          </a:p>
        </p:txBody>
      </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12</a:t>
            </a:fld>
            <a:endParaRPr lang="en-US" dirty="0"/>
          </a:p>
        </p:txBody>
      </p:sp>
    </p:spTree>
    <p:extLst>
      <p:ext uri="{BB962C8B-B14F-4D97-AF65-F5344CB8AC3E}">
        <p14:creationId xmlns:p14="http://schemas.microsoft.com/office/powerpoint/2010/main" val="1617335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Metrics</a:t>
            </a:r>
          </a:p>
        </p:txBody>
      </p:sp>
      <p:sp>
        <p:nvSpPr>
          <p:cNvPr id="2" name="Text Placeholder 1">
            <a:extLst>
              <a:ext uri="{FF2B5EF4-FFF2-40B4-BE49-F238E27FC236}">
                <a16:creationId xmlns:a16="http://schemas.microsoft.com/office/drawing/2014/main" id="{F7D5E14A-D1B0-B865-288B-AE6CD7765249}"/>
              </a:ext>
            </a:extLst>
          </p:cNvPr>
          <p:cNvSpPr>
            <a:spLocks noGrp="1"/>
          </p:cNvSpPr>
          <p:nvPr>
            <p:ph type="body" sz="quarter" idx="10"/>
          </p:nvPr>
        </p:nvSpPr>
        <p:spPr>
          <a:xfrm>
            <a:off x="928254" y="1125771"/>
            <a:ext cx="11022445" cy="4354821"/>
          </a:xfrm>
        </p:spPr>
        <p:txBody>
          <a:bodyPr lIns="91440" tIns="45720" rIns="91440" bIns="45720" anchor="t"/>
          <a:lstStyle/>
          <a:p>
            <a:pPr marL="227965" indent="-227965">
              <a:lnSpc>
                <a:spcPct val="100000"/>
              </a:lnSpc>
            </a:pPr>
            <a:r>
              <a:rPr lang="en-US" sz="1800" dirty="0">
                <a:latin typeface="Arial"/>
                <a:cs typeface="Arial"/>
              </a:rPr>
              <a:t>Importance:</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Reliably evaluate effectiveness of system performance.</a:t>
            </a:r>
            <a:endParaRPr lang="en-US" sz="1800" strike="sngStrike" dirty="0">
              <a:latin typeface="Arial" panose="020B0604020202020204" pitchFamily="34" charset="0"/>
              <a:cs typeface="Arial" panose="020B0604020202020204" pitchFamily="34" charset="0"/>
            </a:endParaRP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Provide early insight into program evaluation and opportunities for improvement.</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Enable ongoing monitoring of system progress.</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Promote transparency and accountability of IT solutions.</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Update metrics as needed to reflect system maturation and achievement of outcomes over the system’s lifecycle.</a:t>
            </a:r>
          </a:p>
          <a:p>
            <a:pPr marL="227965" indent="-227965">
              <a:lnSpc>
                <a:spcPct val="100000"/>
              </a:lnSpc>
              <a:spcBef>
                <a:spcPts val="600"/>
              </a:spcBef>
            </a:pPr>
            <a:r>
              <a:rPr lang="en-US" sz="1800" dirty="0">
                <a:latin typeface="Arial"/>
                <a:cs typeface="Arial"/>
              </a:rPr>
              <a:t>CR Requirements:</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Report system performance metrics as a condition for enhanced funding (42 CFR §433.112(b)(15)).</a:t>
            </a:r>
          </a:p>
          <a:p>
            <a:pPr marL="227965" indent="-227965">
              <a:lnSpc>
                <a:spcPct val="100000"/>
              </a:lnSpc>
              <a:spcBef>
                <a:spcPts val="600"/>
              </a:spcBef>
            </a:pPr>
            <a:r>
              <a:rPr lang="en-US" sz="1800" dirty="0">
                <a:latin typeface="Arial"/>
                <a:cs typeface="Arial"/>
              </a:rPr>
              <a:t>Updates:</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Intended metrics and outcomes may change over the course of the project due to program needs or other changes.</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Discuss updates with the CMS State Officer and submit an APD-Update if necessary.</a:t>
            </a:r>
          </a:p>
        </p:txBody>
      </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13</a:t>
            </a:fld>
            <a:endParaRPr lang="en-US" dirty="0"/>
          </a:p>
        </p:txBody>
      </p:sp>
    </p:spTree>
    <p:extLst>
      <p:ext uri="{BB962C8B-B14F-4D97-AF65-F5344CB8AC3E}">
        <p14:creationId xmlns:p14="http://schemas.microsoft.com/office/powerpoint/2010/main" val="3797576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F68E367-D92D-8D0A-567D-051C99AB4CB6}"/>
              </a:ext>
            </a:extLst>
          </p:cNvPr>
          <p:cNvSpPr>
            <a:spLocks noGrp="1"/>
          </p:cNvSpPr>
          <p:nvPr>
            <p:ph type="title"/>
          </p:nvPr>
        </p:nvSpPr>
        <p:spPr>
          <a:xfrm>
            <a:off x="832874" y="2083917"/>
            <a:ext cx="9653038" cy="2250988"/>
          </a:xfrm>
        </p:spPr>
        <p:txBody>
          <a:bodyPr/>
          <a:lstStyle/>
          <a:p>
            <a:r>
              <a:rPr lang="en-US" sz="5400" dirty="0"/>
              <a:t>What to Expect:</a:t>
            </a:r>
            <a:br>
              <a:rPr lang="en-US" sz="5400" dirty="0"/>
            </a:br>
            <a:r>
              <a:rPr lang="en-US" sz="5400" dirty="0"/>
              <a:t>Operational Readiness Review (ORR)</a:t>
            </a:r>
          </a:p>
        </p:txBody>
      </p:sp>
      <p:sp>
        <p:nvSpPr>
          <p:cNvPr id="3" name="Slide Number Placeholder 2">
            <a:extLst>
              <a:ext uri="{FF2B5EF4-FFF2-40B4-BE49-F238E27FC236}">
                <a16:creationId xmlns:a16="http://schemas.microsoft.com/office/drawing/2014/main" id="{2B58EA3D-EF8C-70DE-5166-4BC68F20CD5C}"/>
              </a:ext>
            </a:extLst>
          </p:cNvPr>
          <p:cNvSpPr>
            <a:spLocks noGrp="1"/>
          </p:cNvSpPr>
          <p:nvPr>
            <p:ph type="sldNum" sz="quarter" idx="12"/>
          </p:nvPr>
        </p:nvSpPr>
        <p:spPr/>
        <p:txBody>
          <a:bodyPr/>
          <a:lstStyle/>
          <a:p>
            <a:fld id="{307C9BC6-3632-4035-A6F8-73DB694A0BF4}" type="slidenum">
              <a:rPr lang="en-US" smtClean="0"/>
              <a:t>14</a:t>
            </a:fld>
            <a:endParaRPr lang="en-US" dirty="0"/>
          </a:p>
        </p:txBody>
      </p:sp>
    </p:spTree>
    <p:extLst>
      <p:ext uri="{BB962C8B-B14F-4D97-AF65-F5344CB8AC3E}">
        <p14:creationId xmlns:p14="http://schemas.microsoft.com/office/powerpoint/2010/main" val="2074048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About the ORR</a:t>
            </a:r>
          </a:p>
        </p:txBody>
      </p:sp>
      <p:sp>
        <p:nvSpPr>
          <p:cNvPr id="2" name="Text Placeholder 1">
            <a:extLst>
              <a:ext uri="{FF2B5EF4-FFF2-40B4-BE49-F238E27FC236}">
                <a16:creationId xmlns:a16="http://schemas.microsoft.com/office/drawing/2014/main" id="{1EE08C3E-28FA-0C96-9219-0AF0CE9A87DA}"/>
              </a:ext>
            </a:extLst>
          </p:cNvPr>
          <p:cNvSpPr>
            <a:spLocks noGrp="1"/>
          </p:cNvSpPr>
          <p:nvPr>
            <p:ph type="body" sz="quarter" idx="10"/>
          </p:nvPr>
        </p:nvSpPr>
        <p:spPr>
          <a:xfrm>
            <a:off x="928255" y="1266029"/>
            <a:ext cx="10684625" cy="3922296"/>
          </a:xfrm>
        </p:spPr>
        <p:txBody>
          <a:bodyPr lIns="91440" tIns="45720" rIns="91440" bIns="45720" anchor="t"/>
          <a:lstStyle/>
          <a:p>
            <a:pPr marL="227965" indent="-227965">
              <a:lnSpc>
                <a:spcPct val="100000"/>
              </a:lnSpc>
            </a:pPr>
            <a:r>
              <a:rPr lang="en-US" sz="2000" dirty="0"/>
              <a:t>Purpose</a:t>
            </a:r>
            <a:endParaRPr lang="en-US" dirty="0"/>
          </a:p>
          <a:p>
            <a:pPr marL="685165" lvl="1" indent="-227965">
              <a:lnSpc>
                <a:spcPct val="100000"/>
              </a:lnSpc>
              <a:buFont typeface="Calibri" panose="020F0502020204030204" pitchFamily="34" charset="0"/>
              <a:buChar char="–"/>
            </a:pPr>
            <a:r>
              <a:rPr lang="en-US" sz="1800" dirty="0">
                <a:latin typeface="Arial"/>
                <a:cs typeface="Arial"/>
              </a:rPr>
              <a:t>Review the State’s design and development experience</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Confirm system readiness for production</a:t>
            </a:r>
          </a:p>
          <a:p>
            <a:pPr marL="685165" lvl="1" indent="-227965">
              <a:lnSpc>
                <a:spcPct val="100000"/>
              </a:lnSpc>
              <a:buFont typeface="Calibri" panose="020F0502020204030204" pitchFamily="34" charset="0"/>
              <a:buChar char="–"/>
            </a:pPr>
            <a:r>
              <a:rPr lang="en-US" sz="1800" dirty="0">
                <a:latin typeface="Arial"/>
                <a:cs typeface="Arial"/>
              </a:rPr>
              <a:t>Ensure the likelihood of achieving the described outcomes and metrics</a:t>
            </a:r>
            <a:endParaRPr lang="en-US" sz="1800" dirty="0">
              <a:solidFill>
                <a:srgbClr val="FF0000"/>
              </a:solidFill>
              <a:latin typeface="Arial" panose="020B0604020202020204" pitchFamily="34" charset="0"/>
              <a:cs typeface="Arial" panose="020B0604020202020204" pitchFamily="34" charset="0"/>
            </a:endParaRPr>
          </a:p>
          <a:p>
            <a:pPr marL="227965" indent="-227965">
              <a:lnSpc>
                <a:spcPct val="100000"/>
              </a:lnSpc>
            </a:pPr>
            <a:r>
              <a:rPr lang="en-US" sz="2000" dirty="0">
                <a:latin typeface="Arial"/>
                <a:cs typeface="Arial"/>
              </a:rPr>
              <a:t>Eligibility</a:t>
            </a:r>
            <a:endParaRPr lang="en-US" sz="2000" dirty="0"/>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CMS Certification Team will confirm the date once the State has met the entry criteria</a:t>
            </a:r>
          </a:p>
          <a:p>
            <a:pPr marL="227965" indent="-227965">
              <a:lnSpc>
                <a:spcPct val="100000"/>
              </a:lnSpc>
            </a:pPr>
            <a:r>
              <a:rPr lang="en-US" sz="2000" dirty="0"/>
              <a:t>Timing</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Conducted before the project goes into production</a:t>
            </a:r>
          </a:p>
          <a:p>
            <a:pPr marL="227965" indent="-227965">
              <a:lnSpc>
                <a:spcPct val="100000"/>
              </a:lnSpc>
            </a:pPr>
            <a:r>
              <a:rPr lang="en-US" sz="2000" dirty="0"/>
              <a:t>Demonstrations</a:t>
            </a:r>
          </a:p>
          <a:p>
            <a:pPr marL="685165" lvl="1" indent="-227965">
              <a:lnSpc>
                <a:spcPct val="100000"/>
              </a:lnSpc>
              <a:buFont typeface="Calibri" panose="020F0502020204030204" pitchFamily="34" charset="0"/>
              <a:buChar char="–"/>
            </a:pPr>
            <a:r>
              <a:rPr lang="en-US" sz="1800" dirty="0">
                <a:latin typeface="Arial" panose="020B0604020202020204" pitchFamily="34" charset="0"/>
                <a:cs typeface="Arial" panose="020B0604020202020204" pitchFamily="34" charset="0"/>
              </a:rPr>
              <a:t>Executed in the State’s preproduction (testing) environment</a:t>
            </a:r>
          </a:p>
        </p:txBody>
      </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15</a:t>
            </a:fld>
            <a:endParaRPr lang="en-US" dirty="0"/>
          </a:p>
        </p:txBody>
      </p:sp>
    </p:spTree>
    <p:extLst>
      <p:ext uri="{BB962C8B-B14F-4D97-AF65-F5344CB8AC3E}">
        <p14:creationId xmlns:p14="http://schemas.microsoft.com/office/powerpoint/2010/main" val="3094807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7AFEB-0269-C33B-2656-20DA355FD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50761-DB03-E8FA-D7CE-BDE5AC663CFD}"/>
              </a:ext>
            </a:extLst>
          </p:cNvPr>
          <p:cNvSpPr>
            <a:spLocks noGrp="1"/>
          </p:cNvSpPr>
          <p:nvPr>
            <p:ph type="ctrTitle"/>
          </p:nvPr>
        </p:nvSpPr>
        <p:spPr/>
        <p:txBody>
          <a:bodyPr>
            <a:normAutofit/>
          </a:bodyPr>
          <a:lstStyle/>
          <a:p>
            <a:r>
              <a:rPr lang="en-US" sz="3750" dirty="0">
                <a:solidFill>
                  <a:srgbClr val="004986"/>
                </a:solidFill>
                <a:cs typeface="Arial" panose="020B0604020202020204" pitchFamily="34" charset="0"/>
              </a:rPr>
              <a:t>ORR Timeline</a:t>
            </a:r>
          </a:p>
        </p:txBody>
      </p:sp>
      <p:sp>
        <p:nvSpPr>
          <p:cNvPr id="3" name="Slide Number Placeholder 2">
            <a:extLst>
              <a:ext uri="{FF2B5EF4-FFF2-40B4-BE49-F238E27FC236}">
                <a16:creationId xmlns:a16="http://schemas.microsoft.com/office/drawing/2014/main" id="{119E7A56-4DD3-68A5-9CCE-2DBD050CE9D5}"/>
              </a:ext>
              <a:ext uri="{C183D7F6-B498-43B3-948B-1728B52AA6E4}">
                <adec:decorative xmlns:adec="http://schemas.microsoft.com/office/drawing/2017/decorative" val="1"/>
              </a:ext>
            </a:extLst>
          </p:cNvPr>
          <p:cNvSpPr>
            <a:spLocks noGrp="1"/>
          </p:cNvSpPr>
          <p:nvPr>
            <p:ph type="sldNum" sz="quarter" idx="4"/>
          </p:nvPr>
        </p:nvSpPr>
        <p:spPr/>
        <p:txBody>
          <a:bodyPr/>
          <a:lstStyle/>
          <a:p>
            <a:fld id="{307C9BC6-3632-4035-A6F8-73DB694A0BF4}" type="slidenum">
              <a:rPr lang="en-US" smtClean="0"/>
              <a:t>16</a:t>
            </a:fld>
            <a:endParaRPr lang="en-US" dirty="0"/>
          </a:p>
        </p:txBody>
      </p:sp>
      <p:sp>
        <p:nvSpPr>
          <p:cNvPr id="4" name="Right Arrow 3" descr="Visual representation of timeline for ORR.&#10;">
            <a:extLst>
              <a:ext uri="{FF2B5EF4-FFF2-40B4-BE49-F238E27FC236}">
                <a16:creationId xmlns:a16="http://schemas.microsoft.com/office/drawing/2014/main" id="{2FE107F8-7F51-A0F4-3D5A-A9988DB80069}"/>
              </a:ext>
            </a:extLst>
          </p:cNvPr>
          <p:cNvSpPr/>
          <p:nvPr/>
        </p:nvSpPr>
        <p:spPr>
          <a:xfrm>
            <a:off x="360838" y="2789295"/>
            <a:ext cx="11649875" cy="10896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952F92AD-E77A-7164-4F55-0D60277D7B24}"/>
              </a:ext>
              <a:ext uri="{C183D7F6-B498-43B3-948B-1728B52AA6E4}">
                <adec:decorative xmlns:adec="http://schemas.microsoft.com/office/drawing/2017/decorative" val="1"/>
              </a:ext>
            </a:extLst>
          </p:cNvPr>
          <p:cNvSpPr txBox="1"/>
          <p:nvPr/>
        </p:nvSpPr>
        <p:spPr>
          <a:xfrm>
            <a:off x="1181859" y="3075238"/>
            <a:ext cx="1021515" cy="523220"/>
          </a:xfrm>
          <a:prstGeom prst="rect">
            <a:avLst/>
          </a:prstGeom>
          <a:noFill/>
        </p:spPr>
        <p:txBody>
          <a:bodyPr wrap="square" rtlCol="0">
            <a:spAutoFit/>
          </a:bodyPr>
          <a:lstStyle/>
          <a:p>
            <a:pPr algn="ctr"/>
            <a:r>
              <a:rPr lang="en-US" sz="1400" dirty="0">
                <a:solidFill>
                  <a:schemeClr val="bg1"/>
                </a:solidFill>
              </a:rPr>
              <a:t>3 months prior</a:t>
            </a:r>
          </a:p>
        </p:txBody>
      </p:sp>
      <p:cxnSp>
        <p:nvCxnSpPr>
          <p:cNvPr id="13" name="Straight Connector 12">
            <a:extLst>
              <a:ext uri="{FF2B5EF4-FFF2-40B4-BE49-F238E27FC236}">
                <a16:creationId xmlns:a16="http://schemas.microsoft.com/office/drawing/2014/main" id="{B5173336-1551-30B3-7BFF-7B84AB5F7E09}"/>
              </a:ext>
              <a:ext uri="{C183D7F6-B498-43B3-948B-1728B52AA6E4}">
                <adec:decorative xmlns:adec="http://schemas.microsoft.com/office/drawing/2017/decorative" val="1"/>
              </a:ext>
            </a:extLst>
          </p:cNvPr>
          <p:cNvCxnSpPr>
            <a:cxnSpLocks/>
          </p:cNvCxnSpPr>
          <p:nvPr/>
        </p:nvCxnSpPr>
        <p:spPr>
          <a:xfrm>
            <a:off x="1709046" y="2215388"/>
            <a:ext cx="0" cy="845932"/>
          </a:xfrm>
          <a:prstGeom prst="line">
            <a:avLst/>
          </a:prstGeom>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5191BA2F-DB2D-4367-CCD6-3A3CF92041D4}"/>
              </a:ext>
              <a:ext uri="{C183D7F6-B498-43B3-948B-1728B52AA6E4}">
                <adec:decorative xmlns:adec="http://schemas.microsoft.com/office/drawing/2017/decorative" val="1"/>
              </a:ext>
            </a:extLst>
          </p:cNvPr>
          <p:cNvSpPr/>
          <p:nvPr/>
        </p:nvSpPr>
        <p:spPr>
          <a:xfrm>
            <a:off x="361964" y="1387612"/>
            <a:ext cx="2654350" cy="1273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solidFill>
                  <a:schemeClr val="bg1"/>
                </a:solidFill>
              </a:rPr>
              <a:t>Three Months Prior:</a:t>
            </a:r>
          </a:p>
          <a:p>
            <a:pPr algn="ctr"/>
            <a:r>
              <a:rPr lang="en-US" sz="1600" dirty="0"/>
              <a:t>Date for ORR will be confirmed up to 3 months in advance, dependent on completion of entry criteria</a:t>
            </a:r>
          </a:p>
        </p:txBody>
      </p:sp>
      <p:cxnSp>
        <p:nvCxnSpPr>
          <p:cNvPr id="51" name="Straight Connector 50">
            <a:extLst>
              <a:ext uri="{FF2B5EF4-FFF2-40B4-BE49-F238E27FC236}">
                <a16:creationId xmlns:a16="http://schemas.microsoft.com/office/drawing/2014/main" id="{6A5BBC2D-475D-DA25-B6A7-550DD7A19BA2}"/>
              </a:ext>
              <a:ext uri="{C183D7F6-B498-43B3-948B-1728B52AA6E4}">
                <adec:decorative xmlns:adec="http://schemas.microsoft.com/office/drawing/2017/decorative" val="1"/>
              </a:ext>
            </a:extLst>
          </p:cNvPr>
          <p:cNvCxnSpPr>
            <a:cxnSpLocks/>
            <a:stCxn id="15" idx="0"/>
            <a:endCxn id="5" idx="2"/>
          </p:cNvCxnSpPr>
          <p:nvPr/>
        </p:nvCxnSpPr>
        <p:spPr>
          <a:xfrm flipV="1">
            <a:off x="3196464" y="3603976"/>
            <a:ext cx="1" cy="460727"/>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6CF0E1C-99C9-F6EB-2149-78F1CAC9ED47}"/>
              </a:ext>
              <a:ext uri="{C183D7F6-B498-43B3-948B-1728B52AA6E4}">
                <adec:decorative xmlns:adec="http://schemas.microsoft.com/office/drawing/2017/decorative" val="1"/>
              </a:ext>
            </a:extLst>
          </p:cNvPr>
          <p:cNvSpPr txBox="1"/>
          <p:nvPr/>
        </p:nvSpPr>
        <p:spPr>
          <a:xfrm>
            <a:off x="2685707" y="3080756"/>
            <a:ext cx="1021515" cy="523220"/>
          </a:xfrm>
          <a:prstGeom prst="rect">
            <a:avLst/>
          </a:prstGeom>
          <a:noFill/>
        </p:spPr>
        <p:txBody>
          <a:bodyPr wrap="square" rtlCol="0">
            <a:spAutoFit/>
          </a:bodyPr>
          <a:lstStyle/>
          <a:p>
            <a:pPr algn="ctr"/>
            <a:r>
              <a:rPr lang="en-US" sz="1400" dirty="0">
                <a:solidFill>
                  <a:schemeClr val="bg1"/>
                </a:solidFill>
              </a:rPr>
              <a:t>2 weeks prior</a:t>
            </a:r>
          </a:p>
        </p:txBody>
      </p:sp>
      <p:sp>
        <p:nvSpPr>
          <p:cNvPr id="15" name="Rounded Rectangle 14">
            <a:extLst>
              <a:ext uri="{FF2B5EF4-FFF2-40B4-BE49-F238E27FC236}">
                <a16:creationId xmlns:a16="http://schemas.microsoft.com/office/drawing/2014/main" id="{02ED9034-0479-089B-451A-504D6D079E96}"/>
              </a:ext>
              <a:ext uri="{C183D7F6-B498-43B3-948B-1728B52AA6E4}">
                <adec:decorative xmlns:adec="http://schemas.microsoft.com/office/drawing/2017/decorative" val="1"/>
              </a:ext>
            </a:extLst>
          </p:cNvPr>
          <p:cNvSpPr/>
          <p:nvPr/>
        </p:nvSpPr>
        <p:spPr>
          <a:xfrm>
            <a:off x="2570071" y="4064703"/>
            <a:ext cx="1252785" cy="10896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Two Weeks Prior: </a:t>
            </a:r>
            <a:r>
              <a:rPr lang="en-US" sz="1600" dirty="0"/>
              <a:t>State submits all files</a:t>
            </a:r>
          </a:p>
        </p:txBody>
      </p:sp>
      <p:sp>
        <p:nvSpPr>
          <p:cNvPr id="21" name="TextBox 20">
            <a:extLst>
              <a:ext uri="{FF2B5EF4-FFF2-40B4-BE49-F238E27FC236}">
                <a16:creationId xmlns:a16="http://schemas.microsoft.com/office/drawing/2014/main" id="{508A49D3-9D64-E0D6-F324-D67F0A9CBF50}"/>
              </a:ext>
              <a:ext uri="{C183D7F6-B498-43B3-948B-1728B52AA6E4}">
                <adec:decorative xmlns:adec="http://schemas.microsoft.com/office/drawing/2017/decorative" val="1"/>
              </a:ext>
            </a:extLst>
          </p:cNvPr>
          <p:cNvSpPr txBox="1"/>
          <p:nvPr/>
        </p:nvSpPr>
        <p:spPr>
          <a:xfrm>
            <a:off x="4127594" y="3059849"/>
            <a:ext cx="1021515" cy="523220"/>
          </a:xfrm>
          <a:prstGeom prst="rect">
            <a:avLst/>
          </a:prstGeom>
          <a:noFill/>
        </p:spPr>
        <p:txBody>
          <a:bodyPr wrap="square" rtlCol="0">
            <a:spAutoFit/>
          </a:bodyPr>
          <a:lstStyle/>
          <a:p>
            <a:pPr algn="ctr"/>
            <a:r>
              <a:rPr lang="en-US" sz="1400" dirty="0">
                <a:solidFill>
                  <a:schemeClr val="bg1"/>
                </a:solidFill>
              </a:rPr>
              <a:t>1 week prior</a:t>
            </a:r>
          </a:p>
        </p:txBody>
      </p:sp>
      <p:cxnSp>
        <p:nvCxnSpPr>
          <p:cNvPr id="53" name="Straight Connector 52">
            <a:extLst>
              <a:ext uri="{FF2B5EF4-FFF2-40B4-BE49-F238E27FC236}">
                <a16:creationId xmlns:a16="http://schemas.microsoft.com/office/drawing/2014/main" id="{DF52B1F2-4C09-3A87-940A-F2D885E3183B}"/>
              </a:ext>
              <a:ext uri="{C183D7F6-B498-43B3-948B-1728B52AA6E4}">
                <adec:decorative xmlns:adec="http://schemas.microsoft.com/office/drawing/2017/decorative" val="1"/>
              </a:ext>
            </a:extLst>
          </p:cNvPr>
          <p:cNvCxnSpPr>
            <a:cxnSpLocks/>
            <a:stCxn id="33" idx="2"/>
            <a:endCxn id="21" idx="0"/>
          </p:cNvCxnSpPr>
          <p:nvPr/>
        </p:nvCxnSpPr>
        <p:spPr>
          <a:xfrm>
            <a:off x="4635038" y="2661492"/>
            <a:ext cx="3314" cy="398357"/>
          </a:xfrm>
          <a:prstGeom prst="line">
            <a:avLst/>
          </a:prstGeom>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51F9C623-7D4F-C951-65E1-314BAD44E14C}"/>
              </a:ext>
              <a:ext uri="{C183D7F6-B498-43B3-948B-1728B52AA6E4}">
                <adec:decorative xmlns:adec="http://schemas.microsoft.com/office/drawing/2017/decorative" val="1"/>
              </a:ext>
            </a:extLst>
          </p:cNvPr>
          <p:cNvSpPr/>
          <p:nvPr/>
        </p:nvSpPr>
        <p:spPr>
          <a:xfrm>
            <a:off x="3626069" y="1186432"/>
            <a:ext cx="2017938" cy="14750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One Week Prior: </a:t>
            </a:r>
            <a:r>
              <a:rPr lang="en-US" sz="1600" dirty="0"/>
              <a:t>State receives Information Request Listing (IRL) for any additional clarification needed</a:t>
            </a:r>
          </a:p>
        </p:txBody>
      </p:sp>
      <p:sp>
        <p:nvSpPr>
          <p:cNvPr id="30" name="5-Point Star 29">
            <a:extLst>
              <a:ext uri="{FF2B5EF4-FFF2-40B4-BE49-F238E27FC236}">
                <a16:creationId xmlns:a16="http://schemas.microsoft.com/office/drawing/2014/main" id="{19A176C7-A4FA-E9BC-C309-A9EF5E653B1E}"/>
              </a:ext>
              <a:ext uri="{C183D7F6-B498-43B3-948B-1728B52AA6E4}">
                <adec:decorative xmlns:adec="http://schemas.microsoft.com/office/drawing/2017/decorative" val="1"/>
              </a:ext>
            </a:extLst>
          </p:cNvPr>
          <p:cNvSpPr/>
          <p:nvPr/>
        </p:nvSpPr>
        <p:spPr>
          <a:xfrm>
            <a:off x="5397450" y="2394135"/>
            <a:ext cx="1771683" cy="1614683"/>
          </a:xfrm>
          <a:prstGeom prst="star5">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F308B81C-288C-259F-464B-C4DF446B8628}"/>
              </a:ext>
              <a:ext uri="{C183D7F6-B498-43B3-948B-1728B52AA6E4}">
                <adec:decorative xmlns:adec="http://schemas.microsoft.com/office/drawing/2017/decorative" val="1"/>
              </a:ext>
            </a:extLst>
          </p:cNvPr>
          <p:cNvSpPr txBox="1"/>
          <p:nvPr/>
        </p:nvSpPr>
        <p:spPr>
          <a:xfrm>
            <a:off x="5922283" y="3125533"/>
            <a:ext cx="722015" cy="539642"/>
          </a:xfrm>
          <a:prstGeom prst="rect">
            <a:avLst/>
          </a:prstGeom>
          <a:noFill/>
        </p:spPr>
        <p:txBody>
          <a:bodyPr wrap="square" rtlCol="0">
            <a:spAutoFit/>
          </a:bodyPr>
          <a:lstStyle/>
          <a:p>
            <a:pPr algn="ctr"/>
            <a:r>
              <a:rPr lang="en-US" sz="1400" dirty="0"/>
              <a:t>Date of ORR</a:t>
            </a:r>
          </a:p>
        </p:txBody>
      </p:sp>
      <p:sp>
        <p:nvSpPr>
          <p:cNvPr id="6" name="TextBox 5">
            <a:extLst>
              <a:ext uri="{FF2B5EF4-FFF2-40B4-BE49-F238E27FC236}">
                <a16:creationId xmlns:a16="http://schemas.microsoft.com/office/drawing/2014/main" id="{2B1710F6-3AD9-95AD-914D-C5B7BF47E8A4}"/>
              </a:ext>
              <a:ext uri="{C183D7F6-B498-43B3-948B-1728B52AA6E4}">
                <adec:decorative xmlns:adec="http://schemas.microsoft.com/office/drawing/2017/decorative" val="1"/>
              </a:ext>
            </a:extLst>
          </p:cNvPr>
          <p:cNvSpPr txBox="1"/>
          <p:nvPr/>
        </p:nvSpPr>
        <p:spPr>
          <a:xfrm>
            <a:off x="7265473" y="3100732"/>
            <a:ext cx="1021515" cy="523220"/>
          </a:xfrm>
          <a:prstGeom prst="rect">
            <a:avLst/>
          </a:prstGeom>
          <a:noFill/>
        </p:spPr>
        <p:txBody>
          <a:bodyPr wrap="square" rtlCol="0">
            <a:spAutoFit/>
          </a:bodyPr>
          <a:lstStyle/>
          <a:p>
            <a:pPr algn="ctr"/>
            <a:r>
              <a:rPr lang="en-US" sz="1400" dirty="0">
                <a:solidFill>
                  <a:schemeClr val="bg1"/>
                </a:solidFill>
              </a:rPr>
              <a:t>1 week after</a:t>
            </a:r>
          </a:p>
        </p:txBody>
      </p:sp>
      <p:cxnSp>
        <p:nvCxnSpPr>
          <p:cNvPr id="55" name="Straight Connector 54">
            <a:extLst>
              <a:ext uri="{FF2B5EF4-FFF2-40B4-BE49-F238E27FC236}">
                <a16:creationId xmlns:a16="http://schemas.microsoft.com/office/drawing/2014/main" id="{A902125B-B3F6-79AE-A784-3238A6CEDD6D}"/>
              </a:ext>
              <a:ext uri="{C183D7F6-B498-43B3-948B-1728B52AA6E4}">
                <adec:decorative xmlns:adec="http://schemas.microsoft.com/office/drawing/2017/decorative" val="1"/>
              </a:ext>
            </a:extLst>
          </p:cNvPr>
          <p:cNvCxnSpPr>
            <a:cxnSpLocks/>
          </p:cNvCxnSpPr>
          <p:nvPr/>
        </p:nvCxnSpPr>
        <p:spPr>
          <a:xfrm flipV="1">
            <a:off x="7776230" y="3518642"/>
            <a:ext cx="0" cy="677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DD6BF40-8391-7412-AA69-574A67AF29DF}"/>
              </a:ext>
              <a:ext uri="{C183D7F6-B498-43B3-948B-1728B52AA6E4}">
                <adec:decorative xmlns:adec="http://schemas.microsoft.com/office/drawing/2017/decorative" val="1"/>
              </a:ext>
            </a:extLst>
          </p:cNvPr>
          <p:cNvCxnSpPr>
            <a:cxnSpLocks/>
          </p:cNvCxnSpPr>
          <p:nvPr/>
        </p:nvCxnSpPr>
        <p:spPr>
          <a:xfrm flipV="1">
            <a:off x="9461466" y="2361348"/>
            <a:ext cx="0" cy="713018"/>
          </a:xfrm>
          <a:prstGeom prst="line">
            <a:avLst/>
          </a:prstGeom>
        </p:spPr>
        <p:style>
          <a:lnRef idx="1">
            <a:schemeClr val="accent1"/>
          </a:lnRef>
          <a:fillRef idx="0">
            <a:schemeClr val="accent1"/>
          </a:fillRef>
          <a:effectRef idx="0">
            <a:schemeClr val="accent1"/>
          </a:effectRef>
          <a:fontRef idx="minor">
            <a:schemeClr val="tx1"/>
          </a:fontRef>
        </p:style>
      </p:cxnSp>
      <p:sp>
        <p:nvSpPr>
          <p:cNvPr id="7" name="Rounded Rectangle 6">
            <a:extLst>
              <a:ext uri="{FF2B5EF4-FFF2-40B4-BE49-F238E27FC236}">
                <a16:creationId xmlns:a16="http://schemas.microsoft.com/office/drawing/2014/main" id="{040E5317-B0BE-75A7-EBEC-22E53852D36E}"/>
              </a:ext>
              <a:ext uri="{C183D7F6-B498-43B3-948B-1728B52AA6E4}">
                <adec:decorative xmlns:adec="http://schemas.microsoft.com/office/drawing/2017/decorative" val="1"/>
              </a:ext>
            </a:extLst>
          </p:cNvPr>
          <p:cNvSpPr/>
          <p:nvPr/>
        </p:nvSpPr>
        <p:spPr>
          <a:xfrm>
            <a:off x="8878754" y="1384704"/>
            <a:ext cx="1084396" cy="1273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System goes live</a:t>
            </a:r>
          </a:p>
        </p:txBody>
      </p:sp>
      <p:cxnSp>
        <p:nvCxnSpPr>
          <p:cNvPr id="41" name="Straight Connector 40">
            <a:extLst>
              <a:ext uri="{FF2B5EF4-FFF2-40B4-BE49-F238E27FC236}">
                <a16:creationId xmlns:a16="http://schemas.microsoft.com/office/drawing/2014/main" id="{C6F97BA5-C45B-E329-63C7-81E226BBFBE2}"/>
              </a:ext>
              <a:ext uri="{C183D7F6-B498-43B3-948B-1728B52AA6E4}">
                <adec:decorative xmlns:adec="http://schemas.microsoft.com/office/drawing/2017/decorative" val="1"/>
              </a:ext>
            </a:extLst>
          </p:cNvPr>
          <p:cNvCxnSpPr>
            <a:cxnSpLocks/>
          </p:cNvCxnSpPr>
          <p:nvPr/>
        </p:nvCxnSpPr>
        <p:spPr>
          <a:xfrm flipV="1">
            <a:off x="9461466" y="3578173"/>
            <a:ext cx="0" cy="713018"/>
          </a:xfrm>
          <a:prstGeom prst="line">
            <a:avLst/>
          </a:prstGeom>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75153850-3139-35E1-EE7B-01AF0ACC32A2}"/>
              </a:ext>
              <a:ext uri="{C183D7F6-B498-43B3-948B-1728B52AA6E4}">
                <adec:decorative xmlns:adec="http://schemas.microsoft.com/office/drawing/2017/decorative" val="1"/>
              </a:ext>
            </a:extLst>
          </p:cNvPr>
          <p:cNvSpPr/>
          <p:nvPr/>
        </p:nvSpPr>
        <p:spPr>
          <a:xfrm>
            <a:off x="8795401" y="4052941"/>
            <a:ext cx="1447800" cy="11014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State </a:t>
            </a:r>
            <a:r>
              <a:rPr lang="en-US" sz="1600" dirty="0">
                <a:solidFill>
                  <a:schemeClr val="bg1"/>
                </a:solidFill>
              </a:rPr>
              <a:t>begins collection </a:t>
            </a:r>
            <a:r>
              <a:rPr lang="en-US" sz="1600" dirty="0"/>
              <a:t>of metrics data in production</a:t>
            </a:r>
          </a:p>
        </p:txBody>
      </p:sp>
      <p:cxnSp>
        <p:nvCxnSpPr>
          <p:cNvPr id="40" name="Straight Connector 39">
            <a:extLst>
              <a:ext uri="{FF2B5EF4-FFF2-40B4-BE49-F238E27FC236}">
                <a16:creationId xmlns:a16="http://schemas.microsoft.com/office/drawing/2014/main" id="{04177BEE-AFBF-5E0F-825F-04B90ED4515E}"/>
              </a:ext>
              <a:ext uri="{C183D7F6-B498-43B3-948B-1728B52AA6E4}">
                <adec:decorative xmlns:adec="http://schemas.microsoft.com/office/drawing/2017/decorative" val="1"/>
              </a:ext>
            </a:extLst>
          </p:cNvPr>
          <p:cNvCxnSpPr>
            <a:cxnSpLocks/>
          </p:cNvCxnSpPr>
          <p:nvPr/>
        </p:nvCxnSpPr>
        <p:spPr>
          <a:xfrm flipV="1">
            <a:off x="10817868" y="2477479"/>
            <a:ext cx="0" cy="713018"/>
          </a:xfrm>
          <a:prstGeom prst="line">
            <a:avLst/>
          </a:prstGeom>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6A2B2895-705E-A3E7-C646-6189F0CB2402}"/>
              </a:ext>
              <a:ext uri="{C183D7F6-B498-43B3-948B-1728B52AA6E4}">
                <adec:decorative xmlns:adec="http://schemas.microsoft.com/office/drawing/2017/decorative" val="1"/>
              </a:ext>
            </a:extLst>
          </p:cNvPr>
          <p:cNvSpPr/>
          <p:nvPr/>
        </p:nvSpPr>
        <p:spPr>
          <a:xfrm>
            <a:off x="10096502" y="1384704"/>
            <a:ext cx="1401848" cy="1253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State prepares for Certification Review</a:t>
            </a:r>
          </a:p>
        </p:txBody>
      </p:sp>
      <p:sp>
        <p:nvSpPr>
          <p:cNvPr id="35" name="Rounded Rectangle 34">
            <a:extLst>
              <a:ext uri="{FF2B5EF4-FFF2-40B4-BE49-F238E27FC236}">
                <a16:creationId xmlns:a16="http://schemas.microsoft.com/office/drawing/2014/main" id="{398B8484-2ED9-C487-EC52-D3BA29242F21}"/>
              </a:ext>
              <a:ext uri="{C183D7F6-B498-43B3-948B-1728B52AA6E4}">
                <adec:decorative xmlns:adec="http://schemas.microsoft.com/office/drawing/2017/decorative" val="1"/>
              </a:ext>
            </a:extLst>
          </p:cNvPr>
          <p:cNvSpPr/>
          <p:nvPr/>
        </p:nvSpPr>
        <p:spPr>
          <a:xfrm>
            <a:off x="6757060" y="4052942"/>
            <a:ext cx="1980505" cy="12754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One Week After: </a:t>
            </a:r>
            <a:r>
              <a:rPr lang="en-US" sz="1600" dirty="0"/>
              <a:t>State receives Tear-out and SMC Intake Form with feedback</a:t>
            </a:r>
          </a:p>
        </p:txBody>
      </p:sp>
    </p:spTree>
    <p:extLst>
      <p:ext uri="{BB962C8B-B14F-4D97-AF65-F5344CB8AC3E}">
        <p14:creationId xmlns:p14="http://schemas.microsoft.com/office/powerpoint/2010/main" val="3391334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9495F-1E63-58A8-D6CB-8AB0211E7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D3850-15EE-EA02-A415-4E6F0EA2B64E}"/>
              </a:ext>
            </a:extLst>
          </p:cNvPr>
          <p:cNvSpPr>
            <a:spLocks noGrp="1"/>
          </p:cNvSpPr>
          <p:nvPr>
            <p:ph type="ctrTitle"/>
          </p:nvPr>
        </p:nvSpPr>
        <p:spPr/>
        <p:txBody>
          <a:bodyPr>
            <a:normAutofit/>
          </a:bodyPr>
          <a:lstStyle/>
          <a:p>
            <a:r>
              <a:rPr lang="en-US" sz="3750" dirty="0">
                <a:solidFill>
                  <a:srgbClr val="004986"/>
                </a:solidFill>
                <a:cs typeface="Calibri Light"/>
              </a:rPr>
              <a:t>ORR Entry </a:t>
            </a:r>
            <a:r>
              <a:rPr lang="en-US" sz="3750" dirty="0">
                <a:cs typeface="Calibri Light"/>
              </a:rPr>
              <a:t>Criteria (1 of 2)</a:t>
            </a:r>
          </a:p>
        </p:txBody>
      </p:sp>
      <p:sp>
        <p:nvSpPr>
          <p:cNvPr id="6" name="Text Placeholder 5">
            <a:extLst>
              <a:ext uri="{FF2B5EF4-FFF2-40B4-BE49-F238E27FC236}">
                <a16:creationId xmlns:a16="http://schemas.microsoft.com/office/drawing/2014/main" id="{869C190A-6E04-076F-E34C-90DD6AF762EB}"/>
              </a:ext>
            </a:extLst>
          </p:cNvPr>
          <p:cNvSpPr>
            <a:spLocks noGrp="1"/>
          </p:cNvSpPr>
          <p:nvPr>
            <p:ph type="body" sz="quarter" idx="10"/>
          </p:nvPr>
        </p:nvSpPr>
        <p:spPr>
          <a:xfrm>
            <a:off x="928254" y="1250783"/>
            <a:ext cx="10312559" cy="4330210"/>
          </a:xfrm>
        </p:spPr>
        <p:txBody>
          <a:bodyPr lIns="91440" tIns="45720" rIns="91440" bIns="45720" anchor="t"/>
          <a:lstStyle/>
          <a:p>
            <a:pPr marL="0" indent="0">
              <a:lnSpc>
                <a:spcPct val="100000"/>
              </a:lnSpc>
              <a:buNone/>
            </a:pPr>
            <a:r>
              <a:rPr lang="en-US" sz="2400" b="1" dirty="0"/>
              <a:t>Prior to requesting to schedule an ORR, the State must provide the following information:  </a:t>
            </a:r>
          </a:p>
          <a:p>
            <a:pPr marL="227965" indent="-227965">
              <a:lnSpc>
                <a:spcPct val="100000"/>
              </a:lnSpc>
            </a:pPr>
            <a:r>
              <a:rPr lang="en-US" sz="2400" dirty="0">
                <a:latin typeface="Arial"/>
                <a:cs typeface="Arial"/>
              </a:rPr>
              <a:t>Go-live Date:</a:t>
            </a:r>
          </a:p>
          <a:p>
            <a:pPr marL="685165" lvl="1" indent="-227965">
              <a:lnSpc>
                <a:spcPct val="100000"/>
              </a:lnSpc>
              <a:buFont typeface="Calibri" panose="020F0502020204030204" pitchFamily="34" charset="0"/>
              <a:buChar char="–"/>
            </a:pPr>
            <a:r>
              <a:rPr lang="en-US" sz="1800" dirty="0">
                <a:latin typeface="Arial"/>
                <a:cs typeface="Arial"/>
              </a:rPr>
              <a:t>Provide anticipated go-live date with defined go/no-go exit criteria and the decision date</a:t>
            </a:r>
            <a:endParaRPr lang="en-US" dirty="0"/>
          </a:p>
          <a:p>
            <a:pPr marL="227965" indent="-227965">
              <a:lnSpc>
                <a:spcPct val="100000"/>
              </a:lnSpc>
            </a:pPr>
            <a:r>
              <a:rPr lang="en-US" sz="2400" dirty="0">
                <a:latin typeface="Arial"/>
                <a:cs typeface="Arial"/>
              </a:rPr>
              <a:t>User Acceptance Testing (UAT):</a:t>
            </a:r>
          </a:p>
          <a:p>
            <a:pPr marL="685165" lvl="1" indent="-227965">
              <a:lnSpc>
                <a:spcPct val="100000"/>
              </a:lnSpc>
              <a:buFont typeface="Calibri" panose="020F0502020204030204" pitchFamily="34" charset="0"/>
              <a:buChar char="–"/>
            </a:pPr>
            <a:r>
              <a:rPr lang="en-US" sz="1800" dirty="0">
                <a:latin typeface="Arial"/>
                <a:cs typeface="Arial"/>
              </a:rPr>
              <a:t>Submit timeline for UAT completion</a:t>
            </a:r>
          </a:p>
          <a:p>
            <a:pPr marL="227965" indent="-227965">
              <a:lnSpc>
                <a:spcPct val="100000"/>
              </a:lnSpc>
              <a:buFont typeface="Arial" panose="020B0604020202020204" pitchFamily="34" charset="0"/>
              <a:buChar char="•"/>
            </a:pPr>
            <a:r>
              <a:rPr lang="en-US" sz="2400" dirty="0">
                <a:latin typeface="Arial"/>
                <a:cs typeface="Arial"/>
              </a:rPr>
              <a:t>Latest SMC Intake Form:</a:t>
            </a:r>
          </a:p>
          <a:p>
            <a:pPr marL="685165" lvl="1" indent="-227965">
              <a:lnSpc>
                <a:spcPct val="100000"/>
              </a:lnSpc>
              <a:buFont typeface="Calibri" panose="020F0502020204030204" pitchFamily="34" charset="0"/>
              <a:buChar char="–"/>
            </a:pPr>
            <a:r>
              <a:rPr lang="en-US" sz="1800" dirty="0">
                <a:latin typeface="Arial"/>
                <a:cs typeface="Arial"/>
              </a:rPr>
              <a:t>Submit a draft SMC Intake Form (updated version due two weeks before the ORR)</a:t>
            </a:r>
          </a:p>
          <a:p>
            <a:pPr marL="685165" lvl="1" indent="-227965">
              <a:lnSpc>
                <a:spcPct val="100000"/>
              </a:lnSpc>
              <a:buFont typeface="Calibri" panose="020F0502020204030204" pitchFamily="34" charset="0"/>
              <a:buChar char="–"/>
            </a:pPr>
            <a:r>
              <a:rPr lang="en-US" sz="1800" dirty="0">
                <a:latin typeface="Arial"/>
                <a:cs typeface="Arial"/>
              </a:rPr>
              <a:t>Ensure all CMS-required outcomes and CEF items are included; if any are N/A, provide a justification</a:t>
            </a:r>
          </a:p>
        </p:txBody>
      </p:sp>
      <p:sp>
        <p:nvSpPr>
          <p:cNvPr id="3" name="Slide Number Placeholder 2">
            <a:extLst>
              <a:ext uri="{FF2B5EF4-FFF2-40B4-BE49-F238E27FC236}">
                <a16:creationId xmlns:a16="http://schemas.microsoft.com/office/drawing/2014/main" id="{1153B8D7-2043-831C-7CE4-B2CEC50DEF7E}"/>
              </a:ext>
            </a:extLst>
          </p:cNvPr>
          <p:cNvSpPr>
            <a:spLocks noGrp="1"/>
          </p:cNvSpPr>
          <p:nvPr>
            <p:ph type="sldNum" sz="quarter" idx="4"/>
          </p:nvPr>
        </p:nvSpPr>
        <p:spPr/>
        <p:txBody>
          <a:bodyPr/>
          <a:lstStyle/>
          <a:p>
            <a:fld id="{307C9BC6-3632-4035-A6F8-73DB694A0BF4}" type="slidenum">
              <a:rPr lang="en-US" smtClean="0"/>
              <a:t>17</a:t>
            </a:fld>
            <a:endParaRPr lang="en-US" dirty="0"/>
          </a:p>
        </p:txBody>
      </p:sp>
    </p:spTree>
    <p:extLst>
      <p:ext uri="{BB962C8B-B14F-4D97-AF65-F5344CB8AC3E}">
        <p14:creationId xmlns:p14="http://schemas.microsoft.com/office/powerpoint/2010/main" val="2701291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8102A-F531-39B7-A987-6625125DC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33D3B-B5B1-F7B3-C7CF-DB2E09950F87}"/>
              </a:ext>
            </a:extLst>
          </p:cNvPr>
          <p:cNvSpPr>
            <a:spLocks noGrp="1"/>
          </p:cNvSpPr>
          <p:nvPr>
            <p:ph type="ctrTitle"/>
          </p:nvPr>
        </p:nvSpPr>
        <p:spPr>
          <a:xfrm>
            <a:off x="513911" y="312791"/>
            <a:ext cx="9144000" cy="745048"/>
          </a:xfrm>
        </p:spPr>
        <p:txBody>
          <a:bodyPr>
            <a:normAutofit/>
          </a:bodyPr>
          <a:lstStyle/>
          <a:p>
            <a:r>
              <a:rPr lang="en-US" sz="3750" dirty="0">
                <a:solidFill>
                  <a:srgbClr val="004986"/>
                </a:solidFill>
                <a:cs typeface="Calibri Light"/>
              </a:rPr>
              <a:t>ORR Entry </a:t>
            </a:r>
            <a:r>
              <a:rPr lang="en-US" sz="3750" dirty="0">
                <a:cs typeface="Calibri Light"/>
              </a:rPr>
              <a:t>Criteria (2</a:t>
            </a:r>
            <a:r>
              <a:rPr lang="en-US" sz="3750" dirty="0">
                <a:solidFill>
                  <a:srgbClr val="FF0000"/>
                </a:solidFill>
                <a:cs typeface="Calibri Light"/>
              </a:rPr>
              <a:t> </a:t>
            </a:r>
            <a:r>
              <a:rPr lang="en-US" sz="3750" dirty="0">
                <a:cs typeface="Calibri Light"/>
              </a:rPr>
              <a:t>of 2)</a:t>
            </a:r>
          </a:p>
        </p:txBody>
      </p:sp>
      <p:sp>
        <p:nvSpPr>
          <p:cNvPr id="6" name="Text Placeholder 5">
            <a:extLst>
              <a:ext uri="{FF2B5EF4-FFF2-40B4-BE49-F238E27FC236}">
                <a16:creationId xmlns:a16="http://schemas.microsoft.com/office/drawing/2014/main" id="{0F321394-1CFD-652A-0DA7-2F1F4B7A6FDA}"/>
              </a:ext>
              <a:ext uri="{C183D7F6-B498-43B3-948B-1728B52AA6E4}">
                <adec:decorative xmlns:adec="http://schemas.microsoft.com/office/drawing/2017/decorative" val="1"/>
              </a:ext>
            </a:extLst>
          </p:cNvPr>
          <p:cNvSpPr>
            <a:spLocks noGrp="1"/>
          </p:cNvSpPr>
          <p:nvPr>
            <p:ph type="body" sz="quarter" idx="10"/>
          </p:nvPr>
        </p:nvSpPr>
        <p:spPr>
          <a:xfrm>
            <a:off x="357190" y="1093617"/>
            <a:ext cx="11430001" cy="4378487"/>
          </a:xfrm>
        </p:spPr>
        <p:txBody>
          <a:bodyPr lIns="91440" tIns="45720" rIns="91440" bIns="45720" anchor="t"/>
          <a:lstStyle/>
          <a:p>
            <a:pPr marL="227965" indent="-227965">
              <a:lnSpc>
                <a:spcPct val="100000"/>
              </a:lnSpc>
              <a:spcBef>
                <a:spcPts val="600"/>
              </a:spcBef>
            </a:pPr>
            <a:r>
              <a:rPr lang="en-US" sz="1800" dirty="0">
                <a:latin typeface="Arial"/>
                <a:cs typeface="Arial"/>
              </a:rPr>
              <a:t>The following files or a projected timeline for completion:</a:t>
            </a:r>
          </a:p>
          <a:p>
            <a:pPr marL="685165" lvl="1" indent="-227965">
              <a:lnSpc>
                <a:spcPct val="100000"/>
              </a:lnSpc>
              <a:spcBef>
                <a:spcPts val="400"/>
              </a:spcBef>
              <a:buFont typeface="Calibri" panose="020F0502020204030204" pitchFamily="34" charset="0"/>
              <a:buChar char="–"/>
            </a:pPr>
            <a:r>
              <a:rPr lang="en-US" sz="1800" dirty="0">
                <a:latin typeface="Arial"/>
                <a:cs typeface="Arial"/>
              </a:rPr>
              <a:t>Security and privacy controls assessment report (SAR) and penetration test results:</a:t>
            </a:r>
          </a:p>
          <a:p>
            <a:pPr marL="1142365" lvl="2" indent="-227965">
              <a:lnSpc>
                <a:spcPct val="100000"/>
              </a:lnSpc>
              <a:spcBef>
                <a:spcPts val="300"/>
              </a:spcBef>
              <a:buFont typeface="Courier New" panose="02070309020205020404" pitchFamily="49" charset="0"/>
              <a:buChar char="o"/>
            </a:pPr>
            <a:r>
              <a:rPr lang="en-US" sz="1800" dirty="0">
                <a:latin typeface="Arial"/>
                <a:cs typeface="Arial"/>
              </a:rPr>
              <a:t>Provide the independent, third-party SAR and penetration test results conducted within the last two years from the requested ORR date.</a:t>
            </a:r>
          </a:p>
          <a:p>
            <a:pPr marL="1142365" lvl="2" indent="-227965">
              <a:lnSpc>
                <a:spcPct val="100000"/>
              </a:lnSpc>
              <a:spcBef>
                <a:spcPts val="300"/>
              </a:spcBef>
              <a:buFont typeface="Courier New" panose="02070309020205020404" pitchFamily="49" charset="0"/>
              <a:buChar char="o"/>
            </a:pPr>
            <a:r>
              <a:rPr lang="en-US" sz="1800" dirty="0">
                <a:latin typeface="Arial"/>
                <a:cs typeface="Arial"/>
              </a:rPr>
              <a:t>Provide Authority to Connect (ATC) letter, if applicable.</a:t>
            </a:r>
          </a:p>
          <a:p>
            <a:pPr marL="685165" lvl="1" indent="-227965">
              <a:lnSpc>
                <a:spcPct val="100000"/>
              </a:lnSpc>
              <a:spcBef>
                <a:spcPts val="400"/>
              </a:spcBef>
              <a:buFont typeface="Calibri" panose="020F0502020204030204" pitchFamily="34" charset="0"/>
              <a:buChar char="–"/>
            </a:pPr>
            <a:r>
              <a:rPr lang="en-US" sz="1800" dirty="0">
                <a:latin typeface="Arial" panose="020B0604020202020204" pitchFamily="34" charset="0"/>
                <a:cs typeface="Arial" panose="020B0604020202020204" pitchFamily="34" charset="0"/>
              </a:rPr>
              <a:t>Plan of Action &amp; Milestones (POA&amp;M):</a:t>
            </a:r>
          </a:p>
          <a:p>
            <a:pPr marL="1142365" lvl="2" indent="-227965">
              <a:lnSpc>
                <a:spcPct val="100000"/>
              </a:lnSpc>
              <a:spcBef>
                <a:spcPts val="300"/>
              </a:spcBef>
              <a:buFont typeface="Courier New" panose="02070309020205020404" pitchFamily="49" charset="0"/>
              <a:buChar char="o"/>
            </a:pPr>
            <a:r>
              <a:rPr lang="en-US" sz="1800" dirty="0">
                <a:latin typeface="Arial"/>
                <a:cs typeface="Arial"/>
              </a:rPr>
              <a:t>Provide the most recent status of vulnerabilities regardless of risk level (from SAR, penetration tests, vulnerability scans, disaster recovery test results).</a:t>
            </a:r>
          </a:p>
          <a:p>
            <a:pPr marL="1142365" lvl="2" indent="-227965">
              <a:lnSpc>
                <a:spcPct val="100000"/>
              </a:lnSpc>
              <a:spcBef>
                <a:spcPts val="300"/>
              </a:spcBef>
              <a:buFont typeface="Courier New" panose="02070309020205020404" pitchFamily="49" charset="0"/>
              <a:buChar char="o"/>
            </a:pPr>
            <a:r>
              <a:rPr lang="en-US" sz="1800" dirty="0">
                <a:latin typeface="Arial"/>
                <a:cs typeface="Arial"/>
              </a:rPr>
              <a:t>Resolve critical findings prior to requesting to schedule a review (or provide risk acceptance).</a:t>
            </a:r>
          </a:p>
          <a:p>
            <a:pPr marL="0" indent="0">
              <a:lnSpc>
                <a:spcPct val="100000"/>
              </a:lnSpc>
              <a:spcBef>
                <a:spcPts val="600"/>
              </a:spcBef>
              <a:buNone/>
            </a:pPr>
            <a:r>
              <a:rPr lang="en-US" sz="1800" b="1" dirty="0"/>
              <a:t>Notes: </a:t>
            </a:r>
          </a:p>
          <a:p>
            <a:pPr marL="342900" indent="-342900">
              <a:lnSpc>
                <a:spcPct val="100000"/>
              </a:lnSpc>
              <a:spcBef>
                <a:spcPts val="600"/>
              </a:spcBef>
              <a:buFont typeface="+mj-lt"/>
              <a:buAutoNum type="arabicPeriod"/>
            </a:pPr>
            <a:r>
              <a:rPr lang="en-US" sz="1800" dirty="0"/>
              <a:t>Meeting the entry criteria allows for ORR scheduling; the State must submit up-to-date documents to the applicable certification Box folder two weeks before ORR for evaluation by the CMS Certification Team.</a:t>
            </a:r>
          </a:p>
          <a:p>
            <a:pPr marL="342900" indent="-342900">
              <a:lnSpc>
                <a:spcPct val="100000"/>
              </a:lnSpc>
              <a:spcBef>
                <a:spcPts val="900"/>
              </a:spcBef>
              <a:buFont typeface="+mj-lt"/>
              <a:buAutoNum type="arabicPeriod"/>
            </a:pPr>
            <a:r>
              <a:rPr lang="en-US" sz="1800" dirty="0"/>
              <a:t>The CMS State Officer will provide access to the CMS repository after folders are set up.</a:t>
            </a:r>
          </a:p>
        </p:txBody>
      </p:sp>
      <p:sp>
        <p:nvSpPr>
          <p:cNvPr id="3" name="Slide Number Placeholder 2">
            <a:extLst>
              <a:ext uri="{FF2B5EF4-FFF2-40B4-BE49-F238E27FC236}">
                <a16:creationId xmlns:a16="http://schemas.microsoft.com/office/drawing/2014/main" id="{43028F4E-55CE-3E96-14AD-54FD54DCF17A}"/>
              </a:ext>
              <a:ext uri="{C183D7F6-B498-43B3-948B-1728B52AA6E4}">
                <adec:decorative xmlns:adec="http://schemas.microsoft.com/office/drawing/2017/decorative" val="1"/>
              </a:ext>
            </a:extLst>
          </p:cNvPr>
          <p:cNvSpPr>
            <a:spLocks noGrp="1"/>
          </p:cNvSpPr>
          <p:nvPr>
            <p:ph type="sldNum" sz="quarter" idx="4"/>
          </p:nvPr>
        </p:nvSpPr>
        <p:spPr/>
        <p:txBody>
          <a:bodyPr/>
          <a:lstStyle/>
          <a:p>
            <a:fld id="{307C9BC6-3632-4035-A6F8-73DB694A0BF4}" type="slidenum">
              <a:rPr lang="en-US" smtClean="0"/>
              <a:t>18</a:t>
            </a:fld>
            <a:endParaRPr lang="en-US" dirty="0"/>
          </a:p>
        </p:txBody>
      </p:sp>
      <p:sp>
        <p:nvSpPr>
          <p:cNvPr id="5" name="TextBox 4">
            <a:extLst>
              <a:ext uri="{FF2B5EF4-FFF2-40B4-BE49-F238E27FC236}">
                <a16:creationId xmlns:a16="http://schemas.microsoft.com/office/drawing/2014/main" id="{E14E6338-1DA1-6B05-D363-CA7A83446437}"/>
              </a:ext>
            </a:extLst>
          </p:cNvPr>
          <p:cNvSpPr txBox="1"/>
          <p:nvPr/>
        </p:nvSpPr>
        <p:spPr>
          <a:xfrm>
            <a:off x="97972" y="5700114"/>
            <a:ext cx="9746116"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solidFill>
                  <a:schemeClr val="bg1"/>
                </a:solidFill>
              </a:rPr>
              <a:t>Reminder</a:t>
            </a:r>
            <a:r>
              <a:rPr lang="en-US" i="1" dirty="0">
                <a:solidFill>
                  <a:schemeClr val="bg1"/>
                </a:solidFill>
              </a:rPr>
              <a:t>: All materials must be submitted to the CMS Box folder four weeks before the requested ORR date to potentially secure the date. All final materials must be submitted two weeks prior to the ORR.</a:t>
            </a:r>
          </a:p>
        </p:txBody>
      </p:sp>
    </p:spTree>
    <p:extLst>
      <p:ext uri="{BB962C8B-B14F-4D97-AF65-F5344CB8AC3E}">
        <p14:creationId xmlns:p14="http://schemas.microsoft.com/office/powerpoint/2010/main" val="3220855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7F18-1A2D-DCBA-FF4D-A372B16349A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55FE956-F49C-2925-07AC-123D83975994}"/>
              </a:ext>
            </a:extLst>
          </p:cNvPr>
          <p:cNvSpPr>
            <a:spLocks noGrp="1"/>
          </p:cNvSpPr>
          <p:nvPr>
            <p:ph type="ctrTitle"/>
          </p:nvPr>
        </p:nvSpPr>
        <p:spPr>
          <a:xfrm>
            <a:off x="928255" y="441383"/>
            <a:ext cx="9144000" cy="66941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750" dirty="0"/>
              <a:t>Preparing for the ORR</a:t>
            </a:r>
          </a:p>
        </p:txBody>
      </p:sp>
      <p:sp>
        <p:nvSpPr>
          <p:cNvPr id="2" name="Text Placeholder 1">
            <a:extLst>
              <a:ext uri="{FF2B5EF4-FFF2-40B4-BE49-F238E27FC236}">
                <a16:creationId xmlns:a16="http://schemas.microsoft.com/office/drawing/2014/main" id="{BD3D51E9-3BF3-B19D-1E9B-3E27B0170942}"/>
              </a:ext>
            </a:extLst>
          </p:cNvPr>
          <p:cNvSpPr>
            <a:spLocks noGrp="1"/>
          </p:cNvSpPr>
          <p:nvPr>
            <p:ph type="body" sz="quarter" idx="10"/>
          </p:nvPr>
        </p:nvSpPr>
        <p:spPr>
          <a:xfrm>
            <a:off x="928254" y="1208744"/>
            <a:ext cx="10883789" cy="4256636"/>
          </a:xfrm>
        </p:spPr>
        <p:txBody>
          <a:bodyPr lIns="91440" tIns="45720" rIns="91440" bIns="45720" anchor="t"/>
          <a:lstStyle/>
          <a:p>
            <a:pPr marL="0" indent="0">
              <a:lnSpc>
                <a:spcPct val="100000"/>
              </a:lnSpc>
              <a:spcBef>
                <a:spcPts val="600"/>
              </a:spcBef>
              <a:buNone/>
            </a:pPr>
            <a:r>
              <a:rPr lang="en-US" sz="2300" dirty="0"/>
              <a:t>States Must:</a:t>
            </a:r>
          </a:p>
          <a:p>
            <a:pPr marL="227976" indent="-227965">
              <a:lnSpc>
                <a:spcPct val="100000"/>
              </a:lnSpc>
              <a:spcBef>
                <a:spcPts val="600"/>
              </a:spcBef>
            </a:pPr>
            <a:r>
              <a:rPr lang="en-US" sz="1800" dirty="0">
                <a:latin typeface="Arial" panose="020B0604020202020204" pitchFamily="34" charset="0"/>
                <a:cs typeface="Arial" panose="020B0604020202020204" pitchFamily="34" charset="0"/>
              </a:rPr>
              <a:t>Submit draft agenda and presentation slide deck with all certification files two weeks before ORR.</a:t>
            </a:r>
          </a:p>
          <a:p>
            <a:pPr marL="227976" indent="-227965">
              <a:lnSpc>
                <a:spcPct val="100000"/>
              </a:lnSpc>
              <a:spcBef>
                <a:spcPts val="600"/>
              </a:spcBef>
            </a:pPr>
            <a:r>
              <a:rPr lang="en-US" sz="1800" dirty="0">
                <a:latin typeface="Arial" panose="020B0604020202020204" pitchFamily="34" charset="0"/>
                <a:cs typeface="Arial" panose="020B0604020202020204" pitchFamily="34" charset="0"/>
              </a:rPr>
              <a:t>Finalize agenda and slides one week before ORR.</a:t>
            </a:r>
          </a:p>
          <a:p>
            <a:pPr marL="227976" indent="-227965">
              <a:lnSpc>
                <a:spcPct val="100000"/>
              </a:lnSpc>
              <a:spcBef>
                <a:spcPts val="600"/>
              </a:spcBef>
            </a:pPr>
            <a:r>
              <a:rPr lang="en-US" sz="1800" dirty="0">
                <a:latin typeface="Arial" panose="020B0604020202020204" pitchFamily="34" charset="0"/>
                <a:cs typeface="Arial" panose="020B0604020202020204" pitchFamily="34" charset="0"/>
              </a:rPr>
              <a:t>Respond to the Information Request Listing (IRL) at least 2 days before the meeting to streamline discussion; otherwise, address each question during the review.</a:t>
            </a:r>
          </a:p>
          <a:p>
            <a:pPr marL="227976" indent="-227965">
              <a:lnSpc>
                <a:spcPct val="100000"/>
              </a:lnSpc>
              <a:spcBef>
                <a:spcPts val="600"/>
              </a:spcBef>
            </a:pPr>
            <a:r>
              <a:rPr lang="en-US" sz="1800" dirty="0">
                <a:latin typeface="Arial" panose="020B0604020202020204" pitchFamily="34" charset="0"/>
                <a:cs typeface="Arial" panose="020B0604020202020204" pitchFamily="34" charset="0"/>
              </a:rPr>
              <a:t>Ensure attendance from applicable SMEs (including privacy and security) to respond to the CMS Certification Team’s questions, which could include additional demonstrations in the system.</a:t>
            </a:r>
          </a:p>
          <a:p>
            <a:pPr marL="0" indent="0">
              <a:lnSpc>
                <a:spcPct val="100000"/>
              </a:lnSpc>
              <a:buNone/>
            </a:pPr>
            <a:r>
              <a:rPr lang="en-US" sz="2300" dirty="0"/>
              <a:t>Things to Note: </a:t>
            </a:r>
          </a:p>
          <a:p>
            <a:pPr marL="457200" indent="-457200">
              <a:lnSpc>
                <a:spcPct val="100000"/>
              </a:lnSpc>
              <a:buAutoNum type="arabicPeriod"/>
            </a:pPr>
            <a:r>
              <a:rPr lang="en-US" sz="1800" dirty="0"/>
              <a:t>CMS allows redaction of sensitive information (e.g., IP addresses and hostnames), however, all other information, including network architecture, is required to support the certification decision.</a:t>
            </a:r>
          </a:p>
          <a:p>
            <a:pPr marL="457200" indent="-457200">
              <a:lnSpc>
                <a:spcPct val="100000"/>
              </a:lnSpc>
              <a:buFont typeface="Arial"/>
              <a:buAutoNum type="arabicPeriod"/>
            </a:pPr>
            <a:r>
              <a:rPr lang="en-US" sz="1800" dirty="0"/>
              <a:t>For agile or phased implementation, the State must map phases to outcomes to assist the CMS Certification Team in determining ORR the date.</a:t>
            </a:r>
          </a:p>
        </p:txBody>
      </p:sp>
      <p:sp>
        <p:nvSpPr>
          <p:cNvPr id="3" name="Slide Number Placeholder 2">
            <a:extLst>
              <a:ext uri="{FF2B5EF4-FFF2-40B4-BE49-F238E27FC236}">
                <a16:creationId xmlns:a16="http://schemas.microsoft.com/office/drawing/2014/main" id="{546DACBE-3BE4-B73D-DD27-92F743FC0041}"/>
              </a:ext>
            </a:extLst>
          </p:cNvPr>
          <p:cNvSpPr>
            <a:spLocks noGrp="1"/>
          </p:cNvSpPr>
          <p:nvPr>
            <p:ph type="sldNum" sz="quarter" idx="4"/>
          </p:nvPr>
        </p:nvSpPr>
        <p:spPr/>
        <p:txBody>
          <a:bodyPr/>
          <a:lstStyle/>
          <a:p>
            <a:fld id="{295008BC-DA31-4D19-837B-EFA4386B05F5}" type="slidenum">
              <a:rPr lang="en-US" smtClean="0"/>
              <a:t>19</a:t>
            </a:fld>
            <a:endParaRPr lang="en-US" dirty="0"/>
          </a:p>
        </p:txBody>
      </p:sp>
    </p:spTree>
    <p:extLst>
      <p:ext uri="{BB962C8B-B14F-4D97-AF65-F5344CB8AC3E}">
        <p14:creationId xmlns:p14="http://schemas.microsoft.com/office/powerpoint/2010/main" val="591559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1527-49C9-B11F-715C-EEE11614A472}"/>
            </a:ext>
          </a:extLst>
        </p:cNvPr>
        <p:cNvGrpSpPr/>
        <p:nvPr/>
      </p:nvGrpSpPr>
      <p:grpSpPr>
        <a:xfrm>
          <a:off x="0" y="0"/>
          <a:ext cx="0" cy="0"/>
          <a:chOff x="0" y="0"/>
          <a:chExt cx="0" cy="0"/>
        </a:xfrm>
      </p:grpSpPr>
      <p:graphicFrame>
        <p:nvGraphicFramePr>
          <p:cNvPr id="5" name="Table 4" descr="Table 2: Sample ORR Agenda Excerpt&#10;">
            <a:extLst>
              <a:ext uri="{FF2B5EF4-FFF2-40B4-BE49-F238E27FC236}">
                <a16:creationId xmlns:a16="http://schemas.microsoft.com/office/drawing/2014/main" id="{2B71EDEA-2521-D903-D549-5E449246886A}"/>
              </a:ext>
            </a:extLst>
          </p:cNvPr>
          <p:cNvGraphicFramePr>
            <a:graphicFrameLocks noGrp="1"/>
          </p:cNvGraphicFramePr>
          <p:nvPr>
            <p:extLst>
              <p:ext uri="{D42A27DB-BD31-4B8C-83A1-F6EECF244321}">
                <p14:modId xmlns:p14="http://schemas.microsoft.com/office/powerpoint/2010/main" val="644922925"/>
              </p:ext>
            </p:extLst>
          </p:nvPr>
        </p:nvGraphicFramePr>
        <p:xfrm>
          <a:off x="4706822" y="451555"/>
          <a:ext cx="7318457" cy="6360160"/>
        </p:xfrm>
        <a:graphic>
          <a:graphicData uri="http://schemas.openxmlformats.org/drawingml/2006/table">
            <a:tbl>
              <a:tblPr firstRow="1" firstCol="1">
                <a:tableStyleId>{5C22544A-7EE6-4342-B048-85BDC9FD1C3A}</a:tableStyleId>
              </a:tblPr>
              <a:tblGrid>
                <a:gridCol w="1088846">
                  <a:extLst>
                    <a:ext uri="{9D8B030D-6E8A-4147-A177-3AD203B41FA5}">
                      <a16:colId xmlns:a16="http://schemas.microsoft.com/office/drawing/2014/main" val="2309999910"/>
                    </a:ext>
                  </a:extLst>
                </a:gridCol>
                <a:gridCol w="1390389">
                  <a:extLst>
                    <a:ext uri="{9D8B030D-6E8A-4147-A177-3AD203B41FA5}">
                      <a16:colId xmlns:a16="http://schemas.microsoft.com/office/drawing/2014/main" val="1576395471"/>
                    </a:ext>
                  </a:extLst>
                </a:gridCol>
                <a:gridCol w="4839222">
                  <a:extLst>
                    <a:ext uri="{9D8B030D-6E8A-4147-A177-3AD203B41FA5}">
                      <a16:colId xmlns:a16="http://schemas.microsoft.com/office/drawing/2014/main" val="2828936692"/>
                    </a:ext>
                  </a:extLst>
                </a:gridCol>
              </a:tblGrid>
              <a:tr h="436216">
                <a:tc>
                  <a:txBody>
                    <a:bodyPr/>
                    <a:lstStyle/>
                    <a:p>
                      <a:pPr marL="0" marR="0" algn="ctr">
                        <a:spcBef>
                          <a:spcPts val="300"/>
                        </a:spcBef>
                        <a:spcAft>
                          <a:spcPts val="300"/>
                        </a:spcAft>
                        <a:buNone/>
                      </a:pPr>
                      <a:r>
                        <a:rPr lang="en-US" sz="1800" dirty="0">
                          <a:effectLst/>
                        </a:rPr>
                        <a:t>Time (EST)</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lgn="ctr">
                        <a:spcBef>
                          <a:spcPts val="300"/>
                        </a:spcBef>
                        <a:spcAft>
                          <a:spcPts val="300"/>
                        </a:spcAft>
                        <a:buNone/>
                      </a:pPr>
                      <a:r>
                        <a:rPr lang="en-US" sz="1800" dirty="0">
                          <a:effectLst/>
                        </a:rPr>
                        <a:t>Sample Topic</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lgn="ctr">
                        <a:spcBef>
                          <a:spcPts val="300"/>
                        </a:spcBef>
                        <a:spcAft>
                          <a:spcPts val="300"/>
                        </a:spcAft>
                        <a:buNone/>
                      </a:pPr>
                      <a:r>
                        <a:rPr lang="en-US" sz="1800" dirty="0">
                          <a:effectLst/>
                        </a:rPr>
                        <a:t>Sample Description</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extLst>
                  <a:ext uri="{0D108BD9-81ED-4DB2-BD59-A6C34878D82A}">
                    <a16:rowId xmlns:a16="http://schemas.microsoft.com/office/drawing/2014/main" val="3669566848"/>
                  </a:ext>
                </a:extLst>
              </a:tr>
              <a:tr h="436216">
                <a:tc>
                  <a:txBody>
                    <a:bodyPr/>
                    <a:lstStyle/>
                    <a:p>
                      <a:pPr marL="0" marR="0" algn="ctr">
                        <a:spcBef>
                          <a:spcPts val="200"/>
                        </a:spcBef>
                        <a:spcAft>
                          <a:spcPts val="200"/>
                        </a:spcAft>
                        <a:buNone/>
                      </a:pPr>
                      <a:r>
                        <a:rPr lang="en-US" sz="1800" dirty="0">
                          <a:effectLst/>
                        </a:rPr>
                        <a:t>9:00 AM – 9:05 AM</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lgn="ctr">
                        <a:spcBef>
                          <a:spcPts val="200"/>
                        </a:spcBef>
                        <a:spcAft>
                          <a:spcPts val="200"/>
                        </a:spcAft>
                        <a:buNone/>
                      </a:pPr>
                      <a:r>
                        <a:rPr lang="en-US" sz="1800">
                          <a:effectLst/>
                        </a:rPr>
                        <a:t>Introductions</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spcBef>
                          <a:spcPts val="200"/>
                        </a:spcBef>
                        <a:spcAft>
                          <a:spcPts val="200"/>
                        </a:spcAft>
                        <a:buNone/>
                      </a:pPr>
                      <a:r>
                        <a:rPr lang="en-US" sz="1800" dirty="0">
                          <a:effectLst/>
                        </a:rPr>
                        <a:t>Each individual team lead should introduce their teams (name and role for those presenting).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extLst>
                  <a:ext uri="{0D108BD9-81ED-4DB2-BD59-A6C34878D82A}">
                    <a16:rowId xmlns:a16="http://schemas.microsoft.com/office/drawing/2014/main" val="2298793035"/>
                  </a:ext>
                </a:extLst>
              </a:tr>
              <a:tr h="2439581">
                <a:tc>
                  <a:txBody>
                    <a:bodyPr/>
                    <a:lstStyle/>
                    <a:p>
                      <a:pPr marL="0" marR="0" algn="ctr">
                        <a:spcBef>
                          <a:spcPts val="200"/>
                        </a:spcBef>
                        <a:spcAft>
                          <a:spcPts val="200"/>
                        </a:spcAft>
                        <a:buNone/>
                      </a:pPr>
                      <a:r>
                        <a:rPr lang="en-US" sz="1800" dirty="0">
                          <a:effectLst/>
                        </a:rPr>
                        <a:t>9:05 AM – 9:30 AM</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lgn="ctr">
                        <a:spcBef>
                          <a:spcPts val="200"/>
                        </a:spcBef>
                        <a:spcAft>
                          <a:spcPts val="200"/>
                        </a:spcAft>
                        <a:buNone/>
                      </a:pPr>
                      <a:r>
                        <a:rPr lang="en-US" sz="1800" dirty="0">
                          <a:effectLst/>
                        </a:rPr>
                        <a:t>Medicaid &amp; Project Overview</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spcBef>
                          <a:spcPts val="200"/>
                        </a:spcBef>
                        <a:spcAft>
                          <a:spcPts val="200"/>
                        </a:spcAft>
                        <a:buNone/>
                      </a:pPr>
                      <a:r>
                        <a:rPr lang="en-US" sz="1800" dirty="0">
                          <a:effectLst/>
                        </a:rPr>
                        <a:t>Provide a brief overview of Medicaid within the State as it relates to the system under review (e.g., MCO vs FFS, number of providers or members, or specific programs).</a:t>
                      </a:r>
                    </a:p>
                    <a:p>
                      <a:pPr marL="0" marR="0">
                        <a:spcBef>
                          <a:spcPts val="200"/>
                        </a:spcBef>
                        <a:spcAft>
                          <a:spcPts val="200"/>
                        </a:spcAft>
                        <a:buNone/>
                      </a:pPr>
                      <a:r>
                        <a:rPr lang="en-US" sz="1800" dirty="0">
                          <a:effectLst/>
                        </a:rPr>
                        <a:t>Provide a project background, history, and overview, which could include a project timeline, stakeholder feedback, lessons learned, notes about system development and architecture, integration with any other systems (include system/data flow diagram), and issues that had an impact to business.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extLst>
                  <a:ext uri="{0D108BD9-81ED-4DB2-BD59-A6C34878D82A}">
                    <a16:rowId xmlns:a16="http://schemas.microsoft.com/office/drawing/2014/main" val="2316928286"/>
                  </a:ext>
                </a:extLst>
              </a:tr>
              <a:tr h="654325">
                <a:tc>
                  <a:txBody>
                    <a:bodyPr/>
                    <a:lstStyle/>
                    <a:p>
                      <a:pPr marL="0" marR="0" algn="ctr">
                        <a:spcBef>
                          <a:spcPts val="200"/>
                        </a:spcBef>
                        <a:spcAft>
                          <a:spcPts val="200"/>
                        </a:spcAft>
                        <a:buNone/>
                      </a:pPr>
                      <a:r>
                        <a:rPr lang="en-US" sz="1800">
                          <a:effectLst/>
                        </a:rPr>
                        <a:t>9:30 AM – 10:00 AM</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lgn="ctr">
                        <a:spcBef>
                          <a:spcPts val="200"/>
                        </a:spcBef>
                        <a:spcAft>
                          <a:spcPts val="200"/>
                        </a:spcAft>
                        <a:buNone/>
                      </a:pPr>
                      <a:r>
                        <a:rPr lang="en-US" sz="1800">
                          <a:effectLst/>
                        </a:rPr>
                        <a:t>Training and Outreach </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spcBef>
                          <a:spcPts val="200"/>
                        </a:spcBef>
                        <a:spcAft>
                          <a:spcPts val="200"/>
                        </a:spcAft>
                        <a:buNone/>
                      </a:pPr>
                      <a:r>
                        <a:rPr lang="en-US" sz="1800" dirty="0">
                          <a:effectLst/>
                        </a:rPr>
                        <a:t>Provide details around plans and status of training end users.  Discuss communications shared with and feedback from stakeholders.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extLst>
                  <a:ext uri="{0D108BD9-81ED-4DB2-BD59-A6C34878D82A}">
                    <a16:rowId xmlns:a16="http://schemas.microsoft.com/office/drawing/2014/main" val="3231513569"/>
                  </a:ext>
                </a:extLst>
              </a:tr>
              <a:tr h="1090541">
                <a:tc>
                  <a:txBody>
                    <a:bodyPr/>
                    <a:lstStyle/>
                    <a:p>
                      <a:pPr marL="0" marR="0" algn="ctr">
                        <a:spcBef>
                          <a:spcPts val="200"/>
                        </a:spcBef>
                        <a:spcAft>
                          <a:spcPts val="200"/>
                        </a:spcAft>
                        <a:buNone/>
                      </a:pPr>
                      <a:r>
                        <a:rPr lang="en-US" sz="1800">
                          <a:effectLst/>
                        </a:rPr>
                        <a:t>10:00 AM – 10:45 AM</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lgn="ctr">
                        <a:spcBef>
                          <a:spcPts val="200"/>
                        </a:spcBef>
                        <a:spcAft>
                          <a:spcPts val="200"/>
                        </a:spcAft>
                        <a:buNone/>
                      </a:pPr>
                      <a:r>
                        <a:rPr lang="en-US" sz="1800">
                          <a:effectLst/>
                        </a:rPr>
                        <a:t>Information Request Listing (IRL)</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tc>
                  <a:txBody>
                    <a:bodyPr/>
                    <a:lstStyle/>
                    <a:p>
                      <a:pPr marL="0" marR="0">
                        <a:spcBef>
                          <a:spcPts val="200"/>
                        </a:spcBef>
                        <a:spcAft>
                          <a:spcPts val="200"/>
                        </a:spcAft>
                        <a:buNone/>
                      </a:pPr>
                      <a:r>
                        <a:rPr lang="en-US" sz="1800" dirty="0">
                          <a:effectLst/>
                        </a:rPr>
                        <a:t>If the State did not respond to the IRL at least 2 business days before the review, present the IRL during the review and prepare answers to each question for discussion with the CMS Certification Team.</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382" marR="56382" marT="0" marB="0"/>
                </a:tc>
                <a:extLst>
                  <a:ext uri="{0D108BD9-81ED-4DB2-BD59-A6C34878D82A}">
                    <a16:rowId xmlns:a16="http://schemas.microsoft.com/office/drawing/2014/main" val="647258939"/>
                  </a:ext>
                </a:extLst>
              </a:tr>
            </a:tbl>
          </a:graphicData>
        </a:graphic>
      </p:graphicFrame>
      <p:sp>
        <p:nvSpPr>
          <p:cNvPr id="2" name="Title 1">
            <a:extLst>
              <a:ext uri="{FF2B5EF4-FFF2-40B4-BE49-F238E27FC236}">
                <a16:creationId xmlns:a16="http://schemas.microsoft.com/office/drawing/2014/main" id="{1D5A6D3D-C305-BD3B-6E9A-B90408FC1620}"/>
              </a:ext>
            </a:extLst>
          </p:cNvPr>
          <p:cNvSpPr>
            <a:spLocks noGrp="1"/>
          </p:cNvSpPr>
          <p:nvPr>
            <p:ph type="ctrTitle"/>
          </p:nvPr>
        </p:nvSpPr>
        <p:spPr>
          <a:xfrm>
            <a:off x="824224" y="1405888"/>
            <a:ext cx="2904709" cy="745048"/>
          </a:xfrm>
        </p:spPr>
        <p:txBody>
          <a:bodyPr vert="horz" lIns="91440" tIns="45720" rIns="91440" bIns="45720" rtlCol="0" anchor="b">
            <a:normAutofit fontScale="90000"/>
          </a:bodyPr>
          <a:lstStyle/>
          <a:p>
            <a:pPr algn="l"/>
            <a:r>
              <a:rPr lang="en-US" sz="4400" kern="1200" dirty="0">
                <a:solidFill>
                  <a:srgbClr val="004986"/>
                </a:solidFill>
                <a:ea typeface="+mj-ea"/>
              </a:rPr>
              <a:t>Sample ORR Agenda</a:t>
            </a:r>
          </a:p>
        </p:txBody>
      </p:sp>
      <p:sp>
        <p:nvSpPr>
          <p:cNvPr id="3" name="Slide Number Placeholder 2">
            <a:extLst>
              <a:ext uri="{FF2B5EF4-FFF2-40B4-BE49-F238E27FC236}">
                <a16:creationId xmlns:a16="http://schemas.microsoft.com/office/drawing/2014/main" id="{7E2F70AB-5024-46FB-7C13-02525D4A0865}"/>
              </a:ext>
              <a:ext uri="{C183D7F6-B498-43B3-948B-1728B52AA6E4}">
                <adec:decorative xmlns:adec="http://schemas.microsoft.com/office/drawing/2017/decorative" val="1"/>
              </a:ext>
            </a:extLst>
          </p:cNvPr>
          <p:cNvSpPr>
            <a:spLocks noGrp="1"/>
          </p:cNvSpPr>
          <p:nvPr>
            <p:ph type="sldNum" sz="quarter" idx="4"/>
          </p:nvPr>
        </p:nvSpPr>
        <p:spPr>
          <a:xfrm>
            <a:off x="9662538" y="6492875"/>
            <a:ext cx="459015" cy="365125"/>
          </a:xfrm>
        </p:spPr>
        <p:txBody>
          <a:bodyPr vert="horz" lIns="91440" tIns="45720" rIns="91440" bIns="45720" rtlCol="0" anchor="ctr">
            <a:normAutofit/>
          </a:bodyPr>
          <a:lstStyle/>
          <a:p>
            <a:pPr>
              <a:spcAft>
                <a:spcPts val="600"/>
              </a:spcAft>
            </a:pPr>
            <a:fld id="{307C9BC6-3632-4035-A6F8-73DB694A0BF4}" type="slidenum">
              <a:rPr lang="en-US" smtClean="0"/>
              <a:pPr>
                <a:spcAft>
                  <a:spcPts val="600"/>
                </a:spcAft>
              </a:pPr>
              <a:t>20</a:t>
            </a:fld>
            <a:endParaRPr lang="en-US" dirty="0"/>
          </a:p>
        </p:txBody>
      </p:sp>
      <p:sp>
        <p:nvSpPr>
          <p:cNvPr id="7" name="TextBox 6">
            <a:extLst>
              <a:ext uri="{FF2B5EF4-FFF2-40B4-BE49-F238E27FC236}">
                <a16:creationId xmlns:a16="http://schemas.microsoft.com/office/drawing/2014/main" id="{6561C795-650F-A09B-8A55-8BEDD3AEAE7B}"/>
              </a:ext>
            </a:extLst>
          </p:cNvPr>
          <p:cNvSpPr txBox="1"/>
          <p:nvPr/>
        </p:nvSpPr>
        <p:spPr>
          <a:xfrm>
            <a:off x="824224" y="2150936"/>
            <a:ext cx="3882598" cy="369332"/>
          </a:xfrm>
          <a:prstGeom prst="rect">
            <a:avLst/>
          </a:prstGeom>
          <a:noFill/>
        </p:spPr>
        <p:txBody>
          <a:bodyPr wrap="square" rtlCol="0">
            <a:spAutoFit/>
          </a:bodyPr>
          <a:lstStyle/>
          <a:p>
            <a:r>
              <a:rPr lang="en-US" dirty="0">
                <a:hlinkClick r:id="rId3"/>
              </a:rPr>
              <a:t>Link to ORR Sample Agenda Template</a:t>
            </a:r>
            <a:endParaRPr lang="en-US" dirty="0"/>
          </a:p>
        </p:txBody>
      </p:sp>
      <p:sp>
        <p:nvSpPr>
          <p:cNvPr id="4" name="TextBox 3">
            <a:extLst>
              <a:ext uri="{FF2B5EF4-FFF2-40B4-BE49-F238E27FC236}">
                <a16:creationId xmlns:a16="http://schemas.microsoft.com/office/drawing/2014/main" id="{B6D09250-16A8-546B-62F5-B18C8999450C}"/>
              </a:ext>
            </a:extLst>
          </p:cNvPr>
          <p:cNvSpPr txBox="1"/>
          <p:nvPr/>
        </p:nvSpPr>
        <p:spPr>
          <a:xfrm rot="19888995">
            <a:off x="6138725" y="2969916"/>
            <a:ext cx="4503536" cy="1323439"/>
          </a:xfrm>
          <a:prstGeom prst="rect">
            <a:avLst/>
          </a:prstGeom>
          <a:noFill/>
        </p:spPr>
        <p:txBody>
          <a:bodyPr wrap="square" rtlCol="0">
            <a:spAutoFit/>
          </a:bodyPr>
          <a:lstStyle/>
          <a:p>
            <a:pPr algn="ctr"/>
            <a:r>
              <a:rPr lang="en-US" sz="8000" dirty="0">
                <a:solidFill>
                  <a:srgbClr val="FF0000"/>
                </a:solidFill>
              </a:rPr>
              <a:t>Sample</a:t>
            </a:r>
          </a:p>
        </p:txBody>
      </p:sp>
      <p:sp>
        <p:nvSpPr>
          <p:cNvPr id="8" name="TextBox 7">
            <a:extLst>
              <a:ext uri="{FF2B5EF4-FFF2-40B4-BE49-F238E27FC236}">
                <a16:creationId xmlns:a16="http://schemas.microsoft.com/office/drawing/2014/main" id="{E5B1530E-CCC3-8B48-95FD-57C6105A37A0}"/>
              </a:ext>
            </a:extLst>
          </p:cNvPr>
          <p:cNvSpPr txBox="1"/>
          <p:nvPr/>
        </p:nvSpPr>
        <p:spPr>
          <a:xfrm>
            <a:off x="4706822" y="82223"/>
            <a:ext cx="6811257" cy="369332"/>
          </a:xfrm>
          <a:prstGeom prst="rect">
            <a:avLst/>
          </a:prstGeom>
          <a:noFill/>
        </p:spPr>
        <p:txBody>
          <a:bodyPr wrap="square" rtlCol="0">
            <a:spAutoFit/>
          </a:bodyPr>
          <a:lstStyle/>
          <a:p>
            <a:r>
              <a:rPr lang="en-US" b="1" dirty="0"/>
              <a:t>Table 2: Sample ORR Agenda Excerpt</a:t>
            </a:r>
          </a:p>
        </p:txBody>
      </p:sp>
    </p:spTree>
    <p:extLst>
      <p:ext uri="{BB962C8B-B14F-4D97-AF65-F5344CB8AC3E}">
        <p14:creationId xmlns:p14="http://schemas.microsoft.com/office/powerpoint/2010/main" val="2644661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04886-8900-E6D4-670E-499CAFCB8BEC}"/>
              </a:ext>
            </a:extLst>
          </p:cNvPr>
          <p:cNvSpPr>
            <a:spLocks noGrp="1"/>
          </p:cNvSpPr>
          <p:nvPr>
            <p:ph type="ctrTitle"/>
          </p:nvPr>
        </p:nvSpPr>
        <p:spPr/>
        <p:txBody>
          <a:bodyPr>
            <a:normAutofit/>
          </a:bodyPr>
          <a:lstStyle/>
          <a:p>
            <a:r>
              <a:rPr lang="en-US" sz="3750" dirty="0">
                <a:solidFill>
                  <a:srgbClr val="004986"/>
                </a:solidFill>
              </a:rPr>
              <a:t>Post-ORR</a:t>
            </a:r>
          </a:p>
        </p:txBody>
      </p:sp>
      <p:sp>
        <p:nvSpPr>
          <p:cNvPr id="5" name="Text Placeholder 4">
            <a:extLst>
              <a:ext uri="{FF2B5EF4-FFF2-40B4-BE49-F238E27FC236}">
                <a16:creationId xmlns:a16="http://schemas.microsoft.com/office/drawing/2014/main" id="{C6B1D5A6-20C6-329B-8A7A-D920C3C5B22D}"/>
              </a:ext>
            </a:extLst>
          </p:cNvPr>
          <p:cNvSpPr>
            <a:spLocks noGrp="1"/>
          </p:cNvSpPr>
          <p:nvPr>
            <p:ph type="body" sz="quarter" idx="10"/>
          </p:nvPr>
        </p:nvSpPr>
        <p:spPr>
          <a:xfrm>
            <a:off x="457200" y="1313847"/>
            <a:ext cx="10829925" cy="3922296"/>
          </a:xfrm>
        </p:spPr>
        <p:txBody>
          <a:bodyPr lIns="91440" tIns="45720" rIns="91440" bIns="45720" anchor="t"/>
          <a:lstStyle/>
          <a:p>
            <a:pPr marL="457200" indent="-457200">
              <a:lnSpc>
                <a:spcPct val="100000"/>
              </a:lnSpc>
              <a:buFont typeface="+mj-lt"/>
              <a:buAutoNum type="arabicPeriod"/>
            </a:pPr>
            <a:r>
              <a:rPr lang="en-US" sz="2000" dirty="0">
                <a:latin typeface="Arial"/>
                <a:cs typeface="Arial"/>
              </a:rPr>
              <a:t>Complete ORR Tear-out action items by the due dates agreed on during the review. </a:t>
            </a:r>
          </a:p>
          <a:p>
            <a:pPr marL="457200" indent="-457200">
              <a:lnSpc>
                <a:spcPct val="100000"/>
              </a:lnSpc>
              <a:buFont typeface="+mj-lt"/>
              <a:buAutoNum type="arabicPeriod"/>
            </a:pPr>
            <a:r>
              <a:rPr lang="en-US" sz="2000" dirty="0">
                <a:latin typeface="Arial"/>
                <a:cs typeface="Arial"/>
              </a:rPr>
              <a:t>System goes live. </a:t>
            </a:r>
          </a:p>
          <a:p>
            <a:pPr marL="457200" indent="-457200">
              <a:lnSpc>
                <a:spcPct val="100000"/>
              </a:lnSpc>
              <a:spcBef>
                <a:spcPts val="600"/>
              </a:spcBef>
              <a:buFont typeface="+mj-lt"/>
              <a:buAutoNum type="arabicPeriod"/>
            </a:pPr>
            <a:r>
              <a:rPr lang="en-US" sz="2000" dirty="0">
                <a:latin typeface="Arial"/>
                <a:cs typeface="Arial"/>
              </a:rPr>
              <a:t>Begin collecting metrics data starting from the go-live date. </a:t>
            </a:r>
          </a:p>
          <a:p>
            <a:pPr lvl="1">
              <a:lnSpc>
                <a:spcPct val="100000"/>
              </a:lnSpc>
              <a:spcBef>
                <a:spcPts val="600"/>
              </a:spcBef>
            </a:pPr>
            <a:r>
              <a:rPr lang="en-US" sz="1800" dirty="0">
                <a:latin typeface="Arial"/>
                <a:cs typeface="Arial"/>
              </a:rPr>
              <a:t>Please note that the State will need to submit a minimum of six months of data (covering the full period the system has been in operation from go-live) to initiate a Certification Review.</a:t>
            </a:r>
          </a:p>
          <a:p>
            <a:pPr marL="457200" indent="-457200">
              <a:lnSpc>
                <a:spcPct val="100000"/>
              </a:lnSpc>
              <a:spcBef>
                <a:spcPts val="600"/>
              </a:spcBef>
              <a:buFont typeface="+mj-lt"/>
              <a:buAutoNum type="arabicPeriod"/>
            </a:pPr>
            <a:r>
              <a:rPr lang="en-US" sz="2000" dirty="0">
                <a:latin typeface="Arial"/>
                <a:cs typeface="Arial"/>
              </a:rPr>
              <a:t>Review and address SMC Intake Form and Tear-out observations/recommendations, and provide updates to CMS before or at the time of the CR. </a:t>
            </a:r>
          </a:p>
          <a:p>
            <a:pPr marL="457200" indent="-457200">
              <a:lnSpc>
                <a:spcPct val="100000"/>
              </a:lnSpc>
              <a:spcBef>
                <a:spcPts val="600"/>
              </a:spcBef>
              <a:buFont typeface="+mj-lt"/>
              <a:buAutoNum type="arabicPeriod"/>
            </a:pPr>
            <a:r>
              <a:rPr lang="en-US" sz="2000" dirty="0">
                <a:latin typeface="Arial"/>
                <a:cs typeface="Arial"/>
              </a:rPr>
              <a:t>Complete entry criteria for CR scheduling, preferably three months before the intended CR date. </a:t>
            </a:r>
          </a:p>
          <a:p>
            <a:pPr marL="457200" indent="-457200">
              <a:lnSpc>
                <a:spcPct val="100000"/>
              </a:lnSpc>
              <a:spcBef>
                <a:spcPts val="600"/>
              </a:spcBef>
              <a:buFont typeface="+mj-lt"/>
              <a:buAutoNum type="arabicPeriod"/>
            </a:pPr>
            <a:r>
              <a:rPr lang="en-US" sz="2000" dirty="0">
                <a:latin typeface="Arial"/>
                <a:cs typeface="Arial"/>
              </a:rPr>
              <a:t>Use the SMC Guidance to prepare for the CR. </a:t>
            </a:r>
          </a:p>
        </p:txBody>
      </p:sp>
      <p:sp>
        <p:nvSpPr>
          <p:cNvPr id="3" name="Slide Number Placeholder 2">
            <a:extLst>
              <a:ext uri="{FF2B5EF4-FFF2-40B4-BE49-F238E27FC236}">
                <a16:creationId xmlns:a16="http://schemas.microsoft.com/office/drawing/2014/main" id="{A6E64035-21B4-BB0D-AD58-E9BC5B8B500E}"/>
              </a:ext>
            </a:extLst>
          </p:cNvPr>
          <p:cNvSpPr>
            <a:spLocks noGrp="1"/>
          </p:cNvSpPr>
          <p:nvPr>
            <p:ph type="sldNum" sz="quarter" idx="4"/>
          </p:nvPr>
        </p:nvSpPr>
        <p:spPr/>
        <p:txBody>
          <a:bodyPr/>
          <a:lstStyle/>
          <a:p>
            <a:fld id="{307C9BC6-3632-4035-A6F8-73DB694A0BF4}" type="slidenum">
              <a:rPr lang="en-US" smtClean="0"/>
              <a:t>21</a:t>
            </a:fld>
            <a:endParaRPr lang="en-US" dirty="0"/>
          </a:p>
        </p:txBody>
      </p:sp>
    </p:spTree>
    <p:extLst>
      <p:ext uri="{BB962C8B-B14F-4D97-AF65-F5344CB8AC3E}">
        <p14:creationId xmlns:p14="http://schemas.microsoft.com/office/powerpoint/2010/main" val="3649925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324DB9-6647-2DA9-E46F-7B6070722C83}"/>
              </a:ext>
            </a:extLst>
          </p:cNvPr>
          <p:cNvSpPr>
            <a:spLocks noGrp="1"/>
          </p:cNvSpPr>
          <p:nvPr>
            <p:ph type="title"/>
          </p:nvPr>
        </p:nvSpPr>
        <p:spPr/>
        <p:txBody>
          <a:bodyPr/>
          <a:lstStyle/>
          <a:p>
            <a:r>
              <a:rPr lang="en-US" sz="5400" dirty="0"/>
              <a:t>What to Expect:</a:t>
            </a:r>
            <a:br>
              <a:rPr lang="en-US" sz="5400" dirty="0"/>
            </a:br>
            <a:r>
              <a:rPr lang="en-US" sz="5400" dirty="0"/>
              <a:t>Certification Review (CR)</a:t>
            </a:r>
          </a:p>
        </p:txBody>
      </p:sp>
      <p:sp>
        <p:nvSpPr>
          <p:cNvPr id="3" name="Slide Number Placeholder 2">
            <a:extLst>
              <a:ext uri="{FF2B5EF4-FFF2-40B4-BE49-F238E27FC236}">
                <a16:creationId xmlns:a16="http://schemas.microsoft.com/office/drawing/2014/main" id="{2B58EA3D-EF8C-70DE-5166-4BC68F20CD5C}"/>
              </a:ext>
            </a:extLst>
          </p:cNvPr>
          <p:cNvSpPr>
            <a:spLocks noGrp="1"/>
          </p:cNvSpPr>
          <p:nvPr>
            <p:ph type="sldNum" sz="quarter" idx="12"/>
          </p:nvPr>
        </p:nvSpPr>
        <p:spPr/>
        <p:txBody>
          <a:bodyPr/>
          <a:lstStyle/>
          <a:p>
            <a:fld id="{307C9BC6-3632-4035-A6F8-73DB694A0BF4}" type="slidenum">
              <a:rPr lang="en-US" smtClean="0"/>
              <a:t>22</a:t>
            </a:fld>
            <a:endParaRPr lang="en-US" dirty="0"/>
          </a:p>
        </p:txBody>
      </p:sp>
    </p:spTree>
    <p:extLst>
      <p:ext uri="{BB962C8B-B14F-4D97-AF65-F5344CB8AC3E}">
        <p14:creationId xmlns:p14="http://schemas.microsoft.com/office/powerpoint/2010/main" val="3550738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90000"/>
              </a:lnSpc>
              <a:spcBef>
                <a:spcPct val="0"/>
              </a:spcBef>
              <a:spcAft>
                <a:spcPts val="0"/>
              </a:spcAft>
              <a:buClrTx/>
              <a:buSzTx/>
              <a:buFontTx/>
              <a:buNone/>
              <a:tabLst/>
              <a:defRPr/>
            </a:pPr>
            <a:r>
              <a:rPr lang="en-US" sz="3750" dirty="0"/>
              <a:t>About the CR</a:t>
            </a:r>
          </a:p>
        </p:txBody>
      </p:sp>
      <p:sp>
        <p:nvSpPr>
          <p:cNvPr id="2" name="Text Placeholder 1">
            <a:extLst>
              <a:ext uri="{FF2B5EF4-FFF2-40B4-BE49-F238E27FC236}">
                <a16:creationId xmlns:a16="http://schemas.microsoft.com/office/drawing/2014/main" id="{B4C5B279-7654-E8FD-B3BD-6EE3806C1BA5}"/>
              </a:ext>
            </a:extLst>
          </p:cNvPr>
          <p:cNvSpPr>
            <a:spLocks noGrp="1"/>
          </p:cNvSpPr>
          <p:nvPr>
            <p:ph type="body" sz="quarter" idx="10"/>
          </p:nvPr>
        </p:nvSpPr>
        <p:spPr>
          <a:xfrm>
            <a:off x="928255" y="1313847"/>
            <a:ext cx="10808474" cy="3922296"/>
          </a:xfrm>
        </p:spPr>
        <p:txBody>
          <a:bodyPr lIns="91440" tIns="45720" rIns="91440" bIns="45720" anchor="t"/>
          <a:lstStyle/>
          <a:p>
            <a:pPr marL="227965" indent="-227965">
              <a:lnSpc>
                <a:spcPct val="100000"/>
              </a:lnSpc>
            </a:pPr>
            <a:r>
              <a:rPr lang="en-US" sz="2400" dirty="0">
                <a:latin typeface="Arial"/>
                <a:cs typeface="Arial"/>
              </a:rPr>
              <a:t>Purpose</a:t>
            </a:r>
          </a:p>
          <a:p>
            <a:pPr marL="685165" lvl="1" indent="-227965">
              <a:lnSpc>
                <a:spcPct val="100000"/>
              </a:lnSpc>
            </a:pPr>
            <a:r>
              <a:rPr lang="en-US" sz="2000" dirty="0">
                <a:latin typeface="Arial"/>
                <a:cs typeface="Arial"/>
              </a:rPr>
              <a:t>Assess the impact of system functionality in production</a:t>
            </a:r>
          </a:p>
          <a:p>
            <a:pPr marL="685165" lvl="1" indent="-227965">
              <a:lnSpc>
                <a:spcPct val="100000"/>
              </a:lnSpc>
            </a:pPr>
            <a:r>
              <a:rPr lang="en-US" sz="2000" dirty="0">
                <a:latin typeface="Arial"/>
                <a:cs typeface="Arial"/>
              </a:rPr>
              <a:t>Evaluate metrics to demonstrate outcomes and compliance </a:t>
            </a:r>
          </a:p>
          <a:p>
            <a:pPr marL="227965" indent="-227965">
              <a:lnSpc>
                <a:spcPct val="100000"/>
              </a:lnSpc>
            </a:pPr>
            <a:r>
              <a:rPr lang="en-US" sz="2400" dirty="0">
                <a:latin typeface="Arial"/>
                <a:cs typeface="Arial"/>
              </a:rPr>
              <a:t>Eligibility</a:t>
            </a:r>
            <a:endParaRPr lang="en-US" sz="2400" dirty="0">
              <a:cs typeface="Arial"/>
            </a:endParaRPr>
          </a:p>
          <a:p>
            <a:pPr marL="685165" lvl="1" indent="-227965">
              <a:lnSpc>
                <a:spcPct val="100000"/>
              </a:lnSpc>
            </a:pPr>
            <a:r>
              <a:rPr lang="en-US" sz="2000" dirty="0">
                <a:latin typeface="Arial"/>
                <a:cs typeface="Arial"/>
              </a:rPr>
              <a:t>MES Certification Team will confirm data once State has met entry criteria</a:t>
            </a:r>
            <a:endParaRPr lang="en-US" sz="2000" dirty="0">
              <a:solidFill>
                <a:srgbClr val="FF0000"/>
              </a:solidFill>
              <a:latin typeface="Arial"/>
              <a:cs typeface="Arial"/>
            </a:endParaRPr>
          </a:p>
          <a:p>
            <a:pPr marL="227965" indent="-227965">
              <a:lnSpc>
                <a:spcPct val="100000"/>
              </a:lnSpc>
            </a:pPr>
            <a:r>
              <a:rPr lang="en-US" sz="2400" dirty="0">
                <a:latin typeface="Arial"/>
                <a:cs typeface="Arial"/>
              </a:rPr>
              <a:t>Timing</a:t>
            </a:r>
            <a:endParaRPr lang="en-US" sz="2400" dirty="0">
              <a:cs typeface="Arial"/>
            </a:endParaRPr>
          </a:p>
          <a:p>
            <a:pPr marL="685165" lvl="1" indent="-227965">
              <a:lnSpc>
                <a:spcPct val="100000"/>
              </a:lnSpc>
            </a:pPr>
            <a:r>
              <a:rPr lang="en-US" sz="2000" dirty="0">
                <a:latin typeface="Arial"/>
                <a:cs typeface="Arial"/>
              </a:rPr>
              <a:t>CR can be conducted once a system has been in production for at least six months and the State must report on approved metrics retroactive to the State's go-live date.</a:t>
            </a:r>
          </a:p>
          <a:p>
            <a:pPr marL="227965" indent="-227965">
              <a:lnSpc>
                <a:spcPct val="100000"/>
              </a:lnSpc>
            </a:pPr>
            <a:r>
              <a:rPr lang="en-US" sz="2400" dirty="0">
                <a:latin typeface="Arial"/>
                <a:cs typeface="Arial"/>
              </a:rPr>
              <a:t>Demonstrations</a:t>
            </a:r>
            <a:endParaRPr lang="en-US" sz="2400" dirty="0">
              <a:cs typeface="Arial"/>
            </a:endParaRPr>
          </a:p>
          <a:p>
            <a:pPr marL="685165" lvl="1" indent="-227965">
              <a:lnSpc>
                <a:spcPct val="100000"/>
              </a:lnSpc>
            </a:pPr>
            <a:r>
              <a:rPr lang="en-US" sz="2000" dirty="0">
                <a:solidFill>
                  <a:srgbClr val="000000"/>
                </a:solidFill>
                <a:latin typeface="Arial"/>
                <a:cs typeface="Arial"/>
              </a:rPr>
              <a:t>Conducted in the State's production environment</a:t>
            </a:r>
            <a:endParaRPr lang="en-US" sz="2000" dirty="0">
              <a:latin typeface="Arial"/>
              <a:cs typeface="Arial"/>
            </a:endParaRPr>
          </a:p>
        </p:txBody>
      </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23</a:t>
            </a:fld>
            <a:endParaRPr lang="en-US" dirty="0"/>
          </a:p>
        </p:txBody>
      </p:sp>
    </p:spTree>
    <p:extLst>
      <p:ext uri="{BB962C8B-B14F-4D97-AF65-F5344CB8AC3E}">
        <p14:creationId xmlns:p14="http://schemas.microsoft.com/office/powerpoint/2010/main" val="2299130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49F3E-E3A0-77F2-6D4F-7BD604767E48}"/>
              </a:ext>
            </a:extLst>
          </p:cNvPr>
          <p:cNvSpPr>
            <a:spLocks noGrp="1"/>
          </p:cNvSpPr>
          <p:nvPr>
            <p:ph type="ctrTitle"/>
          </p:nvPr>
        </p:nvSpPr>
        <p:spPr/>
        <p:txBody>
          <a:bodyPr>
            <a:normAutofit/>
          </a:bodyPr>
          <a:lstStyle/>
          <a:p>
            <a:r>
              <a:rPr lang="en-US" sz="4000" dirty="0">
                <a:solidFill>
                  <a:srgbClr val="004986"/>
                </a:solidFill>
                <a:cs typeface="Arial" panose="020B0604020202020204" pitchFamily="34" charset="0"/>
              </a:rPr>
              <a:t>CR Timeline</a:t>
            </a:r>
          </a:p>
        </p:txBody>
      </p:sp>
      <p:sp>
        <p:nvSpPr>
          <p:cNvPr id="3" name="Slide Number Placeholder 2">
            <a:extLst>
              <a:ext uri="{FF2B5EF4-FFF2-40B4-BE49-F238E27FC236}">
                <a16:creationId xmlns:a16="http://schemas.microsoft.com/office/drawing/2014/main" id="{7C950E6B-64C0-FCE8-08C8-723425FEA1D7}"/>
              </a:ext>
              <a:ext uri="{C183D7F6-B498-43B3-948B-1728B52AA6E4}">
                <adec:decorative xmlns:adec="http://schemas.microsoft.com/office/drawing/2017/decorative" val="1"/>
              </a:ext>
            </a:extLst>
          </p:cNvPr>
          <p:cNvSpPr>
            <a:spLocks noGrp="1"/>
          </p:cNvSpPr>
          <p:nvPr>
            <p:ph type="sldNum" sz="quarter" idx="4"/>
          </p:nvPr>
        </p:nvSpPr>
        <p:spPr/>
        <p:txBody>
          <a:bodyPr/>
          <a:lstStyle/>
          <a:p>
            <a:fld id="{307C9BC6-3632-4035-A6F8-73DB694A0BF4}" type="slidenum">
              <a:rPr lang="en-US" sz="1800" smtClean="0"/>
              <a:t>24</a:t>
            </a:fld>
            <a:endParaRPr lang="en-US" sz="1800" dirty="0"/>
          </a:p>
        </p:txBody>
      </p:sp>
      <p:sp>
        <p:nvSpPr>
          <p:cNvPr id="4" name="Right Arrow 3" descr="Visual representation of CR timeline&#10;">
            <a:extLst>
              <a:ext uri="{FF2B5EF4-FFF2-40B4-BE49-F238E27FC236}">
                <a16:creationId xmlns:a16="http://schemas.microsoft.com/office/drawing/2014/main" id="{BCCAF903-0622-076B-6D1F-EEF10C934FAD}"/>
              </a:ext>
            </a:extLst>
          </p:cNvPr>
          <p:cNvSpPr/>
          <p:nvPr/>
        </p:nvSpPr>
        <p:spPr>
          <a:xfrm>
            <a:off x="360838" y="2726665"/>
            <a:ext cx="11649875" cy="13292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09F3D5F7-8DCE-B9BD-2343-C1D53D4C3C2D}"/>
              </a:ext>
              <a:ext uri="{C183D7F6-B498-43B3-948B-1728B52AA6E4}">
                <adec:decorative xmlns:adec="http://schemas.microsoft.com/office/drawing/2017/decorative" val="1"/>
              </a:ext>
            </a:extLst>
          </p:cNvPr>
          <p:cNvSpPr txBox="1"/>
          <p:nvPr/>
        </p:nvSpPr>
        <p:spPr>
          <a:xfrm>
            <a:off x="995479" y="3093241"/>
            <a:ext cx="1234262" cy="646331"/>
          </a:xfrm>
          <a:prstGeom prst="rect">
            <a:avLst/>
          </a:prstGeom>
          <a:noFill/>
        </p:spPr>
        <p:txBody>
          <a:bodyPr wrap="square" rtlCol="0">
            <a:spAutoFit/>
          </a:bodyPr>
          <a:lstStyle/>
          <a:p>
            <a:pPr algn="ctr"/>
            <a:r>
              <a:rPr lang="en-US" dirty="0">
                <a:solidFill>
                  <a:schemeClr val="bg1"/>
                </a:solidFill>
              </a:rPr>
              <a:t>3 months prior</a:t>
            </a:r>
          </a:p>
        </p:txBody>
      </p:sp>
      <p:cxnSp>
        <p:nvCxnSpPr>
          <p:cNvPr id="13" name="Straight Connector 12">
            <a:extLst>
              <a:ext uri="{FF2B5EF4-FFF2-40B4-BE49-F238E27FC236}">
                <a16:creationId xmlns:a16="http://schemas.microsoft.com/office/drawing/2014/main" id="{61915CC9-9EAF-FCCA-520B-30E24674D58B}"/>
              </a:ext>
              <a:ext uri="{C183D7F6-B498-43B3-948B-1728B52AA6E4}">
                <adec:decorative xmlns:adec="http://schemas.microsoft.com/office/drawing/2017/decorative" val="1"/>
              </a:ext>
            </a:extLst>
          </p:cNvPr>
          <p:cNvCxnSpPr>
            <a:cxnSpLocks/>
          </p:cNvCxnSpPr>
          <p:nvPr/>
        </p:nvCxnSpPr>
        <p:spPr>
          <a:xfrm>
            <a:off x="1581983" y="2152758"/>
            <a:ext cx="30627" cy="1106071"/>
          </a:xfrm>
          <a:prstGeom prst="line">
            <a:avLst/>
          </a:prstGeom>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B506024D-3274-24DA-FFE5-D5226BD0EADC}"/>
              </a:ext>
              <a:ext uri="{C183D7F6-B498-43B3-948B-1728B52AA6E4}">
                <adec:decorative xmlns:adec="http://schemas.microsoft.com/office/drawing/2017/decorative" val="1"/>
              </a:ext>
            </a:extLst>
          </p:cNvPr>
          <p:cNvSpPr/>
          <p:nvPr/>
        </p:nvSpPr>
        <p:spPr>
          <a:xfrm>
            <a:off x="181287" y="1200348"/>
            <a:ext cx="2968870" cy="16992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Three Months Prior: </a:t>
            </a:r>
          </a:p>
          <a:p>
            <a:pPr algn="ctr"/>
            <a:r>
              <a:rPr lang="en-US" dirty="0"/>
              <a:t>Date for CR will be confirmed up to 3 months in advance, dependent on </a:t>
            </a:r>
            <a:r>
              <a:rPr lang="en-US" dirty="0">
                <a:solidFill>
                  <a:schemeClr val="bg1"/>
                </a:solidFill>
              </a:rPr>
              <a:t>State's completion of entry criteria</a:t>
            </a:r>
          </a:p>
        </p:txBody>
      </p:sp>
      <p:sp>
        <p:nvSpPr>
          <p:cNvPr id="5" name="TextBox 4">
            <a:extLst>
              <a:ext uri="{FF2B5EF4-FFF2-40B4-BE49-F238E27FC236}">
                <a16:creationId xmlns:a16="http://schemas.microsoft.com/office/drawing/2014/main" id="{6B8ECEA8-6E48-BD45-C52B-30CB845395F6}"/>
              </a:ext>
              <a:ext uri="{C183D7F6-B498-43B3-948B-1728B52AA6E4}">
                <adec:decorative xmlns:adec="http://schemas.microsoft.com/office/drawing/2017/decorative" val="1"/>
              </a:ext>
            </a:extLst>
          </p:cNvPr>
          <p:cNvSpPr txBox="1"/>
          <p:nvPr/>
        </p:nvSpPr>
        <p:spPr>
          <a:xfrm>
            <a:off x="2741531" y="3093241"/>
            <a:ext cx="1021515" cy="646331"/>
          </a:xfrm>
          <a:prstGeom prst="rect">
            <a:avLst/>
          </a:prstGeom>
          <a:noFill/>
        </p:spPr>
        <p:txBody>
          <a:bodyPr wrap="square" rtlCol="0">
            <a:spAutoFit/>
          </a:bodyPr>
          <a:lstStyle/>
          <a:p>
            <a:pPr algn="ctr"/>
            <a:r>
              <a:rPr lang="en-US" dirty="0">
                <a:solidFill>
                  <a:schemeClr val="bg1"/>
                </a:solidFill>
              </a:rPr>
              <a:t>2 weeks prior</a:t>
            </a:r>
          </a:p>
        </p:txBody>
      </p:sp>
      <p:cxnSp>
        <p:nvCxnSpPr>
          <p:cNvPr id="51" name="Straight Connector 50">
            <a:extLst>
              <a:ext uri="{FF2B5EF4-FFF2-40B4-BE49-F238E27FC236}">
                <a16:creationId xmlns:a16="http://schemas.microsoft.com/office/drawing/2014/main" id="{809D5E04-A54C-B176-6E3E-2BB5D2C9D280}"/>
              </a:ext>
              <a:ext uri="{C183D7F6-B498-43B3-948B-1728B52AA6E4}">
                <adec:decorative xmlns:adec="http://schemas.microsoft.com/office/drawing/2017/decorative" val="1"/>
              </a:ext>
            </a:extLst>
          </p:cNvPr>
          <p:cNvCxnSpPr>
            <a:cxnSpLocks/>
          </p:cNvCxnSpPr>
          <p:nvPr/>
        </p:nvCxnSpPr>
        <p:spPr>
          <a:xfrm flipV="1">
            <a:off x="3196464" y="3507528"/>
            <a:ext cx="0" cy="727417"/>
          </a:xfrm>
          <a:prstGeom prst="line">
            <a:avLst/>
          </a:prstGeom>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4E0D9ED4-5879-14A2-B831-FDB53E117D9D}"/>
              </a:ext>
              <a:ext uri="{C183D7F6-B498-43B3-948B-1728B52AA6E4}">
                <adec:decorative xmlns:adec="http://schemas.microsoft.com/office/drawing/2017/decorative" val="1"/>
              </a:ext>
            </a:extLst>
          </p:cNvPr>
          <p:cNvSpPr/>
          <p:nvPr/>
        </p:nvSpPr>
        <p:spPr>
          <a:xfrm>
            <a:off x="2095019" y="4239146"/>
            <a:ext cx="2222333" cy="1117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Two Weeks Prior: </a:t>
            </a:r>
          </a:p>
          <a:p>
            <a:pPr algn="ctr"/>
            <a:r>
              <a:rPr lang="en-US" dirty="0"/>
              <a:t>State submits</a:t>
            </a:r>
          </a:p>
          <a:p>
            <a:pPr algn="ctr"/>
            <a:r>
              <a:rPr lang="en-US" dirty="0"/>
              <a:t> all files required for CR</a:t>
            </a:r>
          </a:p>
        </p:txBody>
      </p:sp>
      <p:sp>
        <p:nvSpPr>
          <p:cNvPr id="21" name="TextBox 20">
            <a:extLst>
              <a:ext uri="{FF2B5EF4-FFF2-40B4-BE49-F238E27FC236}">
                <a16:creationId xmlns:a16="http://schemas.microsoft.com/office/drawing/2014/main" id="{B6532D14-138A-4698-3FD5-E9B81C29641F}"/>
              </a:ext>
              <a:ext uri="{C183D7F6-B498-43B3-948B-1728B52AA6E4}">
                <adec:decorative xmlns:adec="http://schemas.microsoft.com/office/drawing/2017/decorative" val="1"/>
              </a:ext>
            </a:extLst>
          </p:cNvPr>
          <p:cNvSpPr txBox="1"/>
          <p:nvPr/>
        </p:nvSpPr>
        <p:spPr>
          <a:xfrm>
            <a:off x="4137979" y="3093241"/>
            <a:ext cx="1021515" cy="646331"/>
          </a:xfrm>
          <a:prstGeom prst="rect">
            <a:avLst/>
          </a:prstGeom>
          <a:noFill/>
        </p:spPr>
        <p:txBody>
          <a:bodyPr wrap="square" rtlCol="0">
            <a:spAutoFit/>
          </a:bodyPr>
          <a:lstStyle/>
          <a:p>
            <a:pPr algn="ctr"/>
            <a:r>
              <a:rPr lang="en-US" dirty="0">
                <a:solidFill>
                  <a:schemeClr val="bg1"/>
                </a:solidFill>
              </a:rPr>
              <a:t>1 week prior</a:t>
            </a:r>
          </a:p>
        </p:txBody>
      </p:sp>
      <p:cxnSp>
        <p:nvCxnSpPr>
          <p:cNvPr id="53" name="Straight Connector 52">
            <a:extLst>
              <a:ext uri="{FF2B5EF4-FFF2-40B4-BE49-F238E27FC236}">
                <a16:creationId xmlns:a16="http://schemas.microsoft.com/office/drawing/2014/main" id="{F8A70778-C2D8-3745-B110-CD6BD0B80B5B}"/>
              </a:ext>
              <a:ext uri="{C183D7F6-B498-43B3-948B-1728B52AA6E4}">
                <adec:decorative xmlns:adec="http://schemas.microsoft.com/office/drawing/2017/decorative" val="1"/>
              </a:ext>
            </a:extLst>
          </p:cNvPr>
          <p:cNvCxnSpPr>
            <a:cxnSpLocks/>
          </p:cNvCxnSpPr>
          <p:nvPr/>
        </p:nvCxnSpPr>
        <p:spPr>
          <a:xfrm>
            <a:off x="4633381" y="2598861"/>
            <a:ext cx="3314" cy="398358"/>
          </a:xfrm>
          <a:prstGeom prst="line">
            <a:avLst/>
          </a:prstGeom>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FCD2D379-EED6-BFC9-264F-EBF1C7EBF951}"/>
              </a:ext>
              <a:ext uri="{C183D7F6-B498-43B3-948B-1728B52AA6E4}">
                <adec:decorative xmlns:adec="http://schemas.microsoft.com/office/drawing/2017/decorative" val="1"/>
              </a:ext>
            </a:extLst>
          </p:cNvPr>
          <p:cNvSpPr/>
          <p:nvPr/>
        </p:nvSpPr>
        <p:spPr>
          <a:xfrm>
            <a:off x="3626069" y="1186431"/>
            <a:ext cx="2017938" cy="17131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One Week Prior: </a:t>
            </a:r>
          </a:p>
          <a:p>
            <a:pPr algn="ctr"/>
            <a:r>
              <a:rPr lang="en-US" dirty="0"/>
              <a:t>State receives Information</a:t>
            </a:r>
          </a:p>
          <a:p>
            <a:pPr algn="ctr"/>
            <a:r>
              <a:rPr lang="en-US" dirty="0"/>
              <a:t>Request Listing (IRL)</a:t>
            </a:r>
          </a:p>
        </p:txBody>
      </p:sp>
      <p:sp>
        <p:nvSpPr>
          <p:cNvPr id="30" name="5-Point Star 29">
            <a:extLst>
              <a:ext uri="{FF2B5EF4-FFF2-40B4-BE49-F238E27FC236}">
                <a16:creationId xmlns:a16="http://schemas.microsoft.com/office/drawing/2014/main" id="{60A51A0B-F422-3965-F92F-E6E3559EF02C}"/>
              </a:ext>
              <a:ext uri="{C183D7F6-B498-43B3-948B-1728B52AA6E4}">
                <adec:decorative xmlns:adec="http://schemas.microsoft.com/office/drawing/2017/decorative" val="1"/>
              </a:ext>
            </a:extLst>
          </p:cNvPr>
          <p:cNvSpPr/>
          <p:nvPr/>
        </p:nvSpPr>
        <p:spPr>
          <a:xfrm>
            <a:off x="5397450" y="2314641"/>
            <a:ext cx="1771683" cy="1614683"/>
          </a:xfrm>
          <a:prstGeom prst="star5">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F8FC0939-9A42-3D40-C617-AFC3FEB87BE5}"/>
              </a:ext>
              <a:ext uri="{C183D7F6-B498-43B3-948B-1728B52AA6E4}">
                <adec:decorative xmlns:adec="http://schemas.microsoft.com/office/drawing/2017/decorative" val="1"/>
              </a:ext>
            </a:extLst>
          </p:cNvPr>
          <p:cNvSpPr txBox="1"/>
          <p:nvPr/>
        </p:nvSpPr>
        <p:spPr>
          <a:xfrm>
            <a:off x="5922283" y="2942708"/>
            <a:ext cx="722015" cy="646331"/>
          </a:xfrm>
          <a:prstGeom prst="rect">
            <a:avLst/>
          </a:prstGeom>
          <a:noFill/>
        </p:spPr>
        <p:txBody>
          <a:bodyPr wrap="square" rtlCol="0">
            <a:spAutoFit/>
          </a:bodyPr>
          <a:lstStyle/>
          <a:p>
            <a:pPr algn="ctr"/>
            <a:r>
              <a:rPr lang="en-US" dirty="0"/>
              <a:t>Date </a:t>
            </a:r>
          </a:p>
          <a:p>
            <a:pPr algn="ctr"/>
            <a:r>
              <a:rPr lang="en-US" dirty="0"/>
              <a:t>of CR</a:t>
            </a:r>
          </a:p>
        </p:txBody>
      </p:sp>
      <p:sp>
        <p:nvSpPr>
          <p:cNvPr id="6" name="TextBox 5">
            <a:extLst>
              <a:ext uri="{FF2B5EF4-FFF2-40B4-BE49-F238E27FC236}">
                <a16:creationId xmlns:a16="http://schemas.microsoft.com/office/drawing/2014/main" id="{19D2B701-DF9F-7807-FADA-D6C79B3CDFF1}"/>
              </a:ext>
              <a:ext uri="{C183D7F6-B498-43B3-948B-1728B52AA6E4}">
                <adec:decorative xmlns:adec="http://schemas.microsoft.com/office/drawing/2017/decorative" val="1"/>
              </a:ext>
            </a:extLst>
          </p:cNvPr>
          <p:cNvSpPr txBox="1"/>
          <p:nvPr/>
        </p:nvSpPr>
        <p:spPr>
          <a:xfrm>
            <a:off x="7134287" y="3093241"/>
            <a:ext cx="1021515" cy="646331"/>
          </a:xfrm>
          <a:prstGeom prst="rect">
            <a:avLst/>
          </a:prstGeom>
          <a:noFill/>
        </p:spPr>
        <p:txBody>
          <a:bodyPr wrap="square" rtlCol="0">
            <a:spAutoFit/>
          </a:bodyPr>
          <a:lstStyle/>
          <a:p>
            <a:pPr algn="ctr"/>
            <a:r>
              <a:rPr lang="en-US" dirty="0">
                <a:solidFill>
                  <a:schemeClr val="bg1"/>
                </a:solidFill>
              </a:rPr>
              <a:t>1 day after</a:t>
            </a:r>
          </a:p>
        </p:txBody>
      </p:sp>
      <p:cxnSp>
        <p:nvCxnSpPr>
          <p:cNvPr id="55" name="Straight Connector 54">
            <a:extLst>
              <a:ext uri="{FF2B5EF4-FFF2-40B4-BE49-F238E27FC236}">
                <a16:creationId xmlns:a16="http://schemas.microsoft.com/office/drawing/2014/main" id="{22C351C1-4DB0-5AAC-0DE9-DA78BC0F9AC3}"/>
              </a:ext>
              <a:ext uri="{C183D7F6-B498-43B3-948B-1728B52AA6E4}">
                <adec:decorative xmlns:adec="http://schemas.microsoft.com/office/drawing/2017/decorative" val="1"/>
              </a:ext>
            </a:extLst>
          </p:cNvPr>
          <p:cNvCxnSpPr>
            <a:cxnSpLocks/>
          </p:cNvCxnSpPr>
          <p:nvPr/>
        </p:nvCxnSpPr>
        <p:spPr>
          <a:xfrm flipV="1">
            <a:off x="7645045" y="3409249"/>
            <a:ext cx="0" cy="825695"/>
          </a:xfrm>
          <a:prstGeom prst="line">
            <a:avLst/>
          </a:prstGeom>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F7FDC053-AF58-676E-1CD8-E6D597D05298}"/>
              </a:ext>
              <a:ext uri="{C183D7F6-B498-43B3-948B-1728B52AA6E4}">
                <adec:decorative xmlns:adec="http://schemas.microsoft.com/office/drawing/2017/decorative" val="1"/>
              </a:ext>
            </a:extLst>
          </p:cNvPr>
          <p:cNvSpPr/>
          <p:nvPr/>
        </p:nvSpPr>
        <p:spPr>
          <a:xfrm>
            <a:off x="6787594" y="4139094"/>
            <a:ext cx="1714903" cy="11912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One Day After </a:t>
            </a:r>
            <a:r>
              <a:rPr lang="en-US" dirty="0"/>
              <a:t>State receives Action Item List</a:t>
            </a:r>
          </a:p>
        </p:txBody>
      </p:sp>
      <p:sp>
        <p:nvSpPr>
          <p:cNvPr id="18" name="TextBox 17">
            <a:extLst>
              <a:ext uri="{FF2B5EF4-FFF2-40B4-BE49-F238E27FC236}">
                <a16:creationId xmlns:a16="http://schemas.microsoft.com/office/drawing/2014/main" id="{CED35FE9-0D90-AD65-F4A9-604D6443148A}"/>
              </a:ext>
              <a:ext uri="{C183D7F6-B498-43B3-948B-1728B52AA6E4}">
                <adec:decorative xmlns:adec="http://schemas.microsoft.com/office/drawing/2017/decorative" val="1"/>
              </a:ext>
            </a:extLst>
          </p:cNvPr>
          <p:cNvSpPr txBox="1"/>
          <p:nvPr/>
        </p:nvSpPr>
        <p:spPr>
          <a:xfrm>
            <a:off x="8159576" y="3093241"/>
            <a:ext cx="1210542" cy="646331"/>
          </a:xfrm>
          <a:prstGeom prst="rect">
            <a:avLst/>
          </a:prstGeom>
          <a:noFill/>
        </p:spPr>
        <p:txBody>
          <a:bodyPr wrap="square" lIns="91440" tIns="45720" rIns="91440" bIns="45720" rtlCol="0" anchor="t">
            <a:spAutoFit/>
          </a:bodyPr>
          <a:lstStyle/>
          <a:p>
            <a:pPr algn="ctr"/>
            <a:r>
              <a:rPr lang="en-US" dirty="0">
                <a:solidFill>
                  <a:schemeClr val="bg1"/>
                </a:solidFill>
              </a:rPr>
              <a:t>NLT 60 days after</a:t>
            </a:r>
          </a:p>
        </p:txBody>
      </p:sp>
      <p:cxnSp>
        <p:nvCxnSpPr>
          <p:cNvPr id="41" name="Straight Connector 40">
            <a:extLst>
              <a:ext uri="{FF2B5EF4-FFF2-40B4-BE49-F238E27FC236}">
                <a16:creationId xmlns:a16="http://schemas.microsoft.com/office/drawing/2014/main" id="{CB321553-9033-A3DB-1653-F31B65525B0D}"/>
              </a:ext>
              <a:ext uri="{C183D7F6-B498-43B3-948B-1728B52AA6E4}">
                <adec:decorative xmlns:adec="http://schemas.microsoft.com/office/drawing/2017/decorative" val="1"/>
              </a:ext>
            </a:extLst>
          </p:cNvPr>
          <p:cNvCxnSpPr>
            <a:cxnSpLocks/>
          </p:cNvCxnSpPr>
          <p:nvPr/>
        </p:nvCxnSpPr>
        <p:spPr>
          <a:xfrm flipV="1">
            <a:off x="8693479" y="2251866"/>
            <a:ext cx="0" cy="859850"/>
          </a:xfrm>
          <a:prstGeom prst="line">
            <a:avLst/>
          </a:prstGeom>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78A06D6D-CBB8-E158-5AD5-2ED61FBE010C}"/>
              </a:ext>
              <a:ext uri="{C183D7F6-B498-43B3-948B-1728B52AA6E4}">
                <adec:decorative xmlns:adec="http://schemas.microsoft.com/office/drawing/2017/decorative" val="1"/>
              </a:ext>
            </a:extLst>
          </p:cNvPr>
          <p:cNvSpPr/>
          <p:nvPr/>
        </p:nvSpPr>
        <p:spPr>
          <a:xfrm>
            <a:off x="7127231" y="1087715"/>
            <a:ext cx="2684075" cy="1811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No Later Than 60 Days After: </a:t>
            </a:r>
            <a:r>
              <a:rPr lang="en-US" dirty="0"/>
              <a:t>State receives:</a:t>
            </a:r>
          </a:p>
          <a:p>
            <a:r>
              <a:rPr lang="en-US" dirty="0"/>
              <a:t>Final CR package (report, adjudicated SMC Intake Form, and Certification Decision letter</a:t>
            </a:r>
            <a:endParaRPr lang="en-US" strike="sngStrike" dirty="0"/>
          </a:p>
        </p:txBody>
      </p:sp>
      <p:cxnSp>
        <p:nvCxnSpPr>
          <p:cNvPr id="40" name="Straight Connector 39">
            <a:extLst>
              <a:ext uri="{FF2B5EF4-FFF2-40B4-BE49-F238E27FC236}">
                <a16:creationId xmlns:a16="http://schemas.microsoft.com/office/drawing/2014/main" id="{D5014CB1-30CE-4F25-7A34-D2EADD5F8D93}"/>
              </a:ext>
              <a:ext uri="{C183D7F6-B498-43B3-948B-1728B52AA6E4}">
                <adec:decorative xmlns:adec="http://schemas.microsoft.com/office/drawing/2017/decorative" val="1"/>
              </a:ext>
            </a:extLst>
          </p:cNvPr>
          <p:cNvCxnSpPr>
            <a:cxnSpLocks/>
          </p:cNvCxnSpPr>
          <p:nvPr/>
        </p:nvCxnSpPr>
        <p:spPr>
          <a:xfrm flipV="1">
            <a:off x="9983031" y="3520439"/>
            <a:ext cx="0" cy="808035"/>
          </a:xfrm>
          <a:prstGeom prst="line">
            <a:avLst/>
          </a:prstGeom>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DDCDAA78-8FF0-8F1A-3638-9A34392867B5}"/>
              </a:ext>
              <a:ext uri="{C183D7F6-B498-43B3-948B-1728B52AA6E4}">
                <adec:decorative xmlns:adec="http://schemas.microsoft.com/office/drawing/2017/decorative" val="1"/>
              </a:ext>
            </a:extLst>
          </p:cNvPr>
          <p:cNvSpPr/>
          <p:nvPr/>
        </p:nvSpPr>
        <p:spPr>
          <a:xfrm>
            <a:off x="9048906" y="4143460"/>
            <a:ext cx="2329008" cy="11811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Ongoing: </a:t>
            </a:r>
          </a:p>
          <a:p>
            <a:pPr algn="ctr"/>
            <a:r>
              <a:rPr lang="en-US" dirty="0"/>
              <a:t>State submits metrics regularly via the ORW</a:t>
            </a:r>
            <a:endParaRPr lang="en-US" strike="sngStrike" dirty="0"/>
          </a:p>
        </p:txBody>
      </p:sp>
      <p:sp>
        <p:nvSpPr>
          <p:cNvPr id="20" name="TextBox 19">
            <a:extLst>
              <a:ext uri="{FF2B5EF4-FFF2-40B4-BE49-F238E27FC236}">
                <a16:creationId xmlns:a16="http://schemas.microsoft.com/office/drawing/2014/main" id="{5EB742E4-306D-6574-316C-D5C4B57741CD}"/>
              </a:ext>
              <a:ext uri="{C183D7F6-B498-43B3-948B-1728B52AA6E4}">
                <adec:decorative xmlns:adec="http://schemas.microsoft.com/office/drawing/2017/decorative" val="1"/>
              </a:ext>
            </a:extLst>
          </p:cNvPr>
          <p:cNvSpPr txBox="1"/>
          <p:nvPr/>
        </p:nvSpPr>
        <p:spPr>
          <a:xfrm>
            <a:off x="9811306" y="3231740"/>
            <a:ext cx="1021515" cy="369332"/>
          </a:xfrm>
          <a:prstGeom prst="rect">
            <a:avLst/>
          </a:prstGeom>
          <a:noFill/>
        </p:spPr>
        <p:txBody>
          <a:bodyPr wrap="square" rtlCol="0">
            <a:spAutoFit/>
          </a:bodyPr>
          <a:lstStyle/>
          <a:p>
            <a:pPr algn="ctr"/>
            <a:r>
              <a:rPr lang="en-US" dirty="0">
                <a:solidFill>
                  <a:schemeClr val="bg1"/>
                </a:solidFill>
              </a:rPr>
              <a:t>Ongoing</a:t>
            </a:r>
          </a:p>
        </p:txBody>
      </p:sp>
      <p:cxnSp>
        <p:nvCxnSpPr>
          <p:cNvPr id="17" name="Straight Connector 16">
            <a:extLst>
              <a:ext uri="{FF2B5EF4-FFF2-40B4-BE49-F238E27FC236}">
                <a16:creationId xmlns:a16="http://schemas.microsoft.com/office/drawing/2014/main" id="{0C1AC194-6629-662A-BDED-F03686DC669E}"/>
              </a:ext>
              <a:ext uri="{C183D7F6-B498-43B3-948B-1728B52AA6E4}">
                <adec:decorative xmlns:adec="http://schemas.microsoft.com/office/drawing/2017/decorative" val="1"/>
              </a:ext>
            </a:extLst>
          </p:cNvPr>
          <p:cNvCxnSpPr>
            <a:cxnSpLocks/>
          </p:cNvCxnSpPr>
          <p:nvPr/>
        </p:nvCxnSpPr>
        <p:spPr>
          <a:xfrm flipV="1">
            <a:off x="10781515" y="2216163"/>
            <a:ext cx="0" cy="808035"/>
          </a:xfrm>
          <a:prstGeom prst="line">
            <a:avLst/>
          </a:prstGeom>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923DFFE0-7685-04A7-EC0B-10C9BE00D7D5}"/>
              </a:ext>
              <a:ext uri="{C183D7F6-B498-43B3-948B-1728B52AA6E4}">
                <adec:decorative xmlns:adec="http://schemas.microsoft.com/office/drawing/2017/decorative" val="1"/>
              </a:ext>
            </a:extLst>
          </p:cNvPr>
          <p:cNvSpPr/>
          <p:nvPr/>
        </p:nvSpPr>
        <p:spPr>
          <a:xfrm>
            <a:off x="9899529" y="1324982"/>
            <a:ext cx="1941372" cy="1273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Ongoing: </a:t>
            </a:r>
          </a:p>
          <a:p>
            <a:pPr algn="ctr"/>
            <a:r>
              <a:rPr lang="en-US" dirty="0"/>
              <a:t>State submits OAPD for CMS approval </a:t>
            </a:r>
          </a:p>
        </p:txBody>
      </p:sp>
      <p:sp>
        <p:nvSpPr>
          <p:cNvPr id="7" name="TextBox 6">
            <a:extLst>
              <a:ext uri="{FF2B5EF4-FFF2-40B4-BE49-F238E27FC236}">
                <a16:creationId xmlns:a16="http://schemas.microsoft.com/office/drawing/2014/main" id="{8F930861-A9CC-7816-264A-35369471731A}"/>
              </a:ext>
            </a:extLst>
          </p:cNvPr>
          <p:cNvSpPr txBox="1"/>
          <p:nvPr/>
        </p:nvSpPr>
        <p:spPr>
          <a:xfrm>
            <a:off x="5145796" y="231494"/>
            <a:ext cx="6695105"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This illustrates the CR timeline starting three months before the CR and continuing actions after the CR is complete.</a:t>
            </a:r>
          </a:p>
        </p:txBody>
      </p:sp>
    </p:spTree>
    <p:extLst>
      <p:ext uri="{BB962C8B-B14F-4D97-AF65-F5344CB8AC3E}">
        <p14:creationId xmlns:p14="http://schemas.microsoft.com/office/powerpoint/2010/main" val="718091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04886-8900-E6D4-670E-499CAFCB8BEC}"/>
              </a:ext>
            </a:extLst>
          </p:cNvPr>
          <p:cNvSpPr>
            <a:spLocks noGrp="1"/>
          </p:cNvSpPr>
          <p:nvPr>
            <p:ph type="ctrTitle"/>
          </p:nvPr>
        </p:nvSpPr>
        <p:spPr/>
        <p:txBody>
          <a:bodyPr>
            <a:normAutofit/>
          </a:bodyPr>
          <a:lstStyle/>
          <a:p>
            <a:r>
              <a:rPr lang="en-US" sz="3750" dirty="0">
                <a:solidFill>
                  <a:srgbClr val="004986"/>
                </a:solidFill>
                <a:cs typeface="Calibri Light"/>
              </a:rPr>
              <a:t>CR Entry </a:t>
            </a:r>
            <a:r>
              <a:rPr lang="en-US" sz="3750" dirty="0">
                <a:cs typeface="Calibri Light"/>
              </a:rPr>
              <a:t>Criteria (1 of 3)</a:t>
            </a:r>
          </a:p>
        </p:txBody>
      </p:sp>
      <p:sp>
        <p:nvSpPr>
          <p:cNvPr id="4" name="Text Placeholder 3">
            <a:extLst>
              <a:ext uri="{FF2B5EF4-FFF2-40B4-BE49-F238E27FC236}">
                <a16:creationId xmlns:a16="http://schemas.microsoft.com/office/drawing/2014/main" id="{56F2E1A3-EDA3-220B-54B4-E9F16D507393}"/>
              </a:ext>
            </a:extLst>
          </p:cNvPr>
          <p:cNvSpPr>
            <a:spLocks noGrp="1"/>
          </p:cNvSpPr>
          <p:nvPr>
            <p:ph type="body" sz="quarter" idx="10"/>
          </p:nvPr>
        </p:nvSpPr>
        <p:spPr>
          <a:xfrm>
            <a:off x="928254" y="1313847"/>
            <a:ext cx="10708425" cy="3922296"/>
          </a:xfrm>
        </p:spPr>
        <p:txBody>
          <a:bodyPr/>
          <a:lstStyle/>
          <a:p>
            <a:pPr marL="0" indent="0">
              <a:buNone/>
            </a:pPr>
            <a:r>
              <a:rPr lang="en-US" sz="2400" b="1" dirty="0"/>
              <a:t>Prior to scheduling a CR, the State must provide:  </a:t>
            </a:r>
          </a:p>
          <a:p>
            <a:pPr>
              <a:lnSpc>
                <a:spcPct val="100000"/>
              </a:lnSpc>
              <a:spcBef>
                <a:spcPts val="600"/>
              </a:spcBef>
            </a:pPr>
            <a:r>
              <a:rPr lang="en-US" sz="2200" dirty="0"/>
              <a:t>Latest SMC Intake Form:</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Provide a draft, finalized two weeks before the review.</a:t>
            </a:r>
          </a:p>
          <a:p>
            <a:pPr>
              <a:lnSpc>
                <a:spcPct val="100000"/>
              </a:lnSpc>
              <a:spcBef>
                <a:spcPts val="600"/>
              </a:spcBef>
            </a:pPr>
            <a:r>
              <a:rPr lang="en-US" sz="2200" dirty="0"/>
              <a:t>Metric Data:</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Submit data from go-live date to the most recent month end.</a:t>
            </a:r>
          </a:p>
          <a:p>
            <a:pPr>
              <a:lnSpc>
                <a:spcPct val="100000"/>
              </a:lnSpc>
              <a:spcBef>
                <a:spcPts val="600"/>
              </a:spcBef>
            </a:pPr>
            <a:r>
              <a:rPr lang="en-US" sz="2200" dirty="0"/>
              <a:t>Security and privacy controls assessment report (SAR) and penetration test results:</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Provide the independent, third-party SAR and penetration test results conducted within the last two years from the requested CR date.</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Provide Authority to Connect (ATC) letter, if applicable.</a:t>
            </a:r>
          </a:p>
        </p:txBody>
      </p:sp>
      <p:sp>
        <p:nvSpPr>
          <p:cNvPr id="3" name="Slide Number Placeholder 2">
            <a:extLst>
              <a:ext uri="{FF2B5EF4-FFF2-40B4-BE49-F238E27FC236}">
                <a16:creationId xmlns:a16="http://schemas.microsoft.com/office/drawing/2014/main" id="{A6E64035-21B4-BB0D-AD58-E9BC5B8B500E}"/>
              </a:ext>
            </a:extLst>
          </p:cNvPr>
          <p:cNvSpPr>
            <a:spLocks noGrp="1"/>
          </p:cNvSpPr>
          <p:nvPr>
            <p:ph type="sldNum" sz="quarter" idx="4"/>
          </p:nvPr>
        </p:nvSpPr>
        <p:spPr/>
        <p:txBody>
          <a:bodyPr/>
          <a:lstStyle/>
          <a:p>
            <a:fld id="{307C9BC6-3632-4035-A6F8-73DB694A0BF4}" type="slidenum">
              <a:rPr lang="en-US" smtClean="0"/>
              <a:t>25</a:t>
            </a:fld>
            <a:endParaRPr lang="en-US" dirty="0"/>
          </a:p>
        </p:txBody>
      </p:sp>
    </p:spTree>
    <p:extLst>
      <p:ext uri="{BB962C8B-B14F-4D97-AF65-F5344CB8AC3E}">
        <p14:creationId xmlns:p14="http://schemas.microsoft.com/office/powerpoint/2010/main" val="1631849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F197C-B8C7-E4E4-8C79-1229B4A0B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230B4-38FA-8CA9-8603-F9359B306866}"/>
              </a:ext>
            </a:extLst>
          </p:cNvPr>
          <p:cNvSpPr>
            <a:spLocks noGrp="1"/>
          </p:cNvSpPr>
          <p:nvPr>
            <p:ph type="ctrTitle"/>
          </p:nvPr>
        </p:nvSpPr>
        <p:spPr/>
        <p:txBody>
          <a:bodyPr>
            <a:normAutofit/>
          </a:bodyPr>
          <a:lstStyle/>
          <a:p>
            <a:r>
              <a:rPr lang="en-US" sz="3750" dirty="0">
                <a:solidFill>
                  <a:srgbClr val="004986"/>
                </a:solidFill>
                <a:cs typeface="Calibri Light"/>
              </a:rPr>
              <a:t>CR Entry </a:t>
            </a:r>
            <a:r>
              <a:rPr lang="en-US" sz="3750" dirty="0">
                <a:cs typeface="Calibri Light"/>
              </a:rPr>
              <a:t>Criteria (2</a:t>
            </a:r>
            <a:r>
              <a:rPr lang="en-US" sz="3750" dirty="0">
                <a:solidFill>
                  <a:srgbClr val="FF0000"/>
                </a:solidFill>
                <a:cs typeface="Calibri Light"/>
              </a:rPr>
              <a:t> </a:t>
            </a:r>
            <a:r>
              <a:rPr lang="en-US" sz="3750" dirty="0">
                <a:cs typeface="Calibri Light"/>
              </a:rPr>
              <a:t>of 3)</a:t>
            </a:r>
          </a:p>
        </p:txBody>
      </p:sp>
      <p:sp>
        <p:nvSpPr>
          <p:cNvPr id="4" name="Text Placeholder 3">
            <a:extLst>
              <a:ext uri="{FF2B5EF4-FFF2-40B4-BE49-F238E27FC236}">
                <a16:creationId xmlns:a16="http://schemas.microsoft.com/office/drawing/2014/main" id="{3C382DD7-82C4-6D25-2D22-338B8DD41749}"/>
              </a:ext>
            </a:extLst>
          </p:cNvPr>
          <p:cNvSpPr>
            <a:spLocks noGrp="1"/>
          </p:cNvSpPr>
          <p:nvPr>
            <p:ph type="body" sz="quarter" idx="10"/>
          </p:nvPr>
        </p:nvSpPr>
        <p:spPr>
          <a:xfrm>
            <a:off x="928255" y="1467852"/>
            <a:ext cx="11117972" cy="3922296"/>
          </a:xfrm>
        </p:spPr>
        <p:txBody>
          <a:bodyPr/>
          <a:lstStyle/>
          <a:p>
            <a:pPr>
              <a:lnSpc>
                <a:spcPct val="100000"/>
              </a:lnSpc>
            </a:pPr>
            <a:r>
              <a:rPr lang="en-US" sz="2200" dirty="0"/>
              <a:t>Plan of Action &amp; Milestones (POA&amp;M):</a:t>
            </a:r>
          </a:p>
          <a:p>
            <a:pPr lvl="1">
              <a:lnSpc>
                <a:spcPct val="100000"/>
              </a:lnSpc>
              <a:buFont typeface="Calibri" panose="020F0502020204030204" pitchFamily="34" charset="0"/>
              <a:buChar char="–"/>
            </a:pPr>
            <a:r>
              <a:rPr lang="en-US" sz="2000" dirty="0">
                <a:latin typeface="Arial" panose="020B0604020202020204" pitchFamily="34" charset="0"/>
                <a:cs typeface="Arial" panose="020B0604020202020204" pitchFamily="34" charset="0"/>
              </a:rPr>
              <a:t>Provide the most recent status of vulnerabilities regardless of risk level (from SAR, penetration tests, vulnerability scans, disaster recovery test results).</a:t>
            </a:r>
          </a:p>
          <a:p>
            <a:pPr lvl="1">
              <a:lnSpc>
                <a:spcPct val="100000"/>
              </a:lnSpc>
              <a:buFont typeface="Calibri" panose="020F0502020204030204" pitchFamily="34" charset="0"/>
              <a:buChar char="–"/>
            </a:pPr>
            <a:r>
              <a:rPr lang="en-US" sz="2000" dirty="0">
                <a:latin typeface="Arial" panose="020B0604020202020204" pitchFamily="34" charset="0"/>
                <a:cs typeface="Arial" panose="020B0604020202020204" pitchFamily="34" charset="0"/>
              </a:rPr>
              <a:t>Resolve critical findings before requesting CR (or provide CMS approved risk acceptance).</a:t>
            </a:r>
          </a:p>
          <a:p>
            <a:pPr>
              <a:lnSpc>
                <a:spcPct val="100000"/>
              </a:lnSpc>
            </a:pPr>
            <a:r>
              <a:rPr lang="en-US" sz="2400" dirty="0"/>
              <a:t>Transformed Medicaid Statistical Information System (</a:t>
            </a:r>
            <a:r>
              <a:rPr lang="en-US" sz="2200" dirty="0"/>
              <a:t>T-MSIS) OBA Compliance:</a:t>
            </a:r>
          </a:p>
          <a:p>
            <a:pPr lvl="1">
              <a:lnSpc>
                <a:spcPct val="100000"/>
              </a:lnSpc>
              <a:buFont typeface="Calibri" panose="020F0502020204030204" pitchFamily="34" charset="0"/>
              <a:buChar char="–"/>
            </a:pPr>
            <a:r>
              <a:rPr lang="en-US" sz="2000" dirty="0">
                <a:latin typeface="Arial" panose="020B0604020202020204" pitchFamily="34" charset="0"/>
                <a:cs typeface="Arial" panose="020B0604020202020204" pitchFamily="34" charset="0"/>
              </a:rPr>
              <a:t>MES Certification Team will confirm Outcomes Based Assessment (OBA) with CMS T-MSIS team.</a:t>
            </a:r>
          </a:p>
          <a:p>
            <a:pPr lvl="1">
              <a:lnSpc>
                <a:spcPct val="100000"/>
              </a:lnSpc>
              <a:buFont typeface="Calibri" panose="020F0502020204030204" pitchFamily="34" charset="0"/>
              <a:buChar char="–"/>
            </a:pPr>
            <a:endParaRPr lang="en-US" sz="2000" dirty="0">
              <a:latin typeface="Arial" panose="020B0604020202020204" pitchFamily="34" charset="0"/>
              <a:cs typeface="Arial" panose="020B0604020202020204" pitchFamily="34" charset="0"/>
            </a:endParaRPr>
          </a:p>
          <a:p>
            <a:pPr marL="0" indent="0">
              <a:lnSpc>
                <a:spcPct val="100000"/>
              </a:lnSpc>
              <a:buNone/>
            </a:pPr>
            <a:r>
              <a:rPr lang="en-US" sz="2000" dirty="0">
                <a:latin typeface="Arial" panose="020B0604020202020204" pitchFamily="34" charset="0"/>
                <a:cs typeface="Arial" panose="020B0604020202020204" pitchFamily="34" charset="0"/>
              </a:rPr>
              <a:t>Note: The CMS State Officer will </a:t>
            </a:r>
            <a:r>
              <a:rPr lang="en-US" sz="2000" dirty="0"/>
              <a:t>provide access to CMS Box after the MES Certification Team sets up the folders.</a:t>
            </a:r>
          </a:p>
          <a:p>
            <a:pPr marL="457189" lvl="1" indent="0">
              <a:lnSpc>
                <a:spcPct val="100000"/>
              </a:lnSpc>
              <a:buNone/>
            </a:pPr>
            <a:endParaRPr lang="en-US" sz="2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E56A8DEA-70D0-FDC9-CBA7-2899E9C8EDF0}"/>
              </a:ext>
            </a:extLst>
          </p:cNvPr>
          <p:cNvSpPr>
            <a:spLocks noGrp="1"/>
          </p:cNvSpPr>
          <p:nvPr>
            <p:ph type="sldNum" sz="quarter" idx="4"/>
          </p:nvPr>
        </p:nvSpPr>
        <p:spPr/>
        <p:txBody>
          <a:bodyPr/>
          <a:lstStyle/>
          <a:p>
            <a:fld id="{307C9BC6-3632-4035-A6F8-73DB694A0BF4}" type="slidenum">
              <a:rPr lang="en-US" smtClean="0"/>
              <a:t>26</a:t>
            </a:fld>
            <a:endParaRPr lang="en-US" dirty="0"/>
          </a:p>
        </p:txBody>
      </p:sp>
    </p:spTree>
    <p:extLst>
      <p:ext uri="{BB962C8B-B14F-4D97-AF65-F5344CB8AC3E}">
        <p14:creationId xmlns:p14="http://schemas.microsoft.com/office/powerpoint/2010/main" val="1193650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617E9-8E04-2B3D-C7E8-4C6B7F222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CA990-169E-5607-657B-818B2AA96352}"/>
              </a:ext>
            </a:extLst>
          </p:cNvPr>
          <p:cNvSpPr>
            <a:spLocks noGrp="1"/>
          </p:cNvSpPr>
          <p:nvPr>
            <p:ph type="ctrTitle"/>
          </p:nvPr>
        </p:nvSpPr>
        <p:spPr/>
        <p:txBody>
          <a:bodyPr>
            <a:normAutofit/>
          </a:bodyPr>
          <a:lstStyle/>
          <a:p>
            <a:r>
              <a:rPr lang="en-US" sz="3750" dirty="0">
                <a:solidFill>
                  <a:srgbClr val="004986"/>
                </a:solidFill>
                <a:cs typeface="Calibri Light"/>
              </a:rPr>
              <a:t>CR Entry </a:t>
            </a:r>
            <a:r>
              <a:rPr lang="en-US" sz="3750" dirty="0">
                <a:cs typeface="Calibri Light"/>
              </a:rPr>
              <a:t>Criteria (3</a:t>
            </a:r>
            <a:r>
              <a:rPr lang="en-US" sz="3750" dirty="0">
                <a:solidFill>
                  <a:srgbClr val="FF0000"/>
                </a:solidFill>
                <a:cs typeface="Calibri Light"/>
              </a:rPr>
              <a:t> </a:t>
            </a:r>
            <a:r>
              <a:rPr lang="en-US" sz="3750" dirty="0">
                <a:cs typeface="Calibri Light"/>
              </a:rPr>
              <a:t>of 3)</a:t>
            </a:r>
          </a:p>
        </p:txBody>
      </p:sp>
      <p:sp>
        <p:nvSpPr>
          <p:cNvPr id="4" name="Text Placeholder 3">
            <a:extLst>
              <a:ext uri="{FF2B5EF4-FFF2-40B4-BE49-F238E27FC236}">
                <a16:creationId xmlns:a16="http://schemas.microsoft.com/office/drawing/2014/main" id="{E8B3CD60-D469-525B-9A5B-2719B77D3C66}"/>
              </a:ext>
            </a:extLst>
          </p:cNvPr>
          <p:cNvSpPr>
            <a:spLocks noGrp="1"/>
          </p:cNvSpPr>
          <p:nvPr>
            <p:ph type="body" sz="quarter" idx="10"/>
          </p:nvPr>
        </p:nvSpPr>
        <p:spPr>
          <a:xfrm>
            <a:off x="928255" y="1467852"/>
            <a:ext cx="11117972" cy="3922296"/>
          </a:xfrm>
        </p:spPr>
        <p:txBody>
          <a:bodyPr/>
          <a:lstStyle/>
          <a:p>
            <a:pPr>
              <a:lnSpc>
                <a:spcPct val="100000"/>
              </a:lnSpc>
            </a:pPr>
            <a:r>
              <a:rPr lang="en-US" sz="2000" dirty="0"/>
              <a:t>Once prior files are approved, the State should provide the Certification Request Letter:</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The letter should align with the example template posted on the MES Certification Repository.</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Attach System Acceptance Letter with acceptance and go-live dates.</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Upload the two letters to the applicable certification CMS Box folders.</a:t>
            </a:r>
          </a:p>
          <a:p>
            <a:pPr lvl="1">
              <a:buFont typeface="Calibri" panose="020F0502020204030204" pitchFamily="34" charset="0"/>
              <a:buChar char="–"/>
            </a:pPr>
            <a:r>
              <a:rPr lang="en-US" sz="2000" dirty="0">
                <a:latin typeface="Arial" panose="020B0604020202020204" pitchFamily="34" charset="0"/>
                <a:cs typeface="Arial" panose="020B0604020202020204" pitchFamily="34" charset="0"/>
              </a:rPr>
              <a:t>State must send the Certification Request Letter via email to the </a:t>
            </a:r>
            <a:r>
              <a:rPr lang="en-US" sz="2000" dirty="0">
                <a:solidFill>
                  <a:schemeClr val="accent5"/>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MES.Certification@cms.hhs.gov</a:t>
            </a:r>
            <a:r>
              <a:rPr lang="en-US" sz="2000" dirty="0">
                <a:solidFill>
                  <a:schemeClr val="accent5"/>
                </a:solidFill>
                <a:latin typeface="Arial" panose="020B0604020202020204" pitchFamily="34" charset="0"/>
                <a:cs typeface="Arial" panose="020B0604020202020204" pitchFamily="34" charset="0"/>
              </a:rPr>
              <a:t>.</a:t>
            </a:r>
          </a:p>
          <a:p>
            <a:pPr>
              <a:buFont typeface="Arial" panose="020B0604020202020204" pitchFamily="34" charset="0"/>
              <a:buChar char="•"/>
            </a:pPr>
            <a:r>
              <a:rPr lang="en-US" sz="2000" dirty="0"/>
              <a:t>Meeting the entry criteria allows for CR scheduling; the State must submit up-to-date documents to the applicable certification CMS Box folder two weeks before CR for evaluation by the MES Certification Team.</a:t>
            </a:r>
          </a:p>
          <a:p>
            <a:pPr>
              <a:buFont typeface="Arial" panose="020B0604020202020204" pitchFamily="34" charset="0"/>
              <a:buChar char="•"/>
            </a:pPr>
            <a:r>
              <a:rPr lang="en-US" sz="2000" dirty="0"/>
              <a:t>All entry criteria materials must be submitted to the CMS repository folder four weeks before CR to potentially secure the CR date.</a:t>
            </a:r>
            <a:r>
              <a:rPr lang="en-US" sz="2400" dirty="0"/>
              <a:t> </a:t>
            </a:r>
          </a:p>
        </p:txBody>
      </p:sp>
      <p:sp>
        <p:nvSpPr>
          <p:cNvPr id="3" name="Slide Number Placeholder 2">
            <a:extLst>
              <a:ext uri="{FF2B5EF4-FFF2-40B4-BE49-F238E27FC236}">
                <a16:creationId xmlns:a16="http://schemas.microsoft.com/office/drawing/2014/main" id="{953EF039-739E-AE3F-8CC0-69EB2E7F169C}"/>
              </a:ext>
              <a:ext uri="{C183D7F6-B498-43B3-948B-1728B52AA6E4}">
                <adec:decorative xmlns:adec="http://schemas.microsoft.com/office/drawing/2017/decorative" val="1"/>
              </a:ext>
            </a:extLst>
          </p:cNvPr>
          <p:cNvSpPr>
            <a:spLocks noGrp="1"/>
          </p:cNvSpPr>
          <p:nvPr>
            <p:ph type="sldNum" sz="quarter" idx="4"/>
          </p:nvPr>
        </p:nvSpPr>
        <p:spPr/>
        <p:txBody>
          <a:bodyPr/>
          <a:lstStyle/>
          <a:p>
            <a:fld id="{307C9BC6-3632-4035-A6F8-73DB694A0BF4}" type="slidenum">
              <a:rPr lang="en-US" smtClean="0"/>
              <a:t>27</a:t>
            </a:fld>
            <a:endParaRPr lang="en-US" dirty="0"/>
          </a:p>
        </p:txBody>
      </p:sp>
    </p:spTree>
    <p:extLst>
      <p:ext uri="{BB962C8B-B14F-4D97-AF65-F5344CB8AC3E}">
        <p14:creationId xmlns:p14="http://schemas.microsoft.com/office/powerpoint/2010/main" val="2025279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E5D15-E7D7-7B97-564D-0D58D8616F4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F18AAF5-594D-FE76-6E15-A3B0DD37F167}"/>
              </a:ext>
            </a:extLst>
          </p:cNvPr>
          <p:cNvSpPr>
            <a:spLocks noGrp="1"/>
          </p:cNvSpPr>
          <p:nvPr>
            <p:ph type="ctrTitle"/>
          </p:nvPr>
        </p:nvSpPr>
        <p:spPr>
          <a:xfrm>
            <a:off x="928255" y="441383"/>
            <a:ext cx="9144000" cy="61170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90000"/>
              </a:lnSpc>
              <a:spcBef>
                <a:spcPct val="0"/>
              </a:spcBef>
              <a:spcAft>
                <a:spcPts val="0"/>
              </a:spcAft>
              <a:buClrTx/>
              <a:buSzTx/>
              <a:buFontTx/>
              <a:buNone/>
              <a:tabLst/>
              <a:defRPr/>
            </a:pPr>
            <a:r>
              <a:rPr lang="en-US" sz="3750" dirty="0"/>
              <a:t>Preparing for the CR</a:t>
            </a:r>
          </a:p>
        </p:txBody>
      </p:sp>
      <p:sp>
        <p:nvSpPr>
          <p:cNvPr id="2" name="Text Placeholder 1">
            <a:extLst>
              <a:ext uri="{FF2B5EF4-FFF2-40B4-BE49-F238E27FC236}">
                <a16:creationId xmlns:a16="http://schemas.microsoft.com/office/drawing/2014/main" id="{4FE67EB0-BE81-F613-1CDC-AF1870831DBE}"/>
              </a:ext>
            </a:extLst>
          </p:cNvPr>
          <p:cNvSpPr>
            <a:spLocks noGrp="1"/>
          </p:cNvSpPr>
          <p:nvPr>
            <p:ph type="body" sz="quarter" idx="10"/>
          </p:nvPr>
        </p:nvSpPr>
        <p:spPr>
          <a:xfrm>
            <a:off x="928254" y="1177212"/>
            <a:ext cx="10958945" cy="4193573"/>
          </a:xfrm>
        </p:spPr>
        <p:txBody>
          <a:bodyPr/>
          <a:lstStyle/>
          <a:p>
            <a:pPr>
              <a:lnSpc>
                <a:spcPct val="100000"/>
              </a:lnSpc>
            </a:pPr>
            <a:r>
              <a:rPr lang="en-US" sz="1900" dirty="0"/>
              <a:t>Submit draft agenda and presentation slide deck with all certification files two weeks before CR.</a:t>
            </a:r>
          </a:p>
          <a:p>
            <a:pPr>
              <a:lnSpc>
                <a:spcPct val="100000"/>
              </a:lnSpc>
            </a:pPr>
            <a:r>
              <a:rPr lang="en-US" sz="1900" dirty="0"/>
              <a:t>Finalize agenda and slides one week before CR.</a:t>
            </a:r>
          </a:p>
          <a:p>
            <a:pPr>
              <a:lnSpc>
                <a:spcPct val="100000"/>
              </a:lnSpc>
            </a:pPr>
            <a:r>
              <a:rPr lang="en-US" sz="1900" dirty="0"/>
              <a:t>Respond to the IRL at least 2 days before the meeting to streamline discussion; otherwise, address each question during the review.</a:t>
            </a:r>
          </a:p>
          <a:p>
            <a:pPr>
              <a:lnSpc>
                <a:spcPct val="100000"/>
              </a:lnSpc>
            </a:pPr>
            <a:r>
              <a:rPr lang="en-US" sz="1900" dirty="0">
                <a:cs typeface="Calibri"/>
              </a:rPr>
              <a:t>Ensure attendance from applicable SMEs (including privacy and security) to respond to the CMS Certification Team’s questions, which could include additional demonstrations in the system.</a:t>
            </a:r>
          </a:p>
          <a:p>
            <a:pPr>
              <a:lnSpc>
                <a:spcPct val="100000"/>
              </a:lnSpc>
            </a:pPr>
            <a:r>
              <a:rPr lang="en-US" sz="1900" dirty="0"/>
              <a:t>CMS will allow redaction of sensitive information (e.g., IP addresses and hostnames). However, all other information, including network architecture, is required to support the certification decision.</a:t>
            </a:r>
          </a:p>
          <a:p>
            <a:pPr>
              <a:lnSpc>
                <a:spcPct val="100000"/>
              </a:lnSpc>
            </a:pPr>
            <a:r>
              <a:rPr lang="en-US" sz="1900" dirty="0"/>
              <a:t>Note: For agile or phased implementation, the State must map phases to outcomes to assist the CMS Certification Team in determining CR the date.</a:t>
            </a:r>
          </a:p>
        </p:txBody>
      </p:sp>
      <p:sp>
        <p:nvSpPr>
          <p:cNvPr id="3" name="Slide Number Placeholder 2">
            <a:extLst>
              <a:ext uri="{FF2B5EF4-FFF2-40B4-BE49-F238E27FC236}">
                <a16:creationId xmlns:a16="http://schemas.microsoft.com/office/drawing/2014/main" id="{16CEBB8C-5F98-0425-E6B9-8C1FC239F8E2}"/>
              </a:ext>
            </a:extLst>
          </p:cNvPr>
          <p:cNvSpPr>
            <a:spLocks noGrp="1"/>
          </p:cNvSpPr>
          <p:nvPr>
            <p:ph type="sldNum" sz="quarter" idx="4"/>
          </p:nvPr>
        </p:nvSpPr>
        <p:spPr/>
        <p:txBody>
          <a:bodyPr/>
          <a:lstStyle/>
          <a:p>
            <a:fld id="{295008BC-DA31-4D19-837B-EFA4386B05F5}" type="slidenum">
              <a:rPr lang="en-US" smtClean="0"/>
              <a:t>28</a:t>
            </a:fld>
            <a:endParaRPr lang="en-US" dirty="0"/>
          </a:p>
        </p:txBody>
      </p:sp>
    </p:spTree>
    <p:extLst>
      <p:ext uri="{BB962C8B-B14F-4D97-AF65-F5344CB8AC3E}">
        <p14:creationId xmlns:p14="http://schemas.microsoft.com/office/powerpoint/2010/main" val="2152002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able 4" descr="Table 3: Sample CR Agenda Excerpt&#10;">
            <a:extLst>
              <a:ext uri="{FF2B5EF4-FFF2-40B4-BE49-F238E27FC236}">
                <a16:creationId xmlns:a16="http://schemas.microsoft.com/office/drawing/2014/main" id="{EF0C50B5-28F2-219A-A0F2-ECEB0D847FCB}"/>
              </a:ext>
            </a:extLst>
          </p:cNvPr>
          <p:cNvGraphicFramePr>
            <a:graphicFrameLocks noGrp="1"/>
          </p:cNvGraphicFramePr>
          <p:nvPr>
            <p:extLst>
              <p:ext uri="{D42A27DB-BD31-4B8C-83A1-F6EECF244321}">
                <p14:modId xmlns:p14="http://schemas.microsoft.com/office/powerpoint/2010/main" val="3414456361"/>
              </p:ext>
            </p:extLst>
          </p:nvPr>
        </p:nvGraphicFramePr>
        <p:xfrm>
          <a:off x="3947467" y="707537"/>
          <a:ext cx="8015139" cy="5954331"/>
        </p:xfrm>
        <a:graphic>
          <a:graphicData uri="http://schemas.openxmlformats.org/drawingml/2006/table">
            <a:tbl>
              <a:tblPr firstRow="1" firstCol="1">
                <a:tableStyleId>{5C22544A-7EE6-4342-B048-85BDC9FD1C3A}</a:tableStyleId>
              </a:tblPr>
              <a:tblGrid>
                <a:gridCol w="1264089">
                  <a:extLst>
                    <a:ext uri="{9D8B030D-6E8A-4147-A177-3AD203B41FA5}">
                      <a16:colId xmlns:a16="http://schemas.microsoft.com/office/drawing/2014/main" val="1347804015"/>
                    </a:ext>
                  </a:extLst>
                </a:gridCol>
                <a:gridCol w="1665679">
                  <a:extLst>
                    <a:ext uri="{9D8B030D-6E8A-4147-A177-3AD203B41FA5}">
                      <a16:colId xmlns:a16="http://schemas.microsoft.com/office/drawing/2014/main" val="1662830421"/>
                    </a:ext>
                  </a:extLst>
                </a:gridCol>
                <a:gridCol w="5085371">
                  <a:extLst>
                    <a:ext uri="{9D8B030D-6E8A-4147-A177-3AD203B41FA5}">
                      <a16:colId xmlns:a16="http://schemas.microsoft.com/office/drawing/2014/main" val="3558198531"/>
                    </a:ext>
                  </a:extLst>
                </a:gridCol>
              </a:tblGrid>
              <a:tr h="285011">
                <a:tc>
                  <a:txBody>
                    <a:bodyPr/>
                    <a:lstStyle/>
                    <a:p>
                      <a:pPr marL="0" marR="0" algn="ctr">
                        <a:spcBef>
                          <a:spcPts val="300"/>
                        </a:spcBef>
                        <a:spcAft>
                          <a:spcPts val="300"/>
                        </a:spcAft>
                        <a:buNone/>
                      </a:pPr>
                      <a:r>
                        <a:rPr lang="en-US" sz="1800" dirty="0">
                          <a:effectLst/>
                        </a:rPr>
                        <a:t>Time (EST)</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300"/>
                        </a:spcBef>
                        <a:spcAft>
                          <a:spcPts val="300"/>
                        </a:spcAft>
                        <a:buNone/>
                      </a:pPr>
                      <a:r>
                        <a:rPr lang="en-US" sz="1800" dirty="0">
                          <a:effectLst/>
                        </a:rPr>
                        <a:t>Sample Topic</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300"/>
                        </a:spcBef>
                        <a:spcAft>
                          <a:spcPts val="300"/>
                        </a:spcAft>
                        <a:buNone/>
                      </a:pPr>
                      <a:r>
                        <a:rPr lang="en-US" sz="1800" dirty="0">
                          <a:effectLst/>
                        </a:rPr>
                        <a:t>Sample Description</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67880005"/>
                  </a:ext>
                </a:extLst>
              </a:tr>
              <a:tr h="576507">
                <a:tc>
                  <a:txBody>
                    <a:bodyPr/>
                    <a:lstStyle/>
                    <a:p>
                      <a:pPr marL="0" marR="0" algn="ctr">
                        <a:spcBef>
                          <a:spcPts val="200"/>
                        </a:spcBef>
                        <a:spcAft>
                          <a:spcPts val="200"/>
                        </a:spcAft>
                        <a:buNone/>
                      </a:pPr>
                      <a:r>
                        <a:rPr lang="en-US" sz="1800">
                          <a:effectLst/>
                        </a:rPr>
                        <a:t>9:00 AM – 9:05 AM</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200"/>
                        </a:spcBef>
                        <a:spcAft>
                          <a:spcPts val="200"/>
                        </a:spcAft>
                        <a:buNone/>
                      </a:pPr>
                      <a:r>
                        <a:rPr lang="en-US" sz="1800">
                          <a:effectLst/>
                        </a:rPr>
                        <a:t>Introductions</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200"/>
                        </a:spcBef>
                        <a:spcAft>
                          <a:spcPts val="200"/>
                        </a:spcAft>
                        <a:buNone/>
                      </a:pPr>
                      <a:r>
                        <a:rPr lang="en-US" sz="1800" dirty="0">
                          <a:effectLst/>
                        </a:rPr>
                        <a:t>Each individual team lead should introduce their teams (name and role for those presenting).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4976729"/>
                  </a:ext>
                </a:extLst>
              </a:tr>
              <a:tr h="3525687">
                <a:tc>
                  <a:txBody>
                    <a:bodyPr/>
                    <a:lstStyle/>
                    <a:p>
                      <a:pPr marL="0" marR="0" algn="ctr">
                        <a:spcBef>
                          <a:spcPts val="200"/>
                        </a:spcBef>
                        <a:spcAft>
                          <a:spcPts val="200"/>
                        </a:spcAft>
                        <a:buNone/>
                      </a:pPr>
                      <a:r>
                        <a:rPr lang="en-US" sz="1800" dirty="0">
                          <a:effectLst/>
                        </a:rPr>
                        <a:t>9:05 AM – 9:20 AM</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200"/>
                        </a:spcBef>
                        <a:spcAft>
                          <a:spcPts val="200"/>
                        </a:spcAft>
                        <a:buNone/>
                      </a:pPr>
                      <a:r>
                        <a:rPr lang="en-US" sz="1800" dirty="0">
                          <a:effectLst/>
                        </a:rPr>
                        <a:t>Medicaid &amp; Project Overview</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200"/>
                        </a:spcBef>
                        <a:spcAft>
                          <a:spcPts val="200"/>
                        </a:spcAft>
                        <a:buNone/>
                      </a:pPr>
                      <a:r>
                        <a:rPr lang="en-US" sz="1800" dirty="0">
                          <a:effectLst/>
                        </a:rPr>
                        <a:t>Provide a brief overview of Medicaid within the State as it relates to the system under review (e.g., MCO vs FFS, number of providers or members, or specific programs).</a:t>
                      </a:r>
                    </a:p>
                    <a:p>
                      <a:pPr marL="0" marR="0">
                        <a:spcBef>
                          <a:spcPts val="200"/>
                        </a:spcBef>
                        <a:spcAft>
                          <a:spcPts val="200"/>
                        </a:spcAft>
                        <a:buNone/>
                      </a:pPr>
                      <a:r>
                        <a:rPr lang="en-US" sz="1800" dirty="0">
                          <a:effectLst/>
                        </a:rPr>
                        <a:t> </a:t>
                      </a:r>
                    </a:p>
                    <a:p>
                      <a:pPr marL="0" marR="0">
                        <a:spcBef>
                          <a:spcPts val="200"/>
                        </a:spcBef>
                        <a:spcAft>
                          <a:spcPts val="200"/>
                        </a:spcAft>
                        <a:buNone/>
                      </a:pPr>
                      <a:r>
                        <a:rPr lang="en-US" sz="1800" dirty="0">
                          <a:effectLst/>
                        </a:rPr>
                        <a:t>Provide a project background, history, and overview, which should include time to implement (project start date and go-live date), total cost of DDI, project timeline, stakeholder feedback, lessons learned, notes about system development and architecture systems (include system/data flow diagram), integration with any other systems, and issues that had an impact on business.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0800171"/>
                  </a:ext>
                </a:extLst>
              </a:tr>
              <a:tr h="1425053">
                <a:tc>
                  <a:txBody>
                    <a:bodyPr/>
                    <a:lstStyle/>
                    <a:p>
                      <a:pPr marL="0" marR="0" algn="ctr">
                        <a:spcBef>
                          <a:spcPts val="200"/>
                        </a:spcBef>
                        <a:spcAft>
                          <a:spcPts val="200"/>
                        </a:spcAft>
                        <a:buNone/>
                      </a:pPr>
                      <a:r>
                        <a:rPr lang="en-US" sz="1800">
                          <a:effectLst/>
                        </a:rPr>
                        <a:t>9:20 AM – 9:30 AM</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200"/>
                        </a:spcBef>
                        <a:spcAft>
                          <a:spcPts val="200"/>
                        </a:spcAft>
                        <a:buNone/>
                      </a:pPr>
                      <a:r>
                        <a:rPr lang="en-US" sz="1800">
                          <a:effectLst/>
                        </a:rPr>
                        <a:t>Operational Readiness Review (ORR) Recap</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200"/>
                        </a:spcBef>
                        <a:spcAft>
                          <a:spcPts val="200"/>
                        </a:spcAft>
                        <a:buNone/>
                      </a:pPr>
                      <a:r>
                        <a:rPr lang="en-US" sz="1800" dirty="0">
                          <a:effectLst/>
                        </a:rPr>
                        <a:t>Provide an overview of any observations or recommendations provided during the ORR and any steps the State has taken to mitigate or rectify issues. Include any system enhancements that have been implemented since then.</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29471907"/>
                  </a:ext>
                </a:extLst>
              </a:tr>
            </a:tbl>
          </a:graphicData>
        </a:graphic>
      </p:graphicFrame>
      <p:sp>
        <p:nvSpPr>
          <p:cNvPr id="2" name="Title 1">
            <a:extLst>
              <a:ext uri="{FF2B5EF4-FFF2-40B4-BE49-F238E27FC236}">
                <a16:creationId xmlns:a16="http://schemas.microsoft.com/office/drawing/2014/main" id="{3AD63259-09EE-11F3-41DE-FD860DC08F57}"/>
              </a:ext>
            </a:extLst>
          </p:cNvPr>
          <p:cNvSpPr>
            <a:spLocks noGrp="1"/>
          </p:cNvSpPr>
          <p:nvPr>
            <p:ph type="ctrTitle"/>
          </p:nvPr>
        </p:nvSpPr>
        <p:spPr>
          <a:xfrm>
            <a:off x="843931" y="1329758"/>
            <a:ext cx="2570849" cy="745048"/>
          </a:xfrm>
        </p:spPr>
        <p:txBody>
          <a:bodyPr vert="horz" lIns="91440" tIns="45720" rIns="91440" bIns="45720" rtlCol="0" anchor="b">
            <a:normAutofit fontScale="90000"/>
          </a:bodyPr>
          <a:lstStyle/>
          <a:p>
            <a:pPr algn="l"/>
            <a:r>
              <a:rPr lang="en-US" sz="4400" kern="1200" dirty="0">
                <a:solidFill>
                  <a:srgbClr val="004986"/>
                </a:solidFill>
                <a:ea typeface="+mj-ea"/>
              </a:rPr>
              <a:t>Sample CR Agenda</a:t>
            </a:r>
          </a:p>
        </p:txBody>
      </p:sp>
      <p:sp>
        <p:nvSpPr>
          <p:cNvPr id="3" name="Slide Number Placeholder 2">
            <a:extLst>
              <a:ext uri="{FF2B5EF4-FFF2-40B4-BE49-F238E27FC236}">
                <a16:creationId xmlns:a16="http://schemas.microsoft.com/office/drawing/2014/main" id="{6C88A7CA-1489-EBF5-A46F-1838347A3DAB}"/>
              </a:ext>
              <a:ext uri="{C183D7F6-B498-43B3-948B-1728B52AA6E4}">
                <adec:decorative xmlns:adec="http://schemas.microsoft.com/office/drawing/2017/decorative" val="1"/>
              </a:ext>
            </a:extLst>
          </p:cNvPr>
          <p:cNvSpPr>
            <a:spLocks noGrp="1"/>
          </p:cNvSpPr>
          <p:nvPr>
            <p:ph type="sldNum" sz="quarter" idx="4"/>
          </p:nvPr>
        </p:nvSpPr>
        <p:spPr>
          <a:xfrm>
            <a:off x="9710638" y="6519795"/>
            <a:ext cx="459015" cy="365125"/>
          </a:xfrm>
        </p:spPr>
        <p:txBody>
          <a:bodyPr vert="horz" lIns="91440" tIns="45720" rIns="91440" bIns="45720" rtlCol="0" anchor="ctr">
            <a:normAutofit/>
          </a:bodyPr>
          <a:lstStyle/>
          <a:p>
            <a:pPr>
              <a:spcAft>
                <a:spcPts val="600"/>
              </a:spcAft>
            </a:pPr>
            <a:fld id="{307C9BC6-3632-4035-A6F8-73DB694A0BF4}" type="slidenum">
              <a:rPr lang="en-US" smtClean="0"/>
              <a:pPr>
                <a:spcAft>
                  <a:spcPts val="600"/>
                </a:spcAft>
              </a:pPr>
              <a:t>29</a:t>
            </a:fld>
            <a:endParaRPr lang="en-US" dirty="0"/>
          </a:p>
        </p:txBody>
      </p:sp>
      <p:sp>
        <p:nvSpPr>
          <p:cNvPr id="7" name="TextBox 6">
            <a:extLst>
              <a:ext uri="{FF2B5EF4-FFF2-40B4-BE49-F238E27FC236}">
                <a16:creationId xmlns:a16="http://schemas.microsoft.com/office/drawing/2014/main" id="{D5F83A7E-159C-FE07-2095-A88D4174298F}"/>
              </a:ext>
            </a:extLst>
          </p:cNvPr>
          <p:cNvSpPr txBox="1"/>
          <p:nvPr/>
        </p:nvSpPr>
        <p:spPr>
          <a:xfrm>
            <a:off x="847603" y="2259472"/>
            <a:ext cx="3588152" cy="369332"/>
          </a:xfrm>
          <a:prstGeom prst="rect">
            <a:avLst/>
          </a:prstGeom>
          <a:noFill/>
        </p:spPr>
        <p:txBody>
          <a:bodyPr wrap="square" rtlCol="0">
            <a:spAutoFit/>
          </a:bodyPr>
          <a:lstStyle/>
          <a:p>
            <a:r>
              <a:rPr lang="en-US" dirty="0">
                <a:hlinkClick r:id="rId3"/>
              </a:rPr>
              <a:t>Sample CR Agenda Template</a:t>
            </a:r>
            <a:endParaRPr lang="en-US" dirty="0"/>
          </a:p>
        </p:txBody>
      </p:sp>
      <p:sp>
        <p:nvSpPr>
          <p:cNvPr id="6" name="TextBox 5">
            <a:extLst>
              <a:ext uri="{FF2B5EF4-FFF2-40B4-BE49-F238E27FC236}">
                <a16:creationId xmlns:a16="http://schemas.microsoft.com/office/drawing/2014/main" id="{73F39D21-502C-2929-696E-DA8102BC16C3}"/>
              </a:ext>
            </a:extLst>
          </p:cNvPr>
          <p:cNvSpPr txBox="1"/>
          <p:nvPr/>
        </p:nvSpPr>
        <p:spPr>
          <a:xfrm rot="19888995">
            <a:off x="5003938" y="2765644"/>
            <a:ext cx="6351560" cy="1323439"/>
          </a:xfrm>
          <a:prstGeom prst="rect">
            <a:avLst/>
          </a:prstGeom>
          <a:noFill/>
        </p:spPr>
        <p:txBody>
          <a:bodyPr wrap="square" rtlCol="0">
            <a:spAutoFit/>
          </a:bodyPr>
          <a:lstStyle/>
          <a:p>
            <a:pPr algn="ctr"/>
            <a:r>
              <a:rPr lang="en-US" sz="8000" dirty="0">
                <a:solidFill>
                  <a:srgbClr val="FF0000"/>
                </a:solidFill>
              </a:rPr>
              <a:t>Sample</a:t>
            </a:r>
          </a:p>
        </p:txBody>
      </p:sp>
      <p:sp>
        <p:nvSpPr>
          <p:cNvPr id="9" name="TextBox 8">
            <a:extLst>
              <a:ext uri="{FF2B5EF4-FFF2-40B4-BE49-F238E27FC236}">
                <a16:creationId xmlns:a16="http://schemas.microsoft.com/office/drawing/2014/main" id="{1B0A9F30-F969-CF6F-D8AB-5AF7DC524A86}"/>
              </a:ext>
            </a:extLst>
          </p:cNvPr>
          <p:cNvSpPr txBox="1"/>
          <p:nvPr/>
        </p:nvSpPr>
        <p:spPr>
          <a:xfrm>
            <a:off x="3850859" y="338205"/>
            <a:ext cx="6811257" cy="369332"/>
          </a:xfrm>
          <a:prstGeom prst="rect">
            <a:avLst/>
          </a:prstGeom>
          <a:noFill/>
        </p:spPr>
        <p:txBody>
          <a:bodyPr wrap="square" rtlCol="0">
            <a:spAutoFit/>
          </a:bodyPr>
          <a:lstStyle/>
          <a:p>
            <a:r>
              <a:rPr lang="en-US" b="1" dirty="0"/>
              <a:t>Table 3: Sample CR Agenda Excerpt</a:t>
            </a:r>
          </a:p>
        </p:txBody>
      </p:sp>
    </p:spTree>
    <p:extLst>
      <p:ext uri="{BB962C8B-B14F-4D97-AF65-F5344CB8AC3E}">
        <p14:creationId xmlns:p14="http://schemas.microsoft.com/office/powerpoint/2010/main" val="4202752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04886-8900-E6D4-670E-499CAFCB8BEC}"/>
              </a:ext>
            </a:extLst>
          </p:cNvPr>
          <p:cNvSpPr>
            <a:spLocks noGrp="1"/>
          </p:cNvSpPr>
          <p:nvPr>
            <p:ph type="ctrTitle"/>
          </p:nvPr>
        </p:nvSpPr>
        <p:spPr/>
        <p:txBody>
          <a:bodyPr>
            <a:normAutofit/>
          </a:bodyPr>
          <a:lstStyle/>
          <a:p>
            <a:r>
              <a:rPr lang="en-US" sz="3750" dirty="0">
                <a:solidFill>
                  <a:srgbClr val="004986"/>
                </a:solidFill>
              </a:rPr>
              <a:t>Post</a:t>
            </a:r>
            <a:r>
              <a:rPr lang="en-US" sz="3750" dirty="0"/>
              <a:t>-</a:t>
            </a:r>
            <a:r>
              <a:rPr lang="en-US" sz="3750" dirty="0">
                <a:solidFill>
                  <a:srgbClr val="004986"/>
                </a:solidFill>
              </a:rPr>
              <a:t>CR</a:t>
            </a:r>
          </a:p>
        </p:txBody>
      </p:sp>
      <p:sp>
        <p:nvSpPr>
          <p:cNvPr id="4" name="Content Placeholder 3">
            <a:extLst>
              <a:ext uri="{FF2B5EF4-FFF2-40B4-BE49-F238E27FC236}">
                <a16:creationId xmlns:a16="http://schemas.microsoft.com/office/drawing/2014/main" id="{8B864A4E-24B7-5E75-5F22-6D106AABBD46}"/>
              </a:ext>
            </a:extLst>
          </p:cNvPr>
          <p:cNvSpPr>
            <a:spLocks noGrp="1"/>
          </p:cNvSpPr>
          <p:nvPr>
            <p:ph type="body" sz="quarter" idx="10"/>
          </p:nvPr>
        </p:nvSpPr>
        <p:spPr>
          <a:xfrm>
            <a:off x="928255" y="1313847"/>
            <a:ext cx="9743920" cy="3922296"/>
          </a:xfrm>
        </p:spPr>
        <p:txBody>
          <a:bodyPr vert="horz" lIns="91440" tIns="45720" rIns="91440" bIns="45720" rtlCol="0" anchor="t">
            <a:noAutofit/>
          </a:bodyPr>
          <a:lstStyle/>
          <a:p>
            <a:pPr marL="227965" indent="-227965">
              <a:lnSpc>
                <a:spcPct val="100000"/>
              </a:lnSpc>
            </a:pPr>
            <a:r>
              <a:rPr lang="en-US" sz="2200" dirty="0">
                <a:latin typeface="Arial"/>
                <a:cs typeface="Arial"/>
              </a:rPr>
              <a:t>State receives feedback and official certification documentation.</a:t>
            </a:r>
          </a:p>
          <a:p>
            <a:pPr marL="685165" lvl="1" indent="-227965">
              <a:lnSpc>
                <a:spcPct val="100000"/>
              </a:lnSpc>
              <a:buFont typeface="Calibri" panose="020F0502020204030204" pitchFamily="34" charset="0"/>
              <a:buChar char="–"/>
            </a:pPr>
            <a:r>
              <a:rPr lang="en-US" sz="2000" dirty="0">
                <a:latin typeface="Arial"/>
                <a:cs typeface="Arial"/>
              </a:rPr>
              <a:t>CMS will follow up with the State shortly after the CR to discuss any concerns. </a:t>
            </a:r>
            <a:endParaRPr lang="en-US" sz="2000" strike="sngStrike" dirty="0">
              <a:solidFill>
                <a:srgbClr val="FF0000"/>
              </a:solidFill>
              <a:latin typeface="Arial"/>
              <a:cs typeface="Arial"/>
            </a:endParaRPr>
          </a:p>
          <a:p>
            <a:pPr marL="685165" lvl="1" indent="-227965">
              <a:lnSpc>
                <a:spcPct val="100000"/>
              </a:lnSpc>
              <a:buFont typeface="Calibri" panose="020F0502020204030204" pitchFamily="34" charset="0"/>
              <a:buChar char="–"/>
            </a:pPr>
            <a:r>
              <a:rPr lang="en-US" sz="2000" dirty="0">
                <a:latin typeface="Arial"/>
                <a:cs typeface="Arial"/>
              </a:rPr>
              <a:t>CMS will comment on the review in the final CR report returned to the State, along with a formal Certification Decision Letter.</a:t>
            </a:r>
          </a:p>
          <a:p>
            <a:pPr marL="685165" lvl="1" indent="-227965">
              <a:lnSpc>
                <a:spcPct val="100000"/>
              </a:lnSpc>
              <a:buFont typeface="Calibri" panose="020F0502020204030204" pitchFamily="34" charset="0"/>
              <a:buChar char="–"/>
            </a:pPr>
            <a:r>
              <a:rPr lang="en-US" sz="2000" dirty="0">
                <a:latin typeface="Arial"/>
                <a:cs typeface="Arial"/>
              </a:rPr>
              <a:t> The State will address any observations and recommendations.</a:t>
            </a:r>
          </a:p>
          <a:p>
            <a:pPr marL="227965" indent="-227965">
              <a:lnSpc>
                <a:spcPct val="100000"/>
              </a:lnSpc>
            </a:pPr>
            <a:r>
              <a:rPr lang="en-US" sz="2200" dirty="0">
                <a:latin typeface="Arial"/>
                <a:ea typeface="+mn-lt"/>
                <a:cs typeface="Arial"/>
              </a:rPr>
              <a:t>After approval, continue </a:t>
            </a:r>
            <a:r>
              <a:rPr lang="en-US" sz="2200" dirty="0">
                <a:solidFill>
                  <a:srgbClr val="000000"/>
                </a:solidFill>
                <a:latin typeface="Arial"/>
                <a:ea typeface="+mn-lt"/>
                <a:cs typeface="Arial"/>
              </a:rPr>
              <a:t>working</a:t>
            </a:r>
            <a:r>
              <a:rPr lang="en-US" sz="2200" dirty="0">
                <a:latin typeface="Arial"/>
                <a:ea typeface="+mn-lt"/>
                <a:cs typeface="Arial"/>
              </a:rPr>
              <a:t> with the State Officer.</a:t>
            </a:r>
            <a:endParaRPr lang="en-US" sz="2200" dirty="0">
              <a:solidFill>
                <a:srgbClr val="FF0000"/>
              </a:solidFill>
              <a:latin typeface="Arial"/>
              <a:ea typeface="+mn-lt"/>
              <a:cs typeface="Arial"/>
            </a:endParaRPr>
          </a:p>
          <a:p>
            <a:pPr marL="685165" lvl="1" indent="-227965">
              <a:lnSpc>
                <a:spcPct val="100000"/>
              </a:lnSpc>
              <a:buFont typeface="Calibri" panose="020F0502020204030204" pitchFamily="34" charset="0"/>
              <a:buChar char="–"/>
            </a:pPr>
            <a:r>
              <a:rPr lang="en-US" sz="2000" dirty="0">
                <a:latin typeface="Arial"/>
                <a:ea typeface="+mn-lt"/>
                <a:cs typeface="Arial"/>
              </a:rPr>
              <a:t>State will report metrics regularly, via the recommended Operational Report Workbook.</a:t>
            </a:r>
          </a:p>
          <a:p>
            <a:pPr marL="685165" lvl="1" indent="-227965">
              <a:lnSpc>
                <a:spcPct val="100000"/>
              </a:lnSpc>
              <a:buFont typeface="Calibri" panose="020F0502020204030204" pitchFamily="34" charset="0"/>
              <a:buChar char="–"/>
            </a:pPr>
            <a:r>
              <a:rPr lang="en-US" sz="2000" dirty="0">
                <a:latin typeface="Arial"/>
                <a:ea typeface="+mn-lt"/>
                <a:cs typeface="Arial"/>
              </a:rPr>
              <a:t>State will submit the OAPD for CMS State Officer approval.</a:t>
            </a:r>
          </a:p>
        </p:txBody>
      </p:sp>
      <p:sp>
        <p:nvSpPr>
          <p:cNvPr id="3" name="Slide Number Placeholder 2">
            <a:extLst>
              <a:ext uri="{FF2B5EF4-FFF2-40B4-BE49-F238E27FC236}">
                <a16:creationId xmlns:a16="http://schemas.microsoft.com/office/drawing/2014/main" id="{A6E64035-21B4-BB0D-AD58-E9BC5B8B500E}"/>
              </a:ext>
            </a:extLst>
          </p:cNvPr>
          <p:cNvSpPr>
            <a:spLocks noGrp="1"/>
          </p:cNvSpPr>
          <p:nvPr>
            <p:ph type="sldNum" sz="quarter" idx="4"/>
          </p:nvPr>
        </p:nvSpPr>
        <p:spPr/>
        <p:txBody>
          <a:bodyPr/>
          <a:lstStyle/>
          <a:p>
            <a:fld id="{307C9BC6-3632-4035-A6F8-73DB694A0BF4}" type="slidenum">
              <a:rPr lang="en-US" smtClean="0"/>
              <a:t>30</a:t>
            </a:fld>
            <a:endParaRPr lang="en-US" dirty="0"/>
          </a:p>
        </p:txBody>
      </p:sp>
    </p:spTree>
    <p:extLst>
      <p:ext uri="{BB962C8B-B14F-4D97-AF65-F5344CB8AC3E}">
        <p14:creationId xmlns:p14="http://schemas.microsoft.com/office/powerpoint/2010/main" val="2375114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1170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90000"/>
              </a:lnSpc>
              <a:spcBef>
                <a:spcPct val="0"/>
              </a:spcBef>
              <a:spcAft>
                <a:spcPts val="0"/>
              </a:spcAft>
              <a:buClrTx/>
              <a:buSzTx/>
              <a:buFontTx/>
              <a:buNone/>
              <a:tabLst/>
              <a:defRPr/>
            </a:pPr>
            <a:r>
              <a:rPr lang="en-US" sz="3750" dirty="0"/>
              <a:t>Additional Information</a:t>
            </a:r>
          </a:p>
        </p:txBody>
      </p:sp>
      <p:sp>
        <p:nvSpPr>
          <p:cNvPr id="2" name="Text Placeholder 1">
            <a:extLst>
              <a:ext uri="{FF2B5EF4-FFF2-40B4-BE49-F238E27FC236}">
                <a16:creationId xmlns:a16="http://schemas.microsoft.com/office/drawing/2014/main" id="{5EE41B99-8D2B-23D2-101F-75B9A2FE1EE7}"/>
              </a:ext>
            </a:extLst>
          </p:cNvPr>
          <p:cNvSpPr>
            <a:spLocks noGrp="1"/>
          </p:cNvSpPr>
          <p:nvPr>
            <p:ph type="body" sz="quarter" idx="10"/>
          </p:nvPr>
        </p:nvSpPr>
        <p:spPr>
          <a:xfrm>
            <a:off x="928256" y="1186431"/>
            <a:ext cx="9756446" cy="4299969"/>
          </a:xfrm>
        </p:spPr>
        <p:txBody>
          <a:bodyPr/>
          <a:lstStyle/>
          <a:p>
            <a:r>
              <a:rPr lang="en-US" sz="1800" dirty="0">
                <a:hlinkClick r:id="rId3"/>
              </a:rPr>
              <a:t>Streamlined Modular Certification Guidance</a:t>
            </a:r>
            <a:endParaRPr lang="en-US" sz="1800" dirty="0"/>
          </a:p>
          <a:p>
            <a:pPr>
              <a:spcBef>
                <a:spcPts val="600"/>
              </a:spcBef>
            </a:pPr>
            <a:endParaRPr lang="en-US" sz="1800" dirty="0">
              <a:hlinkClick r:id="rId4"/>
            </a:endParaRPr>
          </a:p>
          <a:p>
            <a:pPr>
              <a:spcBef>
                <a:spcPts val="600"/>
              </a:spcBef>
            </a:pPr>
            <a:r>
              <a:rPr lang="en-US" sz="1800" dirty="0">
                <a:hlinkClick r:id="rId4"/>
              </a:rPr>
              <a:t>MES Certification Repository </a:t>
            </a:r>
            <a:endParaRPr lang="en-US" sz="1800" dirty="0"/>
          </a:p>
          <a:p>
            <a:pPr lvl="1">
              <a:buFont typeface="Calibri" panose="020F0502020204030204" pitchFamily="34" charset="0"/>
              <a:buChar char="–"/>
            </a:pPr>
            <a:r>
              <a:rPr lang="en-US" sz="1800" dirty="0">
                <a:latin typeface="Arial" panose="020B0604020202020204" pitchFamily="34" charset="0"/>
                <a:cs typeface="Arial" panose="020B0604020202020204" pitchFamily="34" charset="0"/>
              </a:rPr>
              <a:t>Used to share additional information with States to supplement the SMC Guidance.</a:t>
            </a:r>
          </a:p>
          <a:p>
            <a:pPr lvl="1">
              <a:buFont typeface="Calibri" panose="020F0502020204030204" pitchFamily="34" charset="0"/>
              <a:buChar char="–"/>
            </a:pPr>
            <a:r>
              <a:rPr lang="en-US" sz="1800" dirty="0">
                <a:latin typeface="Arial" panose="020B0604020202020204" pitchFamily="34" charset="0"/>
                <a:cs typeface="Arial" panose="020B0604020202020204" pitchFamily="34" charset="0"/>
              </a:rPr>
              <a:t>Resources in the MES Certification Repository:</a:t>
            </a:r>
          </a:p>
          <a:p>
            <a:pPr lvl="2">
              <a:buFont typeface="Courier New" panose="02070309020205020404" pitchFamily="49" charset="0"/>
              <a:buChar char="o"/>
            </a:pPr>
            <a:r>
              <a:rPr lang="en-US" sz="1800" dirty="0">
                <a:latin typeface="Arial" panose="020B0604020202020204" pitchFamily="34" charset="0"/>
                <a:cs typeface="Arial" panose="020B0604020202020204" pitchFamily="34" charset="0"/>
              </a:rPr>
              <a:t>Conditions for Enhanced Funding examples and required evidence and CEF Tips</a:t>
            </a:r>
          </a:p>
          <a:p>
            <a:pPr lvl="2">
              <a:buFont typeface="Courier New" panose="02070309020205020404" pitchFamily="49" charset="0"/>
              <a:buChar char="o"/>
            </a:pPr>
            <a:r>
              <a:rPr lang="en-US" sz="1800" dirty="0">
                <a:latin typeface="Arial" panose="020B0604020202020204" pitchFamily="34" charset="0"/>
                <a:cs typeface="Arial" panose="020B0604020202020204" pitchFamily="34" charset="0"/>
              </a:rPr>
              <a:t>Using the SMC Intake Form</a:t>
            </a:r>
          </a:p>
          <a:p>
            <a:pPr lvl="2">
              <a:buFont typeface="Courier New" panose="02070309020205020404" pitchFamily="49" charset="0"/>
              <a:buChar char="o"/>
            </a:pPr>
            <a:r>
              <a:rPr lang="en-US" sz="1800" dirty="0">
                <a:latin typeface="Arial" panose="020B0604020202020204" pitchFamily="34" charset="0"/>
                <a:cs typeface="Arial" panose="020B0604020202020204" pitchFamily="34" charset="0"/>
              </a:rPr>
              <a:t>Using Box</a:t>
            </a:r>
          </a:p>
          <a:p>
            <a:pPr lvl="2">
              <a:buFont typeface="Courier New" panose="02070309020205020404" pitchFamily="49" charset="0"/>
              <a:buChar char="o"/>
            </a:pPr>
            <a:r>
              <a:rPr lang="en-US" sz="1800" dirty="0">
                <a:latin typeface="Arial" panose="020B0604020202020204" pitchFamily="34" charset="0"/>
                <a:cs typeface="Arial" panose="020B0604020202020204" pitchFamily="34" charset="0"/>
              </a:rPr>
              <a:t>Frequently Asked Questions</a:t>
            </a:r>
          </a:p>
          <a:p>
            <a:pPr>
              <a:spcBef>
                <a:spcPts val="600"/>
              </a:spcBef>
            </a:pPr>
            <a:r>
              <a:rPr lang="en-US" sz="1800" dirty="0">
                <a:hlinkClick r:id="rId5"/>
              </a:rPr>
              <a:t>MES Testing Guidance Framework </a:t>
            </a:r>
            <a:endParaRPr lang="en-US" sz="1800" dirty="0"/>
          </a:p>
        </p:txBody>
      </p:sp>
      <p:sp>
        <p:nvSpPr>
          <p:cNvPr id="3" name="Slide Number Placeholder 2">
            <a:extLst>
              <a:ext uri="{FF2B5EF4-FFF2-40B4-BE49-F238E27FC236}">
                <a16:creationId xmlns:a16="http://schemas.microsoft.com/office/drawing/2014/main" id="{1CE374F1-6ACB-47F0-A40C-0416A081BD4D}"/>
              </a:ext>
            </a:extLst>
          </p:cNvPr>
          <p:cNvSpPr>
            <a:spLocks noGrp="1"/>
          </p:cNvSpPr>
          <p:nvPr>
            <p:ph type="sldNum" sz="quarter" idx="4"/>
          </p:nvPr>
        </p:nvSpPr>
        <p:spPr/>
        <p:txBody>
          <a:bodyPr/>
          <a:lstStyle/>
          <a:p>
            <a:fld id="{295008BC-DA31-4D19-837B-EFA4386B05F5}" type="slidenum">
              <a:rPr lang="en-US" smtClean="0"/>
              <a:t>31</a:t>
            </a:fld>
            <a:endParaRPr lang="en-US" dirty="0"/>
          </a:p>
        </p:txBody>
      </p:sp>
    </p:spTree>
    <p:extLst>
      <p:ext uri="{BB962C8B-B14F-4D97-AF65-F5344CB8AC3E}">
        <p14:creationId xmlns:p14="http://schemas.microsoft.com/office/powerpoint/2010/main" val="2435142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0103FE-EB51-4CB2-8D0E-2119D6A16DB5}"/>
              </a:ext>
            </a:extLst>
          </p:cNvPr>
          <p:cNvSpPr>
            <a:spLocks noGrp="1"/>
          </p:cNvSpPr>
          <p:nvPr>
            <p:ph type="ctrTitle"/>
          </p:nvPr>
        </p:nvSpPr>
        <p:spPr>
          <a:xfrm>
            <a:off x="928255" y="441383"/>
            <a:ext cx="9144000" cy="61170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rtl="0" eaLnBrk="1" fontAlgn="auto" latinLnBrk="0" hangingPunct="1">
              <a:lnSpc>
                <a:spcPct val="90000"/>
              </a:lnSpc>
              <a:spcBef>
                <a:spcPct val="0"/>
              </a:spcBef>
              <a:spcAft>
                <a:spcPts val="0"/>
              </a:spcAft>
              <a:buClrTx/>
              <a:buSzTx/>
              <a:buFontTx/>
              <a:buNone/>
              <a:tabLst/>
              <a:defRPr/>
            </a:pPr>
            <a:r>
              <a:rPr lang="en-US" sz="3750" dirty="0"/>
              <a:t>Questions and Action Item Recap</a:t>
            </a:r>
          </a:p>
        </p:txBody>
      </p:sp>
      <p:sp>
        <p:nvSpPr>
          <p:cNvPr id="3" name="Slide Number Placeholder 2">
            <a:extLst>
              <a:ext uri="{FF2B5EF4-FFF2-40B4-BE49-F238E27FC236}">
                <a16:creationId xmlns:a16="http://schemas.microsoft.com/office/drawing/2014/main" id="{1CE374F1-6ACB-47F0-A40C-0416A081BD4D}"/>
              </a:ext>
              <a:ext uri="{C183D7F6-B498-43B3-948B-1728B52AA6E4}">
                <adec:decorative xmlns:adec="http://schemas.microsoft.com/office/drawing/2017/decorative" val="1"/>
              </a:ext>
            </a:extLst>
          </p:cNvPr>
          <p:cNvSpPr>
            <a:spLocks noGrp="1"/>
          </p:cNvSpPr>
          <p:nvPr>
            <p:ph type="sldNum" sz="quarter" idx="4"/>
          </p:nvPr>
        </p:nvSpPr>
        <p:spPr/>
        <p:txBody>
          <a:bodyPr/>
          <a:lstStyle/>
          <a:p>
            <a:fld id="{295008BC-DA31-4D19-837B-EFA4386B05F5}" type="slidenum">
              <a:rPr lang="en-US" smtClean="0"/>
              <a:t>32</a:t>
            </a:fld>
            <a:endParaRPr lang="en-US" dirty="0"/>
          </a:p>
        </p:txBody>
      </p:sp>
      <p:pic>
        <p:nvPicPr>
          <p:cNvPr id="1026" name="Picture 2" descr="How To Ask Good Questions. Everyone has heard the adage “there's… | by  Alvin Lin | Medium">
            <a:extLst>
              <a:ext uri="{FF2B5EF4-FFF2-40B4-BE49-F238E27FC236}">
                <a16:creationId xmlns:a16="http://schemas.microsoft.com/office/drawing/2014/main" id="{488711C1-E4B9-14FE-D2B0-B2A1048A4A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9794" y="1077778"/>
            <a:ext cx="7386320" cy="4389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6105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4.9|4.3|10.7"/>
</p:tagLst>
</file>

<file path=ppt/theme/theme1.xml><?xml version="1.0" encoding="utf-8"?>
<a:theme xmlns:a="http://schemas.openxmlformats.org/drawingml/2006/main" name="9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Custom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EFBC9B8D937D459242E55D94F812DF" ma:contentTypeVersion="15" ma:contentTypeDescription="Create a new document." ma:contentTypeScope="" ma:versionID="32c2cccf9ee806583898005d1aac678f">
  <xsd:schema xmlns:xsd="http://www.w3.org/2001/XMLSchema" xmlns:xs="http://www.w3.org/2001/XMLSchema" xmlns:p="http://schemas.microsoft.com/office/2006/metadata/properties" xmlns:ns2="703a0a61-d094-4eff-9f2b-10839178e71e" xmlns:ns3="b5a44311-ed64-4a72-909f-c9dc6973bde2" xmlns:ns4="db633225-959e-474a-94e0-a37faaa07988" targetNamespace="http://schemas.microsoft.com/office/2006/metadata/properties" ma:root="true" ma:fieldsID="371fb5ff8b08c809b27f50bbb2a02b17" ns2:_="" ns3:_="" ns4:_="">
    <xsd:import namespace="703a0a61-d094-4eff-9f2b-10839178e71e"/>
    <xsd:import namespace="b5a44311-ed64-4a72-909f-c9dc6973bde2"/>
    <xsd:import namespace="db633225-959e-474a-94e0-a37faaa0798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4:SharedWithUsers" minOccurs="0"/>
                <xsd:element ref="ns4:SharedWithDetails" minOccurs="0"/>
                <xsd:element ref="ns2:MediaServiceObjectDetectorVersions" minOccurs="0"/>
                <xsd:element ref="ns2:MediaServiceSearchProperties" minOccurs="0"/>
                <xsd:element ref="ns2:ReviewedforExemplarSLAs_x003f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3a0a61-d094-4eff-9f2b-10839178e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ReviewedforExemplarSLAs_x003f_" ma:index="22" nillable="true" ma:displayName="Reviewed for Exemplar SLA's?" ma:default="0" ma:description="Once this file has been reviewed, and any relevant / high-quality SLA's have been extracted to the Exemplar, select Yes" ma:format="Dropdown" ma:internalName="ReviewedforExemplarSLAs_x003f_">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e8846c3-8de9-4d6e-91a4-6b6faf528a08}" ma:internalName="TaxCatchAll" ma:showField="CatchAllData" ma:web="db633225-959e-474a-94e0-a37faaa0798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b633225-959e-474a-94e0-a37faaa07988"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703a0a61-d094-4eff-9f2b-10839178e71e" xsi:nil="true"/>
    <TaxCatchAll xmlns="b5a44311-ed64-4a72-909f-c9dc6973bde2" xsi:nil="true"/>
    <lcf76f155ced4ddcb4097134ff3c332f xmlns="703a0a61-d094-4eff-9f2b-10839178e71e">
      <Terms xmlns="http://schemas.microsoft.com/office/infopath/2007/PartnerControls"/>
    </lcf76f155ced4ddcb4097134ff3c332f>
    <SharedWithUsers xmlns="db633225-959e-474a-94e0-a37faaa07988">
      <UserInfo>
        <DisplayName>Sonya Shaver</DisplayName>
        <AccountId>12</AccountId>
        <AccountType/>
      </UserInfo>
      <UserInfo>
        <DisplayName>Ernest Mensah</DisplayName>
        <AccountId>45</AccountId>
        <AccountType/>
      </UserInfo>
      <UserInfo>
        <DisplayName>Julie Galloway Mabeus</DisplayName>
        <AccountId>17</AccountId>
        <AccountType/>
      </UserInfo>
    </SharedWithUsers>
    <ReviewedforExemplarSLAs_x003f_ xmlns="703a0a61-d094-4eff-9f2b-10839178e71e">false</ReviewedforExemplarSLAs_x003f_>
  </documentManagement>
</p:properties>
</file>

<file path=customXml/itemProps1.xml><?xml version="1.0" encoding="utf-8"?>
<ds:datastoreItem xmlns:ds="http://schemas.openxmlformats.org/officeDocument/2006/customXml" ds:itemID="{B2827FEA-7707-4826-AD3E-EFEA8AB51D48}">
  <ds:schemaRefs>
    <ds:schemaRef ds:uri="http://schemas.microsoft.com/sharepoint/v3/contenttype/forms"/>
  </ds:schemaRefs>
</ds:datastoreItem>
</file>

<file path=customXml/itemProps2.xml><?xml version="1.0" encoding="utf-8"?>
<ds:datastoreItem xmlns:ds="http://schemas.openxmlformats.org/officeDocument/2006/customXml" ds:itemID="{B54CDBC9-F0FA-4C28-824D-D46C453A6369}">
  <ds:schemaRefs>
    <ds:schemaRef ds:uri="703a0a61-d094-4eff-9f2b-10839178e71e"/>
    <ds:schemaRef ds:uri="b5a44311-ed64-4a72-909f-c9dc6973bde2"/>
    <ds:schemaRef ds:uri="db633225-959e-474a-94e0-a37faaa079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C1E333D-7317-4D3A-AFED-738C12E59F40}">
  <ds:schemaRefs>
    <ds:schemaRef ds:uri="http://purl.org/dc/dcmitype/"/>
    <ds:schemaRef ds:uri="http://schemas.microsoft.com/office/2006/documentManagement/types"/>
    <ds:schemaRef ds:uri="http://schemas.openxmlformats.org/package/2006/metadata/core-properties"/>
    <ds:schemaRef ds:uri="http://www.w3.org/XML/1998/namespace"/>
    <ds:schemaRef ds:uri="703a0a61-d094-4eff-9f2b-10839178e71e"/>
    <ds:schemaRef ds:uri="http://purl.org/dc/terms/"/>
    <ds:schemaRef ds:uri="db633225-959e-474a-94e0-a37faaa07988"/>
    <ds:schemaRef ds:uri="http://schemas.microsoft.com/office/infopath/2007/PartnerControls"/>
    <ds:schemaRef ds:uri="b5a44311-ed64-4a72-909f-c9dc6973bde2"/>
    <ds:schemaRef ds:uri="http://schemas.microsoft.com/office/2006/metadata/properties"/>
    <ds:schemaRef ds:uri="http://purl.org/dc/elements/1.1/"/>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otalTime>745</TotalTime>
  <Words>4651</Words>
  <Application>Microsoft Macintosh PowerPoint</Application>
  <PresentationFormat>Widescreen</PresentationFormat>
  <Paragraphs>411</Paragraphs>
  <Slides>32</Slides>
  <Notes>27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32</vt:i4>
      </vt:variant>
    </vt:vector>
  </HeadingPairs>
  <TitlesOfParts>
    <vt:vector size="45" baseType="lpstr">
      <vt:lpstr>Aptos</vt:lpstr>
      <vt:lpstr>Arial</vt:lpstr>
      <vt:lpstr>Aril</vt:lpstr>
      <vt:lpstr>Calibri</vt:lpstr>
      <vt:lpstr>Calibri Light</vt:lpstr>
      <vt:lpstr>Courier New</vt:lpstr>
      <vt:lpstr>Helvetica</vt:lpstr>
      <vt:lpstr>Segoe UI</vt:lpstr>
      <vt:lpstr>Times</vt:lpstr>
      <vt:lpstr>Times New Roman</vt:lpstr>
      <vt:lpstr>Wingdings</vt:lpstr>
      <vt:lpstr>9_Custom Design</vt:lpstr>
      <vt:lpstr>10_Custom Design</vt:lpstr>
      <vt:lpstr>Streamlined Modular Certification Kickoff [State] [System Name]</vt:lpstr>
      <vt:lpstr>Agenda</vt:lpstr>
      <vt:lpstr>SMC Kickoff Purpose, Goals, and Timing</vt:lpstr>
      <vt:lpstr>State and System Profile</vt:lpstr>
      <vt:lpstr>What Is SMC?</vt:lpstr>
      <vt:lpstr>SMC Touchpoints </vt:lpstr>
      <vt:lpstr>SMC Milestones</vt:lpstr>
      <vt:lpstr>APD and SMC Intake Form Relationship</vt:lpstr>
      <vt:lpstr>SMC Elements</vt:lpstr>
      <vt:lpstr>Conditions for Enhanced Funding (CEF)</vt:lpstr>
      <vt:lpstr>CMS-Required Outcomes </vt:lpstr>
      <vt:lpstr>State-Specific Outcomes </vt:lpstr>
      <vt:lpstr>Metrics</vt:lpstr>
      <vt:lpstr>What to Expect: Operational Readiness Review (ORR)</vt:lpstr>
      <vt:lpstr>About the ORR</vt:lpstr>
      <vt:lpstr>ORR Timeline</vt:lpstr>
      <vt:lpstr>ORR Entry Criteria (1 of 2)</vt:lpstr>
      <vt:lpstr>ORR Entry Criteria (2 of 2)</vt:lpstr>
      <vt:lpstr>Preparing for the ORR</vt:lpstr>
      <vt:lpstr>Sample ORR Agenda</vt:lpstr>
      <vt:lpstr>Post-ORR</vt:lpstr>
      <vt:lpstr>What to Expect: Certification Review (CR)</vt:lpstr>
      <vt:lpstr>About the CR</vt:lpstr>
      <vt:lpstr>CR Timeline</vt:lpstr>
      <vt:lpstr>CR Entry Criteria (1 of 3)</vt:lpstr>
      <vt:lpstr>CR Entry Criteria (2 of 3)</vt:lpstr>
      <vt:lpstr>CR Entry Criteria (3 of 3)</vt:lpstr>
      <vt:lpstr>Preparing for the CR</vt:lpstr>
      <vt:lpstr>Sample CR Agenda</vt:lpstr>
      <vt:lpstr>Post-CR</vt:lpstr>
      <vt:lpstr>Additional Information</vt:lpstr>
      <vt:lpstr>Questions and Action Item 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SMC</dc:title>
  <dc:creator>CMS/DSG</dc:creator>
  <cp:lastModifiedBy>Paul D Kroft</cp:lastModifiedBy>
  <cp:revision>19</cp:revision>
  <dcterms:created xsi:type="dcterms:W3CDTF">2019-05-08T12:44:32Z</dcterms:created>
  <dcterms:modified xsi:type="dcterms:W3CDTF">2026-09-30T17:55:14Z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MITRE Sensitivity">
    <vt:lpwstr>Internal MITRE Information</vt:lpwstr>
  </property>
  <property fmtid="{D5CDD505-2E9C-101B-9397-08002B2CF9AE}" pid="4" name="Release Statement">
    <vt:lpwstr>For Internal MITRE Use</vt:lpwstr>
  </property>
  <property fmtid="{D5CDD505-2E9C-101B-9397-08002B2CF9AE}" pid="5" name="SharedWithUsers">
    <vt:lpwstr>656;#Sepe, Daniello</vt:lpwstr>
  </property>
  <property fmtid="{D5CDD505-2E9C-101B-9397-08002B2CF9AE}" pid="6" name="ContentTypeId">
    <vt:lpwstr>0x010100D8EFBC9B8D937D459242E55D94F812DF</vt:lpwstr>
  </property>
  <property fmtid="{D5CDD505-2E9C-101B-9397-08002B2CF9AE}" pid="7" name="MediaServiceImageTags">
    <vt:lpwstr/>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xd_Signature">
    <vt:bool>false</vt:bool>
  </property>
  <property fmtid="{D5CDD505-2E9C-101B-9397-08002B2CF9AE}" pid="13" name="TriggerFlowInfo">
    <vt:lpwstr/>
  </property>
  <property fmtid="{D5CDD505-2E9C-101B-9397-08002B2CF9AE}" pid="14" name="_ColorHex">
    <vt:lpwstr/>
  </property>
  <property fmtid="{D5CDD505-2E9C-101B-9397-08002B2CF9AE}" pid="15" name="_ColorTag">
    <vt:lpwstr/>
  </property>
  <property fmtid="{D5CDD505-2E9C-101B-9397-08002B2CF9AE}" pid="16" name="_Emoji">
    <vt:lpwstr/>
  </property>
</Properties>
</file>